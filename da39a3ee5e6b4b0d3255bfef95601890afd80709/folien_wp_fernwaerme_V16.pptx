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1A1A17"/>
                </a:solidFill>
                <a:latin typeface="Calibri"/>
              </a:defRPr>
            </a:pPr>
            <a:r>
              <a:rPr sz="1300" b="0" i="0" u="none" strike="noStrike">
                <a:solidFill>
                  <a:srgbClr val="1A1A17"/>
                </a:solidFill>
                <a:latin typeface="Calibri"/>
              </a:rPr>
              <a:t>Vollkosten Wärme, Einfamilienhaus (ct/kWh)</a:t>
            </a:r>
          </a:p>
        </c:rich>
      </c:tx>
      <c:layout/>
      <c:overlay val="0"/>
    </c:title>
    <c:autoTitleDeleted val="0"/>
    <c:plotArea>
      <c:layout/>
      <c:barChart>
        <c:barDir val="col"/>
        <c:grouping val="clustered"/>
        <c:varyColors val="0"/>
        <c:ser>
          <c:idx val="0"/>
          <c:order val="0"/>
          <c:tx>
            <c:strRef>
              <c:f>Sheet1!$B$1</c:f>
              <c:strCache>
                <c:ptCount val="1"/>
                <c:pt idx="0">
                  <c:v>Vollkosten</c:v>
                </c:pt>
              </c:strCache>
            </c:strRef>
          </c:tx>
          <c:spPr>
            <a:solidFill>
              <a:srgbClr val="7A2E2E"/>
            </a:solidFill>
            <a:effectLst/>
          </c:spPr>
          <c:invertIfNegative val="0"/>
          <c:dLbls>
            <c:numFmt formatCode="0&quot;.&quot;00" sourceLinked="0"/>
            <c:txPr>
              <a:bodyPr/>
              <a:lstStyle/>
              <a:p>
                <a:pPr>
                  <a:defRPr b="1" i="0" strike="noStrike" sz="1400" u="none">
                    <a:solidFill>
                      <a:srgbClr val="1A1A17"/>
                    </a:solidFill>
                    <a:latin typeface="Calibri"/>
                  </a:defRPr>
                </a:pPr>
              </a:p>
            </c:txPr>
            <c:showLegendKey val="0"/>
            <c:showVal val="1"/>
            <c:showCatName val="0"/>
            <c:showSerName val="0"/>
            <c:showPercent val="0"/>
            <c:showBubbleSize val="0"/>
            <c:showLeaderLines val="0"/>
          </c:dLbls>
          <c:dPt>
            <c:idx val="0"/>
            <c:invertIfNegative val="0"/>
            <c:bubble3D val="0"/>
            <c:spPr>
              <a:solidFill>
                <a:srgbClr val="7A2E2E"/>
              </a:solidFill>
              <a:effectLst/>
            </c:spPr>
          </c:dPt>
          <c:dPt>
            <c:idx val="1"/>
            <c:invertIfNegative val="0"/>
            <c:bubble3D val="0"/>
            <c:spPr>
              <a:solidFill>
                <a:srgbClr val="8C877A"/>
              </a:solidFill>
              <a:effectLst/>
            </c:spPr>
          </c:dPt>
          <c:dPt>
            <c:idx val="2"/>
            <c:invertIfNegative val="0"/>
            <c:bubble3D val="0"/>
            <c:spPr>
              <a:solidFill>
                <a:srgbClr val="0F5257"/>
              </a:solidFill>
              <a:effectLst/>
            </c:spPr>
          </c:dPt>
          <c:cat>
            <c:multiLvlStrRef>
              <c:f>Sheet1!$A$2:$A$4</c:f>
              <c:multiLvlStrCache>
                <c:ptCount val="3"/>
                <c:lvl>
                  <c:pt idx="0">
                    <c:v>Gaskessel</c:v>
                  </c:pt>
                  <c:pt idx="1">
                    <c:v>WP heute (DE)</c:v>
                  </c:pt>
                  <c:pt idx="2">
                    <c:v>WP Referenz (EU)</c:v>
                  </c:pt>
                </c:lvl>
              </c:multiLvlStrCache>
            </c:multiLvlStrRef>
          </c:cat>
          <c:val>
            <c:numRef>
              <c:f>Sheet1!$B$2:$B$4</c:f>
              <c:numCache>
                <c:formatCode>General</c:formatCode>
                <c:ptCount val="3"/>
                <c:pt idx="0">
                  <c:v>2151</c:v>
                </c:pt>
                <c:pt idx="1">
                  <c:v>2373</c:v>
                </c:pt>
                <c:pt idx="2">
                  <c:v>1775</c:v>
                </c:pt>
              </c:numCache>
            </c:numRef>
          </c:val>
        </c:ser>
        <c:dLbls>
          <c:numFmt formatCode="0&quot;.&quot;00" sourceLinked="0"/>
          <c:txPr>
            <a:bodyPr/>
            <a:lstStyle/>
            <a:p>
              <a:pPr>
                <a:defRPr b="1" i="0" strike="noStrike" sz="1400" u="none">
                  <a:solidFill>
                    <a:srgbClr val="1A1A17"/>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6534B"/>
                </a:solidFill>
                <a:latin typeface="Calibri"/>
              </a:defRPr>
            </a:pPr>
            <a:endParaRPr lang="en-US"/>
          </a:p>
        </c:txPr>
        <c:crossAx val="2094734552"/>
        <c:crosses val="autoZero"/>
        <c:auto val="1"/>
        <c:lblAlgn val="ctr"/>
        <c:noMultiLvlLbl val="1"/>
      </c:catAx>
      <c:valAx>
        <c:axId val="2094734552"/>
        <c:scaling>
          <c:orientation val="minMax"/>
          <c:max val="28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EF"/>
        </a:solidFill>
        <a:ln>
          <a:noFill/>
        </a:ln>
        <a:effectLst/>
      </c:spPr>
    </c:plotArea>
    <c:plotVisOnly val="1"/>
    <c:dispBlanksAs val="span"/>
  </c:chart>
  <c:spPr>
    <a:solidFill>
      <a:srgbClr val="F7F5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1A1A17"/>
                </a:solidFill>
                <a:latin typeface="Calibri"/>
              </a:defRPr>
            </a:pPr>
            <a:r>
              <a:rPr sz="1300" b="0" i="0" u="none" strike="noStrike">
                <a:solidFill>
                  <a:srgbClr val="1A1A17"/>
                </a:solidFill>
                <a:latin typeface="Calibri"/>
              </a:rPr>
              <a:t>Netzausbau, MWh je Trassenmeter und Jahr</a:t>
            </a:r>
          </a:p>
        </c:rich>
      </c:tx>
      <c:layout/>
      <c:overlay val="0"/>
    </c:title>
    <c:autoTitleDeleted val="0"/>
    <c:plotArea>
      <c:layout/>
      <c:barChart>
        <c:barDir val="col"/>
        <c:grouping val="clustered"/>
        <c:varyColors val="0"/>
        <c:ser>
          <c:idx val="0"/>
          <c:order val="0"/>
          <c:tx>
            <c:strRef>
              <c:f>Sheet1!$B$1</c:f>
              <c:strCache>
                <c:ptCount val="1"/>
                <c:pt idx="0">
                  <c:v>erreichte Wärmeliniendichte</c:v>
                </c:pt>
              </c:strCache>
            </c:strRef>
          </c:tx>
          <c:spPr>
            <a:solidFill>
              <a:srgbClr val="1F5673"/>
            </a:solidFill>
            <a:effectLst/>
          </c:spPr>
          <c:invertIfNegative val="0"/>
          <c:dLbls>
            <c:numFmt formatCode="0&quot;.&quot;00" sourceLinked="0"/>
            <c:txPr>
              <a:bodyPr/>
              <a:lstStyle/>
              <a:p>
                <a:pPr>
                  <a:defRPr b="1" i="0" strike="noStrike" sz="1200" u="none">
                    <a:solidFill>
                      <a:srgbClr val="1A1A17"/>
                    </a:solidFill>
                    <a:latin typeface="Calibri"/>
                  </a:defRPr>
                </a:pPr>
              </a:p>
            </c:txPr>
            <c:showLegendKey val="0"/>
            <c:showVal val="1"/>
            <c:showCatName val="0"/>
            <c:showSerName val="0"/>
            <c:showPercent val="0"/>
            <c:showBubbleSize val="0"/>
            <c:showLeaderLines val="0"/>
          </c:dLbls>
          <c:cat>
            <c:multiLvlStrRef>
              <c:f>Sheet1!$A$2:$A$6</c:f>
              <c:multiLvlStrCache>
                <c:ptCount val="5"/>
                <c:lvl>
                  <c:pt idx="0">
                    <c:v>EFH-Gebiet</c:v>
                  </c:pt>
                  <c:pt idx="1">
                    <c:v>Reihenhaus</c:v>
                  </c:pt>
                  <c:pt idx="2">
                    <c:v>Kleines MFH</c:v>
                  </c:pt>
                  <c:pt idx="3">
                    <c:v>Gründerzeitblock</c:v>
                  </c:pt>
                  <c:pt idx="4">
                    <c:v>Plattenbau-Zeile</c:v>
                  </c:pt>
                </c:lvl>
              </c:multiLvlStrCache>
            </c:multiLvlStrRef>
          </c:cat>
          <c:val>
            <c:numRef>
              <c:f>Sheet1!$B$2:$B$6</c:f>
              <c:numCache>
                <c:formatCode>General</c:formatCode>
                <c:ptCount val="5"/>
                <c:pt idx="0">
                  <c:v>86</c:v>
                </c:pt>
                <c:pt idx="1">
                  <c:v>214</c:v>
                </c:pt>
                <c:pt idx="2">
                  <c:v>391</c:v>
                </c:pt>
                <c:pt idx="3">
                  <c:v>744</c:v>
                </c:pt>
                <c:pt idx="4">
                  <c:v>423</c:v>
                </c:pt>
              </c:numCache>
            </c:numRef>
          </c:val>
        </c:ser>
        <c:ser>
          <c:idx val="1"/>
          <c:order val="1"/>
          <c:tx>
            <c:strRef>
              <c:f>Sheet1!$C$1</c:f>
              <c:strCache>
                <c:ptCount val="1"/>
                <c:pt idx="0">
                  <c:v>Schwelle Abwärmenetz</c:v>
                </c:pt>
              </c:strCache>
            </c:strRef>
          </c:tx>
          <c:spPr>
            <a:solidFill>
              <a:srgbClr val="D9A441"/>
            </a:solidFill>
            <a:effectLst/>
          </c:spPr>
          <c:invertIfNegative val="0"/>
          <c:dLbls>
            <c:numFmt formatCode="0&quot;.&quot;00" sourceLinked="0"/>
            <c:txPr>
              <a:bodyPr/>
              <a:lstStyle/>
              <a:p>
                <a:pPr>
                  <a:defRPr b="1" i="0" strike="noStrike" sz="1200" u="none">
                    <a:solidFill>
                      <a:srgbClr val="1A1A17"/>
                    </a:solidFill>
                    <a:latin typeface="Calibri"/>
                  </a:defRPr>
                </a:pPr>
              </a:p>
            </c:txPr>
            <c:showLegendKey val="0"/>
            <c:showVal val="1"/>
            <c:showCatName val="0"/>
            <c:showSerName val="0"/>
            <c:showPercent val="0"/>
            <c:showBubbleSize val="0"/>
            <c:showLeaderLines val="0"/>
          </c:dLbls>
          <c:cat>
            <c:multiLvlStrRef>
              <c:f>Sheet1!$A$2:$A$6</c:f>
              <c:multiLvlStrCache>
                <c:ptCount val="5"/>
                <c:lvl>
                  <c:pt idx="0">
                    <c:v>EFH-Gebiet</c:v>
                  </c:pt>
                  <c:pt idx="1">
                    <c:v>Reihenhaus</c:v>
                  </c:pt>
                  <c:pt idx="2">
                    <c:v>Kleines MFH</c:v>
                  </c:pt>
                  <c:pt idx="3">
                    <c:v>Gründerzeitblock</c:v>
                  </c:pt>
                  <c:pt idx="4">
                    <c:v>Plattenbau-Zeile</c:v>
                  </c:pt>
                </c:lvl>
              </c:multiLvlStrCache>
            </c:multiLvlStrRef>
          </c:cat>
          <c:val>
            <c:numRef>
              <c:f>Sheet1!$C$2:$C$6</c:f>
              <c:numCache>
                <c:formatCode>General</c:formatCode>
                <c:ptCount val="5"/>
                <c:pt idx="0">
                  <c:v>107</c:v>
                </c:pt>
                <c:pt idx="1">
                  <c:v>108</c:v>
                </c:pt>
                <c:pt idx="2">
                  <c:v>108</c:v>
                </c:pt>
                <c:pt idx="3">
                  <c:v>245</c:v>
                </c:pt>
                <c:pt idx="4">
                  <c:v>133</c:v>
                </c:pt>
              </c:numCache>
            </c:numRef>
          </c:val>
        </c:ser>
        <c:dLbls>
          <c:numFmt formatCode="0&quot;.&quot;00" sourceLinked="0"/>
          <c:txPr>
            <a:bodyPr/>
            <a:lstStyle/>
            <a:p>
              <a:pPr>
                <a:defRPr b="1" i="0" strike="noStrike" sz="1200" u="none">
                  <a:solidFill>
                    <a:srgbClr val="1A1A1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6534B"/>
                </a:solidFill>
                <a:latin typeface="Calibri"/>
              </a:defRPr>
            </a:pPr>
            <a:endParaRPr lang="en-US"/>
          </a:p>
        </c:txPr>
        <c:crossAx val="2094734552"/>
        <c:crosses val="autoZero"/>
        <c:auto val="1"/>
        <c:lblAlgn val="ctr"/>
        <c:noMultiLvlLbl val="1"/>
      </c:catAx>
      <c:valAx>
        <c:axId val="2094734552"/>
        <c:scaling>
          <c:orientation val="minMax"/>
          <c:max val="8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EF"/>
        </a:solidFill>
        <a:ln>
          <a:noFill/>
        </a:ln>
        <a:effectLst/>
      </c:spPr>
    </c:plotArea>
    <c:legend>
      <c:legendPos val="t"/>
      <c:overlay val="0"/>
      <c:txPr>
        <a:bodyPr/>
        <a:lstStyle/>
        <a:p>
          <a:pPr>
            <a:defRPr sz="1200">
              <a:solidFill>
                <a:srgbClr val="56534B"/>
              </a:solidFill>
              <a:latin typeface="Calibri"/>
              <a:cs typeface="Calibri"/>
            </a:defRPr>
          </a:pPr>
          <a:endParaRPr lang="en-US"/>
        </a:p>
      </c:txPr>
    </c:legend>
    <c:plotVisOnly val="1"/>
    <c:dispBlanksAs val="span"/>
  </c:chart>
  <c:spPr>
    <a:solidFill>
      <a:srgbClr val="F7F5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300" b="0" i="0" u="none" strike="noStrike">
                <a:solidFill>
                  <a:srgbClr val="1A1A17"/>
                </a:solidFill>
                <a:latin typeface="Calibri"/>
              </a:defRPr>
            </a:pPr>
            <a:r>
              <a:rPr sz="1300" b="0" i="0" u="none" strike="noStrike">
                <a:solidFill>
                  <a:srgbClr val="1A1A17"/>
                </a:solidFill>
                <a:latin typeface="Calibri"/>
              </a:rPr>
              <a:t>Wohneinheiten, die 1 Mrd. € umstellt</a:t>
            </a:r>
          </a:p>
        </c:rich>
      </c:tx>
      <c:layout/>
      <c:overlay val="0"/>
    </c:title>
    <c:autoTitleDeleted val="0"/>
    <c:plotArea>
      <c:layout/>
      <c:barChart>
        <c:barDir val="bar"/>
        <c:grouping val="clustered"/>
        <c:varyColors val="0"/>
        <c:ser>
          <c:idx val="0"/>
          <c:order val="0"/>
          <c:tx>
            <c:strRef>
              <c:f>Sheet1!$B$1</c:f>
              <c:strCache>
                <c:ptCount val="1"/>
                <c:pt idx="0">
                  <c:v>WE</c:v>
                </c:pt>
              </c:strCache>
            </c:strRef>
          </c:tx>
          <c:spPr>
            <a:solidFill>
              <a:srgbClr val="0F5257"/>
            </a:solidFill>
            <a:effectLst/>
          </c:spPr>
          <c:invertIfNegative val="0"/>
          <c:dLbls>
            <c:numFmt formatCode="#&quot;'&quot;##0" sourceLinked="0"/>
            <c:txPr>
              <a:bodyPr/>
              <a:lstStyle/>
              <a:p>
                <a:pPr>
                  <a:defRPr b="1" i="0" strike="noStrike" sz="1300" u="none">
                    <a:solidFill>
                      <a:srgbClr val="1A1A17"/>
                    </a:solidFill>
                    <a:latin typeface="Calibri"/>
                  </a:defRPr>
                </a:pPr>
              </a:p>
            </c:txPr>
            <c:showLegendKey val="0"/>
            <c:showVal val="1"/>
            <c:showCatName val="0"/>
            <c:showSerName val="0"/>
            <c:showPercent val="0"/>
            <c:showBubbleSize val="0"/>
            <c:showLeaderLines val="0"/>
          </c:dLbls>
          <c:dPt>
            <c:idx val="0"/>
            <c:invertIfNegative val="0"/>
            <c:bubble3D val="0"/>
            <c:spPr>
              <a:solidFill>
                <a:srgbClr val="0F5257"/>
              </a:solidFill>
              <a:effectLst/>
            </c:spPr>
          </c:dPt>
          <c:dPt>
            <c:idx val="1"/>
            <c:invertIfNegative val="0"/>
            <c:bubble3D val="0"/>
            <c:spPr>
              <a:solidFill>
                <a:srgbClr val="1F5673"/>
              </a:solidFill>
              <a:effectLst/>
            </c:spPr>
          </c:dPt>
          <c:dPt>
            <c:idx val="2"/>
            <c:invertIfNegative val="0"/>
            <c:bubble3D val="0"/>
            <c:spPr>
              <a:solidFill>
                <a:srgbClr val="1F5673"/>
              </a:solidFill>
              <a:effectLst/>
            </c:spPr>
          </c:dPt>
          <c:dPt>
            <c:idx val="3"/>
            <c:invertIfNegative val="0"/>
            <c:bubble3D val="0"/>
            <c:spPr>
              <a:solidFill>
                <a:srgbClr val="1F5673"/>
              </a:solidFill>
              <a:effectLst/>
            </c:spPr>
          </c:dPt>
          <c:dPt>
            <c:idx val="4"/>
            <c:invertIfNegative val="0"/>
            <c:bubble3D val="0"/>
            <c:spPr>
              <a:solidFill>
                <a:srgbClr val="1F5673"/>
              </a:solidFill>
              <a:effectLst/>
            </c:spPr>
          </c:dPt>
          <c:dPt>
            <c:idx val="5"/>
            <c:invertIfNegative val="0"/>
            <c:bubble3D val="0"/>
            <c:spPr>
              <a:solidFill>
                <a:srgbClr val="1F5673"/>
              </a:solidFill>
              <a:effectLst/>
            </c:spPr>
          </c:dPt>
          <c:cat>
            <c:multiLvlStrRef>
              <c:f>Sheet1!$A$2:$A$7</c:f>
              <c:multiLvlStrCache>
                <c:ptCount val="6"/>
                <c:lvl>
                  <c:pt idx="0">
                    <c:v>WP-Festbetrag 9'000 €</c:v>
                  </c:pt>
                  <c:pt idx="1">
                    <c:v>EFH-Gebiet</c:v>
                  </c:pt>
                  <c:pt idx="2">
                    <c:v>Reihenhausgebiet</c:v>
                  </c:pt>
                  <c:pt idx="3">
                    <c:v>Kleines MFH, 5 WE</c:v>
                  </c:pt>
                  <c:pt idx="4">
                    <c:v>Gründerzeitblock, 12 WE</c:v>
                  </c:pt>
                  <c:pt idx="5">
                    <c:v>Plattenbau-Zeile, 60 WE</c:v>
                  </c:pt>
                </c:lvl>
              </c:multiLvlStrCache>
            </c:multiLvlStrRef>
          </c:cat>
          <c:val>
            <c:numRef>
              <c:f>Sheet1!$B$2:$B$7</c:f>
              <c:numCache>
                <c:formatCode>General</c:formatCode>
                <c:ptCount val="6"/>
                <c:pt idx="0">
                  <c:v>111000</c:v>
                </c:pt>
                <c:pt idx="1">
                  <c:v>26000</c:v>
                </c:pt>
                <c:pt idx="2">
                  <c:v>54000</c:v>
                </c:pt>
                <c:pt idx="3">
                  <c:v>198000</c:v>
                </c:pt>
                <c:pt idx="4">
                  <c:v>228000</c:v>
                </c:pt>
                <c:pt idx="5">
                  <c:v>413000</c:v>
                </c:pt>
              </c:numCache>
            </c:numRef>
          </c:val>
        </c:ser>
        <c:dLbls>
          <c:numFmt formatCode="#&quot;'&quot;##0" sourceLinked="0"/>
          <c:txPr>
            <a:bodyPr/>
            <a:lstStyle/>
            <a:p>
              <a:pPr>
                <a:defRPr b="1" i="0" strike="noStrike" sz="1300" u="none">
                  <a:solidFill>
                    <a:srgbClr val="1A1A17"/>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A1A17"/>
                </a:solidFill>
                <a:latin typeface="Calibri"/>
              </a:defRPr>
            </a:pPr>
            <a:endParaRPr lang="en-US"/>
          </a:p>
        </c:txPr>
        <c:crossAx val="2094734552"/>
        <c:crosses val="autoZero"/>
        <c:auto val="1"/>
        <c:lblAlgn val="ctr"/>
        <c:noMultiLvlLbl val="1"/>
      </c:catAx>
      <c:valAx>
        <c:axId val="2094734552"/>
        <c:scaling>
          <c:orientation val="minMax"/>
          <c:max val="480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7F5EF"/>
        </a:solidFill>
        <a:ln>
          <a:noFill/>
        </a:ln>
        <a:effectLst/>
      </c:spPr>
    </c:plotArea>
    <c:plotVisOnly val="1"/>
    <c:dispBlanksAs val="span"/>
  </c:chart>
  <c:spPr>
    <a:solidFill>
      <a:srgbClr val="F7F5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Eigene Einordnung als Newcomer und Nicht-Fachmann offen ansprechen — das ist der Grund, warum es hochgezogene Augenbrauen gibt, skeptische wie beeindruckte, und beides ist gewollt. Kernbotschaft: Die Methodik macht das Papier nicht glaubwürdiger, sondern angreifbarer — und genau das ist der Anspruch. Wer die drei Fragen beantworten kann, sitzt bei Agora, Fraunhofer IEE/ISE, ifeu, in der Kalkulation eines Stadtwerks — oder in der BAG Energie. Quelle: Abschnitt „Zur Entstehung dieses Papiers“ und Abschnitt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Verbraucherzentrale RLP 2025 (DE: Spanne 20'000–63'000, Median 35'000); HuG, Octopus-RWTH (UK, FR, AT). Referenz 14'000 € netto = Mitte UK/AT-Korridor → 16'660 € mit 19 % USt = Referenzfall in Teil II. Eigenanteil nach Förderung: UK ~3'200, DE ~14'900.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Treiber: Geräte/Markt +2'000–4'000 (Premium-Bias); Fundament +1'000–2'200 (VDI 4645 faktisch bindend); Elektro +1'500–2'500 (400 V wegen Heizstab, § 14a-Hardware); Arbeitszeit +1'000–2'000 (110 h DE vs ~40 h UK); prozentuale Förderung multipliziert alles (Moral Hazard); USt +5'700 vs UK. ~70 % quantifizierbar. Hebel 1+2 gleichzeitig: Förderdesign, Haftung, Normenwesen – Einzelmaßnahmen verpuffen. H1 Vorbild UK Boiler Upgrade Scheme, FR einkommensgestaffelt. H2: DIN finanziert ~59 % aus Normenverkauf, Koalitionsvertrag 2025 kündigt Rückführung an. H3: Heizstab läuft in 1.9 % der Heizarbeit (ISE), unter § 14a-Schwelle 4.2 kW. H4: Vorbild PAS 1878/1879, OpenADR. H5: Anhang III Nr. 22 MwSt-Richtlinie, Einstimmigkeit.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Hintergrund für die Diskussion: Pipeline-Lobby und Fernwärmeseite berichten dasselbe Problem — außer alten Gasheizungen rechnet sich derzeit nichts, weil Haushalte und Planer gegen den aktuellen Fossilgaspreis und die Gastherme rechnen und implizit davon ausgehen, dass 2045 nicht durchgesetzt wird. Den Wandel erzeugt nur die bessere Wirtschaftlichkeit der Erneuerbaren, und die glaubt man nur, wenn die Regulierung nicht wieder kassiert wird. Genau deshalb ist Teil I keine Nebensache: Der Vergleichsmaßstab entscheidet über das Vorzeichen — beim Kessel wie beim Netz. Zahlen: Abschnitt 4.2 und Anhang A.10 (Gasheizung), Abschnitt 7 und Anhang A.7 (Gasvorlauf im Netz). 27 Kombinationen = Investition 6/9/12 T€ × Gaspreis 9/11/13 ct × Nutzungsgrad.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Abschnitt 4.3. Sockel = Erzeugung, Speicher, Pumpstrom, Netzverluste, Betrieb – Vollkosten, Annuität, ohne einen Meter Verteilnetz. Gegen WP-Referenz 17.75 → Budget: Abwärme +7.72, GroßWP/Geo +1.51, Gas-KWK fossil −2.55. Gasvorlauf: barwertgewichtet mit Nachfolgequelle, kostet 5.7 ct vor Abwärme (Budget bleibt +2.0) und 2.3 ct vor GroßWP (Budget −0.8, nie). Grünes Gas müsste ab 2045 für 6.4 ct/kWh liefern (Befund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Annuität VDI 2067, 3 % Realzins, Ersatzinvestitionen eingepreist. Trassenkosten AGFW 677 / 1'692 / 3'554 €/m (unbefestigt / Bestandsstraße / Innenstadt), Baupreisindex bis Mai 2026. Fünf Gebäudetypen, Netzausbau und vorhandenes Netz. Typische Dichten: EFH 0.3–0.8, Reihenhaus 0.8–1.5, Blockrand 2–4, Innenstadt 3–6; Faustregel Planung ab ~1.5. Bei Anschlussquote 60 % statt 100 % steigen alle Schwellen um Faktor 1.67.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Tabelle 5.2. Erreichte Dichte aus Bebauungsgeometrie: EFH 17 m Trasse → 0.86; RH 5 m → 2.14; kl. MFH 9 m → 3.91; Gründerzeit 12 m → 7.44 (Innenstadtstraße); Platte 80 m → 4.23. Abwärme-Schwellen 1.07 / 1.08 / 1.08 / 2.45 / 1.33 – EFH knapp, kippt bei 13.7 statt 17 m. In keiner von 36 Kombinationen dreht sich das Abwärme-Ergebnis. GroßWP/Geo: Befund 3, unentschieden – Vorzeichen wechselt in einem Sechstel der Kombinationen; Reserve R2.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Rasterfolie zu Befund 4 — hier wird sichtbar, was die Balken auf der Vorfolie nur als Faktor behaupten. Drei Kacheln, dasselbe Raster, nur der Vergleichsmaßstab wechselt. Links gegen die europäisch normalisierte Referenz von 17.75 ct: Die Abwärmespalte trägt ab dem Reihenhaus, alle drei anderen Spalten verlieren, Gasvorlauf vor Großwärmepumpe ist durchgängig „nie“. Mitte gegen die dezentrale Gasheizung mit 21.51 ct: Anschluss an die Gas-Folie — solange die Wärmepumpe 30'000 € kostet, ist Gas der billigste dezentrale Pfad, und schon gegen diesen schwächeren Maßstab trägt das Netz in drei von vier Spalten. Rechts gegen die heutigen deutschen 23.73 ct: fast vollständig grün, einschließlich des Pfads, der links gar nicht existiert. Kern: Nicht einzelne Schwellen verschieben sich, sondern ein ganzer Technologiepfad entsteht oder verschwindet mit dem Vergleichsmaßstab. Zum EFH-Gebiet: erreichte Dichte aus der Bebauungsgeometrie hergeleitet — 0.86 aus 17 Trassenmetern, plausibel 13 bis 30 m und damit 0.49 bis 1.13; die EFH-Zeile liegt in allen drei Kacheln nah an der Kippkante. Konsequenz trotzdem eindeutig: keine gesicherte Grundlage heißt kein Netz mit fünfzig Jahren Bindung. Alle Zellen hier gegen die Bestandsstraße gerechnet, daher Gründerzeitblock 6.37 statt 3.04 wie auf Folie 6 (dort Innenstadtstraße). Fundstellen: Abschnitt 5.1, Tabelle in 5.2, Anhang A.11.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Abschnitt 6, Tabelle 5 des Skripts. Alle Netzbalken: 1 Mrd. € als Netzausbau in genau diesen Quartierstyp. Je WE: 9'000 / 38'770 / 18'460 / 5'050 / 4'390 / 2'420 €. Faktoren zum Festbetrag: EFH 4.3× (3.6–6.8), RH 2.1×, kl. MFH 0.56×, Gründerzeit 0.49× (0.39–0.68), Platte 0.27×. Fairness: Festbetrag hebelt privates Kapital; Rechnung zählt Haushalte in Bewegung je Euro. Prognos/VKU 2024: 74 Mrd. € bis 2045, 3.4–3.5 Mrd. €/a Förderbedarf – Verbandsgutachten. Befund 6 (vorhandenes Netz, ~6 Mio. WE): Trasse bezahlt, Frage ist Quellenwechsel; mit Abwärme gewinnt der Anschluss in jedem Gebäudetyp.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Botschaften: Anschlusszwang 9.7 (stranded asset vs. Zwang gegen Bürgerpräferenz, beides wahrscheinlicher, je besser Teil I wirkt); Preissignal 9.5 (Kartellamt: Fernwärme faktisch nicht regulierbar); 2045: Gas-Folie und Hintergrundgespräche. Nicht auf der Folie, in Reserve: falscher Maßstab in Wärmeplänen (Befund 4), Gasvorlauf als Wette auf Politikversagen (6.4 ct/kWh ab 2045, Befund 2), Schwellenwert für die ganze Stadt entscheidet in beide Richtungen falsch (Befund 5). Instrumente gestrichen, bei Nachfrage: Wärmenetzregister (9.2, AGFW erfasst ~ein Fünftel der Trassenlänge) und öffentliche Kostenbenchmark Trassenbau (9.4 – Papier rechnet mit AGFW-Punktwolken, Preisstand 2021, Baupreisindex). Was die BAG damit tun könnte: nicht vorgeben – R1 nur auf Nachfrage.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Abschlussfolie. Kurz-URL leitet im Repo-Root auf die aktuelle Hash-Fassung weiter; QR zeigt auf dieselbe Kurz-URL. Mündlich: Kritik zu den drei offenen Punkten ausdrücklich erwünscht – Erzeugungskosten je Wärmequelle, Verlegekosten 677/1'692/3'554 €/m, Trassenmeter je Gebäudetyp (17 m EFH, 12 m Gründerzeitblock).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7"/>
        </a:solidFill>
      </p:bgPr>
    </p:bg>
    <p:spTree>
      <p:nvGrpSpPr>
        <p:cNvPr id="1" name=""/>
        <p:cNvGrpSpPr/>
        <p:nvPr/>
      </p:nvGrpSpPr>
      <p:grpSpPr>
        <a:xfrm>
          <a:off x="0" y="0"/>
          <a:ext cx="0" cy="0"/>
          <a:chOff x="0" y="0"/>
          <a:chExt cx="0" cy="0"/>
        </a:xfrm>
      </p:grpSpPr>
      <p:sp>
        <p:nvSpPr>
          <p:cNvPr id="2" name="Text 0"/>
          <p:cNvSpPr txBox="1"/>
          <p:nvPr/>
        </p:nvSpPr>
        <p:spPr>
          <a:xfrm>
            <a:off x="731520" y="640080"/>
            <a:ext cx="10058400" cy="274320"/>
          </a:xfrm>
          <a:prstGeom prst="rect">
            <a:avLst/>
          </a:prstGeom>
          <a:noFill/>
          <a:ln/>
        </p:spPr>
        <p:txBody>
          <a:bodyPr wrap="square" lIns="0" tIns="0" rIns="0" bIns="0" rtlCol="0" anchor="ctr"/>
          <a:lstStyle/>
          <a:p>
            <a:pPr indent="0" marL="0">
              <a:buNone/>
            </a:pPr>
            <a:r>
              <a:rPr lang="en-US" sz="1200" spc="200" kern="0" dirty="0">
                <a:solidFill>
                  <a:srgbClr val="B8B3A6"/>
                </a:solidFill>
                <a:latin typeface="Calibri" pitchFamily="34" charset="0"/>
                <a:ea typeface="Calibri" pitchFamily="34" charset="-122"/>
                <a:cs typeface="Calibri" pitchFamily="34" charset="-120"/>
              </a:rPr>
              <a:t>Diskussionspapier · BAG Energie · Stuttgart, 20. September 2026</a:t>
            </a:r>
            <a:endParaRPr lang="en-US" sz="1200" dirty="0"/>
          </a:p>
        </p:txBody>
      </p:sp>
      <p:sp>
        <p:nvSpPr>
          <p:cNvPr id="3" name="Text 1"/>
          <p:cNvSpPr txBox="1"/>
          <p:nvPr/>
        </p:nvSpPr>
        <p:spPr>
          <a:xfrm>
            <a:off x="731520" y="1737360"/>
            <a:ext cx="1069848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Europäische Wärmepumpe und Fernwärme im Kostenvergleich</a:t>
            </a:r>
            <a:endParaRPr lang="en-US" sz="4000" dirty="0"/>
          </a:p>
        </p:txBody>
      </p:sp>
      <p:sp>
        <p:nvSpPr>
          <p:cNvPr id="4" name="Text 2"/>
          <p:cNvSpPr txBox="1"/>
          <p:nvPr/>
        </p:nvSpPr>
        <p:spPr>
          <a:xfrm>
            <a:off x="731520" y="3931920"/>
            <a:ext cx="3383280" cy="960120"/>
          </a:xfrm>
          <a:prstGeom prst="rect">
            <a:avLst/>
          </a:prstGeom>
          <a:noFill/>
          <a:ln/>
        </p:spPr>
        <p:txBody>
          <a:bodyPr wrap="square" lIns="0" tIns="0" rIns="0" bIns="0" rtlCol="0" anchor="b"/>
          <a:lstStyle/>
          <a:p>
            <a:pPr indent="0" marL="0">
              <a:buNone/>
            </a:pPr>
            <a:r>
              <a:rPr lang="en-US" sz="3000" b="1" dirty="0">
                <a:solidFill>
                  <a:srgbClr val="FFFFFF"/>
                </a:solidFill>
                <a:latin typeface="Cambria" pitchFamily="34" charset="0"/>
                <a:ea typeface="Cambria" pitchFamily="34" charset="-122"/>
                <a:cs typeface="Cambria" pitchFamily="34" charset="-120"/>
              </a:rPr>
              <a:t>30'000 €</a:t>
            </a:r>
            <a:endParaRPr lang="en-US" sz="3000" dirty="0"/>
          </a:p>
        </p:txBody>
      </p:sp>
      <p:sp>
        <p:nvSpPr>
          <p:cNvPr id="5" name="Text 3"/>
          <p:cNvSpPr txBox="1"/>
          <p:nvPr/>
        </p:nvSpPr>
        <p:spPr>
          <a:xfrm>
            <a:off x="731520" y="4937760"/>
            <a:ext cx="3200400" cy="640080"/>
          </a:xfrm>
          <a:prstGeom prst="rect">
            <a:avLst/>
          </a:prstGeom>
          <a:noFill/>
          <a:ln/>
        </p:spPr>
        <p:txBody>
          <a:bodyPr wrap="square" lIns="0" tIns="0" rIns="0" bIns="0" rtlCol="0" anchor="t"/>
          <a:lstStyle/>
          <a:p>
            <a:pPr indent="0" marL="0">
              <a:buNone/>
            </a:pPr>
            <a:r>
              <a:rPr lang="en-US" sz="1200" dirty="0">
                <a:solidFill>
                  <a:srgbClr val="B8B3A6"/>
                </a:solidFill>
                <a:latin typeface="Calibri" pitchFamily="34" charset="0"/>
                <a:ea typeface="Calibri" pitchFamily="34" charset="-122"/>
                <a:cs typeface="Calibri" pitchFamily="34" charset="-120"/>
              </a:rPr>
              <a:t>kostet eine Wärmepumpe in Deutschland</a:t>
            </a:r>
            <a:endParaRPr lang="en-US" sz="1200" dirty="0"/>
          </a:p>
        </p:txBody>
      </p:sp>
      <p:sp>
        <p:nvSpPr>
          <p:cNvPr id="6" name="Text 4"/>
          <p:cNvSpPr txBox="1"/>
          <p:nvPr/>
        </p:nvSpPr>
        <p:spPr>
          <a:xfrm>
            <a:off x="4297680" y="3931920"/>
            <a:ext cx="3383280" cy="960120"/>
          </a:xfrm>
          <a:prstGeom prst="rect">
            <a:avLst/>
          </a:prstGeom>
          <a:noFill/>
          <a:ln/>
        </p:spPr>
        <p:txBody>
          <a:bodyPr wrap="square" lIns="0" tIns="0" rIns="0" bIns="0" rtlCol="0" anchor="b"/>
          <a:lstStyle/>
          <a:p>
            <a:pPr indent="0" marL="0">
              <a:buNone/>
            </a:pPr>
            <a:r>
              <a:rPr lang="en-US" sz="3000" b="1" dirty="0">
                <a:solidFill>
                  <a:srgbClr val="FFFFFF"/>
                </a:solidFill>
                <a:latin typeface="Cambria" pitchFamily="34" charset="0"/>
                <a:ea typeface="Cambria" pitchFamily="34" charset="-122"/>
                <a:cs typeface="Cambria" pitchFamily="34" charset="-120"/>
              </a:rPr>
              <a:t>14'000 €</a:t>
            </a:r>
            <a:endParaRPr lang="en-US" sz="3000" dirty="0"/>
          </a:p>
        </p:txBody>
      </p:sp>
      <p:sp>
        <p:nvSpPr>
          <p:cNvPr id="7" name="Text 5"/>
          <p:cNvSpPr txBox="1"/>
          <p:nvPr/>
        </p:nvSpPr>
        <p:spPr>
          <a:xfrm>
            <a:off x="4297680" y="4937760"/>
            <a:ext cx="3200400" cy="640080"/>
          </a:xfrm>
          <a:prstGeom prst="rect">
            <a:avLst/>
          </a:prstGeom>
          <a:noFill/>
          <a:ln/>
        </p:spPr>
        <p:txBody>
          <a:bodyPr wrap="square" lIns="0" tIns="0" rIns="0" bIns="0" rtlCol="0" anchor="t"/>
          <a:lstStyle/>
          <a:p>
            <a:pPr indent="0" marL="0">
              <a:buNone/>
            </a:pPr>
            <a:r>
              <a:rPr lang="en-US" sz="1200" dirty="0">
                <a:solidFill>
                  <a:srgbClr val="B8B3A6"/>
                </a:solidFill>
                <a:latin typeface="Calibri" pitchFamily="34" charset="0"/>
                <a:ea typeface="Calibri" pitchFamily="34" charset="-122"/>
                <a:cs typeface="Calibri" pitchFamily="34" charset="-120"/>
              </a:rPr>
              <a:t>dieselbe Anlage in UK, FR, AT</a:t>
            </a:r>
            <a:endParaRPr lang="en-US" sz="1200" dirty="0"/>
          </a:p>
        </p:txBody>
      </p:sp>
      <p:sp>
        <p:nvSpPr>
          <p:cNvPr id="8" name="Text 6"/>
          <p:cNvSpPr txBox="1"/>
          <p:nvPr/>
        </p:nvSpPr>
        <p:spPr>
          <a:xfrm>
            <a:off x="7863840" y="3931920"/>
            <a:ext cx="3383280" cy="960120"/>
          </a:xfrm>
          <a:prstGeom prst="rect">
            <a:avLst/>
          </a:prstGeom>
          <a:noFill/>
          <a:ln/>
        </p:spPr>
        <p:txBody>
          <a:bodyPr wrap="square" lIns="0" tIns="0" rIns="0" bIns="0" rtlCol="0" anchor="b"/>
          <a:lstStyle/>
          <a:p>
            <a:pPr indent="0" marL="0">
              <a:buNone/>
            </a:pPr>
            <a:r>
              <a:rPr lang="en-US" sz="2200" b="1" dirty="0">
                <a:solidFill>
                  <a:srgbClr val="7FB7B2"/>
                </a:solidFill>
                <a:latin typeface="Cambria" pitchFamily="34" charset="0"/>
                <a:ea typeface="Cambria" pitchFamily="34" charset="-122"/>
                <a:cs typeface="Cambria" pitchFamily="34" charset="-120"/>
              </a:rPr>
              <a:t>Ist Fernwärme wirtschaftlich?</a:t>
            </a:r>
            <a:endParaRPr lang="en-US" sz="2200" dirty="0"/>
          </a:p>
        </p:txBody>
      </p:sp>
      <p:sp>
        <p:nvSpPr>
          <p:cNvPr id="9" name="Text 7"/>
          <p:cNvSpPr txBox="1"/>
          <p:nvPr/>
        </p:nvSpPr>
        <p:spPr>
          <a:xfrm>
            <a:off x="7863840" y="4937760"/>
            <a:ext cx="3200400" cy="640080"/>
          </a:xfrm>
          <a:prstGeom prst="rect">
            <a:avLst/>
          </a:prstGeom>
          <a:noFill/>
          <a:ln/>
        </p:spPr>
        <p:txBody>
          <a:bodyPr wrap="square" lIns="0" tIns="0" rIns="0" bIns="0" rtlCol="0" anchor="t"/>
          <a:lstStyle/>
          <a:p>
            <a:pPr indent="0" marL="0">
              <a:buNone/>
            </a:pPr>
            <a:r>
              <a:rPr lang="en-US" sz="1200" dirty="0">
                <a:solidFill>
                  <a:srgbClr val="B8B3A6"/>
                </a:solidFill>
                <a:latin typeface="Calibri" pitchFamily="34" charset="0"/>
                <a:ea typeface="Calibri" pitchFamily="34" charset="-122"/>
                <a:cs typeface="Calibri" pitchFamily="34" charset="-120"/>
              </a:rPr>
              <a:t>Kommt darauf an.</a:t>
            </a:r>
            <a:endParaRPr lang="en-US" sz="1200" dirty="0"/>
          </a:p>
        </p:txBody>
      </p:sp>
      <p:sp>
        <p:nvSpPr>
          <p:cNvPr id="10" name="Text 8"/>
          <p:cNvSpPr txBox="1"/>
          <p:nvPr/>
        </p:nvSpPr>
        <p:spPr>
          <a:xfrm>
            <a:off x="731520" y="6126480"/>
            <a:ext cx="10058400" cy="274320"/>
          </a:xfrm>
          <a:prstGeom prst="rect">
            <a:avLst/>
          </a:prstGeom>
          <a:noFill/>
          <a:ln/>
        </p:spPr>
        <p:txBody>
          <a:bodyPr wrap="square" lIns="0" tIns="0" rIns="0" bIns="0" rtlCol="0" anchor="ctr"/>
          <a:lstStyle/>
          <a:p>
            <a:pPr indent="0" marL="0">
              <a:buNone/>
            </a:pPr>
            <a:r>
              <a:rPr lang="en-US" sz="1100" dirty="0">
                <a:solidFill>
                  <a:srgbClr val="B8B3A6"/>
                </a:solidFill>
                <a:latin typeface="Calibri" pitchFamily="34" charset="0"/>
                <a:ea typeface="Calibri" pitchFamily="34" charset="-122"/>
                <a:cs typeface="Calibri" pitchFamily="34" charset="-120"/>
              </a:rPr>
              <a:t>Florian Schulte, Gießen · Version 2.11.1 · Modell und Skript offen (MIT)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ZUR ENTSTEHUNG</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Ein Quereinsteiger, eine KI und ein offenes Skript</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1</a:t>
            </a:r>
            <a:endParaRPr lang="en-US" sz="900" dirty="0"/>
          </a:p>
        </p:txBody>
      </p:sp>
      <p:sp>
        <p:nvSpPr>
          <p:cNvPr id="6" name="Shape 4"/>
          <p:cNvSpPr/>
          <p:nvPr/>
        </p:nvSpPr>
        <p:spPr>
          <a:xfrm>
            <a:off x="548640" y="2286000"/>
            <a:ext cx="640080" cy="640080"/>
          </a:xfrm>
          <a:prstGeom prst="ellipse">
            <a:avLst/>
          </a:prstGeom>
          <a:solidFill>
            <a:srgbClr val="EFEBE1"/>
          </a:solidFill>
          <a:ln w="12700">
            <a:solidFill>
              <a:srgbClr val="EFEBE1"/>
            </a:solidFill>
            <a:prstDash val="solid"/>
          </a:ln>
        </p:spPr>
      </p:sp>
      <p:pic>
        <p:nvPicPr>
          <p:cNvPr id="7" name="Image 0" descr="preencoded.png">    </p:cNvPr>
          <p:cNvPicPr>
            <a:picLocks noChangeAspect="1"/>
          </p:cNvPicPr>
          <p:nvPr/>
        </p:nvPicPr>
        <p:blipFill>
          <a:blip r:embed="rId1"/>
          <a:stretch>
            <a:fillRect/>
          </a:stretch>
        </p:blipFill>
        <p:spPr>
          <a:xfrm>
            <a:off x="704088" y="2441448"/>
            <a:ext cx="329184" cy="329184"/>
          </a:xfrm>
          <a:prstGeom prst="rect">
            <a:avLst/>
          </a:prstGeom>
        </p:spPr>
      </p:pic>
      <p:sp>
        <p:nvSpPr>
          <p:cNvPr id="8" name="Text 5"/>
          <p:cNvSpPr txBox="1"/>
          <p:nvPr/>
        </p:nvSpPr>
        <p:spPr>
          <a:xfrm>
            <a:off x="548640" y="3063240"/>
            <a:ext cx="2560320" cy="365760"/>
          </a:xfrm>
          <a:prstGeom prst="rect">
            <a:avLst/>
          </a:prstGeom>
          <a:noFill/>
          <a:ln/>
        </p:spPr>
        <p:txBody>
          <a:bodyPr wrap="square" lIns="0" tIns="0" rIns="0" bIns="0" rtlCol="0" anchor="t"/>
          <a:lstStyle/>
          <a:p>
            <a:pPr indent="0" marL="0">
              <a:buNone/>
            </a:pPr>
            <a:r>
              <a:rPr lang="en-US" sz="2000" b="1" dirty="0">
                <a:solidFill>
                  <a:srgbClr val="1F5673"/>
                </a:solidFill>
                <a:latin typeface="Cambria" pitchFamily="34" charset="0"/>
                <a:ea typeface="Cambria" pitchFamily="34" charset="-122"/>
                <a:cs typeface="Cambria" pitchFamily="34" charset="-120"/>
              </a:rPr>
              <a:t>KI</a:t>
            </a:r>
            <a:endParaRPr lang="en-US" sz="2000" dirty="0"/>
          </a:p>
        </p:txBody>
      </p:sp>
      <p:sp>
        <p:nvSpPr>
          <p:cNvPr id="9" name="Text 6"/>
          <p:cNvSpPr txBox="1"/>
          <p:nvPr/>
        </p:nvSpPr>
        <p:spPr>
          <a:xfrm>
            <a:off x="548640" y="3520440"/>
            <a:ext cx="2560320" cy="1097280"/>
          </a:xfrm>
          <a:prstGeom prst="rect">
            <a:avLst/>
          </a:prstGeom>
          <a:noFill/>
          <a:ln/>
        </p:spPr>
        <p:txBody>
          <a:bodyPr wrap="square" lIns="0" tIns="0" rIns="0" bIns="0" rtlCol="0" anchor="t"/>
          <a:lstStyle/>
          <a:p>
            <a:pPr indent="0" marL="0">
              <a:buNone/>
            </a:pPr>
            <a:r>
              <a:rPr lang="en-US" sz="1300" dirty="0">
                <a:solidFill>
                  <a:srgbClr val="56534B"/>
                </a:solidFill>
                <a:latin typeface="Calibri" pitchFamily="34" charset="0"/>
                <a:ea typeface="Calibri" pitchFamily="34" charset="-122"/>
                <a:cs typeface="Calibri" pitchFamily="34" charset="-120"/>
              </a:rPr>
              <a:t>Recherche, Kostenmodell, Simulation, Text</a:t>
            </a:r>
            <a:endParaRPr lang="en-US" sz="1300" dirty="0"/>
          </a:p>
        </p:txBody>
      </p:sp>
      <p:sp>
        <p:nvSpPr>
          <p:cNvPr id="10" name="Shape 7"/>
          <p:cNvSpPr/>
          <p:nvPr/>
        </p:nvSpPr>
        <p:spPr>
          <a:xfrm>
            <a:off x="3383280" y="2286000"/>
            <a:ext cx="640080" cy="640080"/>
          </a:xfrm>
          <a:prstGeom prst="ellipse">
            <a:avLst/>
          </a:prstGeom>
          <a:solidFill>
            <a:srgbClr val="EFEBE1"/>
          </a:solidFill>
          <a:ln w="12700">
            <a:solidFill>
              <a:srgbClr val="EFEBE1"/>
            </a:solidFill>
            <a:prstDash val="solid"/>
          </a:ln>
        </p:spPr>
      </p:sp>
      <p:pic>
        <p:nvPicPr>
          <p:cNvPr id="11" name="Image 1" descr="preencoded.png">    </p:cNvPr>
          <p:cNvPicPr>
            <a:picLocks noChangeAspect="1"/>
          </p:cNvPicPr>
          <p:nvPr/>
        </p:nvPicPr>
        <p:blipFill>
          <a:blip r:embed="rId2"/>
          <a:stretch>
            <a:fillRect/>
          </a:stretch>
        </p:blipFill>
        <p:spPr>
          <a:xfrm>
            <a:off x="3538728" y="2441448"/>
            <a:ext cx="329184" cy="329184"/>
          </a:xfrm>
          <a:prstGeom prst="rect">
            <a:avLst/>
          </a:prstGeom>
        </p:spPr>
      </p:pic>
      <p:sp>
        <p:nvSpPr>
          <p:cNvPr id="12" name="Text 8"/>
          <p:cNvSpPr txBox="1"/>
          <p:nvPr/>
        </p:nvSpPr>
        <p:spPr>
          <a:xfrm>
            <a:off x="3383280" y="3063240"/>
            <a:ext cx="2560320" cy="365760"/>
          </a:xfrm>
          <a:prstGeom prst="rect">
            <a:avLst/>
          </a:prstGeom>
          <a:noFill/>
          <a:ln/>
        </p:spPr>
        <p:txBody>
          <a:bodyPr wrap="square" lIns="0" tIns="0" rIns="0" bIns="0" rtlCol="0" anchor="t"/>
          <a:lstStyle/>
          <a:p>
            <a:pPr indent="0" marL="0">
              <a:buNone/>
            </a:pPr>
            <a:r>
              <a:rPr lang="en-US" sz="2000" b="1" dirty="0">
                <a:solidFill>
                  <a:srgbClr val="0F5257"/>
                </a:solidFill>
                <a:latin typeface="Cambria" pitchFamily="34" charset="0"/>
                <a:ea typeface="Cambria" pitchFamily="34" charset="-122"/>
                <a:cs typeface="Cambria" pitchFamily="34" charset="-120"/>
              </a:rPr>
              <a:t>Autor</a:t>
            </a:r>
            <a:endParaRPr lang="en-US" sz="2000" dirty="0"/>
          </a:p>
        </p:txBody>
      </p:sp>
      <p:sp>
        <p:nvSpPr>
          <p:cNvPr id="13" name="Text 9"/>
          <p:cNvSpPr txBox="1"/>
          <p:nvPr/>
        </p:nvSpPr>
        <p:spPr>
          <a:xfrm>
            <a:off x="3383280" y="3520440"/>
            <a:ext cx="2560320" cy="1097280"/>
          </a:xfrm>
          <a:prstGeom prst="rect">
            <a:avLst/>
          </a:prstGeom>
          <a:noFill/>
          <a:ln/>
        </p:spPr>
        <p:txBody>
          <a:bodyPr wrap="square" lIns="0" tIns="0" rIns="0" bIns="0" rtlCol="0" anchor="t"/>
          <a:lstStyle/>
          <a:p>
            <a:pPr indent="0" marL="0">
              <a:buNone/>
            </a:pPr>
            <a:r>
              <a:rPr lang="en-US" sz="1300" dirty="0">
                <a:solidFill>
                  <a:srgbClr val="56534B"/>
                </a:solidFill>
                <a:latin typeface="Calibri" pitchFamily="34" charset="0"/>
                <a:ea typeface="Calibri" pitchFamily="34" charset="-122"/>
                <a:cs typeface="Calibri" pitchFamily="34" charset="-120"/>
              </a:rPr>
              <a:t>Fragestellung, Einwände, Prüfung, Lektorat</a:t>
            </a:r>
            <a:endParaRPr lang="en-US" sz="1300" dirty="0"/>
          </a:p>
        </p:txBody>
      </p:sp>
      <p:sp>
        <p:nvSpPr>
          <p:cNvPr id="14" name="Shape 10"/>
          <p:cNvSpPr/>
          <p:nvPr/>
        </p:nvSpPr>
        <p:spPr>
          <a:xfrm>
            <a:off x="6217920" y="2286000"/>
            <a:ext cx="640080" cy="640080"/>
          </a:xfrm>
          <a:prstGeom prst="ellipse">
            <a:avLst/>
          </a:prstGeom>
          <a:solidFill>
            <a:srgbClr val="EFEBE1"/>
          </a:solidFill>
          <a:ln w="12700">
            <a:solidFill>
              <a:srgbClr val="EFEBE1"/>
            </a:solidFill>
            <a:prstDash val="solid"/>
          </a:ln>
        </p:spPr>
      </p:sp>
      <p:pic>
        <p:nvPicPr>
          <p:cNvPr id="15" name="Image 2" descr="preencoded.png">    </p:cNvPr>
          <p:cNvPicPr>
            <a:picLocks noChangeAspect="1"/>
          </p:cNvPicPr>
          <p:nvPr/>
        </p:nvPicPr>
        <p:blipFill>
          <a:blip r:embed="rId3"/>
          <a:stretch>
            <a:fillRect/>
          </a:stretch>
        </p:blipFill>
        <p:spPr>
          <a:xfrm>
            <a:off x="6373368" y="2441448"/>
            <a:ext cx="329184" cy="329184"/>
          </a:xfrm>
          <a:prstGeom prst="rect">
            <a:avLst/>
          </a:prstGeom>
        </p:spPr>
      </p:pic>
      <p:sp>
        <p:nvSpPr>
          <p:cNvPr id="16" name="Text 11"/>
          <p:cNvSpPr txBox="1"/>
          <p:nvPr/>
        </p:nvSpPr>
        <p:spPr>
          <a:xfrm>
            <a:off x="6217920" y="3063240"/>
            <a:ext cx="2560320" cy="365760"/>
          </a:xfrm>
          <a:prstGeom prst="rect">
            <a:avLst/>
          </a:prstGeom>
          <a:noFill/>
          <a:ln/>
        </p:spPr>
        <p:txBody>
          <a:bodyPr wrap="square" lIns="0" tIns="0" rIns="0" bIns="0" rtlCol="0" anchor="t"/>
          <a:lstStyle/>
          <a:p>
            <a:pPr indent="0" marL="0">
              <a:buNone/>
            </a:pPr>
            <a:r>
              <a:rPr lang="en-US" sz="2000" b="1" dirty="0">
                <a:solidFill>
                  <a:srgbClr val="28633B"/>
                </a:solidFill>
                <a:latin typeface="Cambria" pitchFamily="34" charset="0"/>
                <a:ea typeface="Cambria" pitchFamily="34" charset="-122"/>
                <a:cs typeface="Cambria" pitchFamily="34" charset="-120"/>
              </a:rPr>
              <a:t>Nachprüfbar</a:t>
            </a:r>
            <a:endParaRPr lang="en-US" sz="2000" dirty="0"/>
          </a:p>
        </p:txBody>
      </p:sp>
      <p:sp>
        <p:nvSpPr>
          <p:cNvPr id="17" name="Text 12"/>
          <p:cNvSpPr txBox="1"/>
          <p:nvPr/>
        </p:nvSpPr>
        <p:spPr>
          <a:xfrm>
            <a:off x="6217920" y="3520440"/>
            <a:ext cx="2560320" cy="1097280"/>
          </a:xfrm>
          <a:prstGeom prst="rect">
            <a:avLst/>
          </a:prstGeom>
          <a:noFill/>
          <a:ln/>
        </p:spPr>
        <p:txBody>
          <a:bodyPr wrap="square" lIns="0" tIns="0" rIns="0" bIns="0" rtlCol="0" anchor="t"/>
          <a:lstStyle/>
          <a:p>
            <a:pPr indent="0" marL="0">
              <a:buNone/>
            </a:pPr>
            <a:r>
              <a:rPr lang="en-US" sz="1300" dirty="0">
                <a:solidFill>
                  <a:srgbClr val="56534B"/>
                </a:solidFill>
                <a:latin typeface="Calibri" pitchFamily="34" charset="0"/>
                <a:ea typeface="Calibri" pitchFamily="34" charset="-122"/>
                <a:cs typeface="Calibri" pitchFamily="34" charset="-120"/>
              </a:rPr>
              <a:t>Annahmen markiert, Quellen mit Interessenlage, Skript offen (MIT)</a:t>
            </a:r>
            <a:endParaRPr lang="en-US" sz="1300" dirty="0"/>
          </a:p>
        </p:txBody>
      </p:sp>
      <p:sp>
        <p:nvSpPr>
          <p:cNvPr id="18" name="Shape 13"/>
          <p:cNvSpPr/>
          <p:nvPr/>
        </p:nvSpPr>
        <p:spPr>
          <a:xfrm>
            <a:off x="9052560" y="2286000"/>
            <a:ext cx="640080" cy="640080"/>
          </a:xfrm>
          <a:prstGeom prst="ellipse">
            <a:avLst/>
          </a:prstGeom>
          <a:solidFill>
            <a:srgbClr val="EFEBE1"/>
          </a:solidFill>
          <a:ln w="12700">
            <a:solidFill>
              <a:srgbClr val="EFEBE1"/>
            </a:solidFill>
            <a:prstDash val="solid"/>
          </a:ln>
        </p:spPr>
      </p:sp>
      <p:pic>
        <p:nvPicPr>
          <p:cNvPr id="19" name="Image 3" descr="preencoded.png">    </p:cNvPr>
          <p:cNvPicPr>
            <a:picLocks noChangeAspect="1"/>
          </p:cNvPicPr>
          <p:nvPr/>
        </p:nvPicPr>
        <p:blipFill>
          <a:blip r:embed="rId4"/>
          <a:stretch>
            <a:fillRect/>
          </a:stretch>
        </p:blipFill>
        <p:spPr>
          <a:xfrm>
            <a:off x="9208008" y="2441448"/>
            <a:ext cx="329184" cy="329184"/>
          </a:xfrm>
          <a:prstGeom prst="rect">
            <a:avLst/>
          </a:prstGeom>
        </p:spPr>
      </p:pic>
      <p:sp>
        <p:nvSpPr>
          <p:cNvPr id="20" name="Text 14"/>
          <p:cNvSpPr txBox="1"/>
          <p:nvPr/>
        </p:nvSpPr>
        <p:spPr>
          <a:xfrm>
            <a:off x="9052560" y="3063240"/>
            <a:ext cx="2560320" cy="365760"/>
          </a:xfrm>
          <a:prstGeom prst="rect">
            <a:avLst/>
          </a:prstGeom>
          <a:noFill/>
          <a:ln/>
        </p:spPr>
        <p:txBody>
          <a:bodyPr wrap="square" lIns="0" tIns="0" rIns="0" bIns="0" rtlCol="0" anchor="t"/>
          <a:lstStyle/>
          <a:p>
            <a:pPr indent="0" marL="0">
              <a:buNone/>
            </a:pPr>
            <a:r>
              <a:rPr lang="en-US" sz="2000" b="1" dirty="0">
                <a:solidFill>
                  <a:srgbClr val="9A5B12"/>
                </a:solidFill>
                <a:latin typeface="Cambria" pitchFamily="34" charset="0"/>
                <a:ea typeface="Cambria" pitchFamily="34" charset="-122"/>
                <a:cs typeface="Cambria" pitchFamily="34" charset="-120"/>
              </a:rPr>
              <a:t>Angreifbar</a:t>
            </a:r>
            <a:endParaRPr lang="en-US" sz="2000" dirty="0"/>
          </a:p>
        </p:txBody>
      </p:sp>
      <p:sp>
        <p:nvSpPr>
          <p:cNvPr id="21" name="Text 15"/>
          <p:cNvSpPr txBox="1"/>
          <p:nvPr/>
        </p:nvSpPr>
        <p:spPr>
          <a:xfrm>
            <a:off x="9052560" y="3520440"/>
            <a:ext cx="2560320" cy="1097280"/>
          </a:xfrm>
          <a:prstGeom prst="rect">
            <a:avLst/>
          </a:prstGeom>
          <a:noFill/>
          <a:ln/>
        </p:spPr>
        <p:txBody>
          <a:bodyPr wrap="square" lIns="0" tIns="0" rIns="0" bIns="0" rtlCol="0" anchor="t"/>
          <a:lstStyle/>
          <a:p>
            <a:pPr indent="0" marL="0">
              <a:buNone/>
            </a:pPr>
            <a:r>
              <a:rPr lang="en-US" sz="1300" dirty="0">
                <a:solidFill>
                  <a:srgbClr val="56534B"/>
                </a:solidFill>
                <a:latin typeface="Calibri" pitchFamily="34" charset="0"/>
                <a:ea typeface="Calibri" pitchFamily="34" charset="-122"/>
                <a:cs typeface="Calibri" pitchFamily="34" charset="-120"/>
              </a:rPr>
              <a:t>Die Kalibrierung ist der schwache Punkt – im Papier durchgehend so markiert</a:t>
            </a:r>
            <a:endParaRPr lang="en-US" sz="1300" dirty="0"/>
          </a:p>
        </p:txBody>
      </p:sp>
      <p:sp>
        <p:nvSpPr>
          <p:cNvPr id="22" name="Shape 16"/>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23" name="Text 17"/>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9A5B12"/>
                </a:solidFill>
                <a:latin typeface="Calibri" pitchFamily="34" charset="0"/>
                <a:ea typeface="Calibri" pitchFamily="34" charset="-122"/>
                <a:cs typeface="Calibri" pitchFamily="34" charset="-120"/>
              </a:rPr>
              <a:t>Der Anspruch: </a:t>
            </a:r>
            <a:pPr indent="0" marL="0">
              <a:buNone/>
            </a:pPr>
            <a:r>
              <a:rPr lang="en-US" sz="1250" dirty="0">
                <a:solidFill>
                  <a:srgbClr val="1A1A17"/>
                </a:solidFill>
                <a:latin typeface="Calibri" pitchFamily="34" charset="0"/>
                <a:ea typeface="Calibri" pitchFamily="34" charset="-122"/>
                <a:cs typeface="Calibri" pitchFamily="34" charset="-120"/>
              </a:rPr>
              <a:t>Ob eine KI-gestützte Analyse taugt, entscheidet sich nicht an ihrer Entstehung, sondern daran, ob die Zahlen halten.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 · AUSGANGSLAGE</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Deutschland zahlt das Doppelte – für dieselbe Anlage</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2</a:t>
            </a:r>
            <a:endParaRPr lang="en-US" sz="900" dirty="0"/>
          </a:p>
        </p:txBody>
      </p:sp>
      <p:sp>
        <p:nvSpPr>
          <p:cNvPr id="6" name="Text 4"/>
          <p:cNvSpPr txBox="1"/>
          <p:nvPr/>
        </p:nvSpPr>
        <p:spPr>
          <a:xfrm>
            <a:off x="548640" y="1783080"/>
            <a:ext cx="749808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Luft-Wasser-Wärmepumpe, komplett installiert (€)</a:t>
            </a:r>
            <a:endParaRPr lang="en-US" sz="1200" dirty="0"/>
          </a:p>
        </p:txBody>
      </p:sp>
      <p:sp>
        <p:nvSpPr>
          <p:cNvPr id="7" name="Text 5"/>
          <p:cNvSpPr txBox="1"/>
          <p:nvPr/>
        </p:nvSpPr>
        <p:spPr>
          <a:xfrm>
            <a:off x="548640" y="2286000"/>
            <a:ext cx="1508760" cy="411480"/>
          </a:xfrm>
          <a:prstGeom prst="rect">
            <a:avLst/>
          </a:prstGeom>
          <a:noFill/>
          <a:ln/>
        </p:spPr>
        <p:txBody>
          <a:bodyPr wrap="square" lIns="0" tIns="0" rIns="0" bIns="0" rtlCol="0" anchor="ctr"/>
          <a:lstStyle/>
          <a:p>
            <a:pPr indent="0" marL="0">
              <a:buNone/>
            </a:pPr>
            <a:r>
              <a:rPr lang="en-US" sz="1200" dirty="0">
                <a:solidFill>
                  <a:srgbClr val="1A1A17"/>
                </a:solidFill>
                <a:latin typeface="Calibri" pitchFamily="34" charset="0"/>
                <a:ea typeface="Calibri" pitchFamily="34" charset="-122"/>
                <a:cs typeface="Calibri" pitchFamily="34" charset="-120"/>
              </a:rPr>
              <a:t>Deutschland</a:t>
            </a:r>
            <a:endParaRPr lang="en-US" sz="1200" dirty="0"/>
          </a:p>
        </p:txBody>
      </p:sp>
      <p:sp>
        <p:nvSpPr>
          <p:cNvPr id="8" name="Shape 6"/>
          <p:cNvSpPr/>
          <p:nvPr/>
        </p:nvSpPr>
        <p:spPr>
          <a:xfrm>
            <a:off x="3791243" y="2359152"/>
            <a:ext cx="3629465" cy="274320"/>
          </a:xfrm>
          <a:prstGeom prst="rect">
            <a:avLst/>
          </a:prstGeom>
          <a:solidFill>
            <a:srgbClr val="7A2E2E"/>
          </a:solidFill>
          <a:ln w="12700">
            <a:solidFill>
              <a:srgbClr val="7A2E2E"/>
            </a:solidFill>
            <a:prstDash val="solid"/>
          </a:ln>
        </p:spPr>
      </p:sp>
      <p:sp>
        <p:nvSpPr>
          <p:cNvPr id="9" name="Text 7"/>
          <p:cNvSpPr txBox="1"/>
          <p:nvPr/>
        </p:nvSpPr>
        <p:spPr>
          <a:xfrm>
            <a:off x="7512148" y="2286000"/>
            <a:ext cx="1645920" cy="411480"/>
          </a:xfrm>
          <a:prstGeom prst="rect">
            <a:avLst/>
          </a:prstGeom>
          <a:noFill/>
          <a:ln/>
        </p:spPr>
        <p:txBody>
          <a:bodyPr wrap="square" lIns="0" tIns="0" rIns="0" bIns="0" rtlCol="0" anchor="ctr"/>
          <a:lstStyle/>
          <a:p>
            <a:pPr indent="0" marL="0">
              <a:buNone/>
            </a:pPr>
            <a:r>
              <a:rPr lang="en-US" sz="1100" b="1" dirty="0">
                <a:solidFill>
                  <a:srgbClr val="1A1A17"/>
                </a:solidFill>
                <a:latin typeface="Calibri" pitchFamily="34" charset="0"/>
                <a:ea typeface="Calibri" pitchFamily="34" charset="-122"/>
                <a:cs typeface="Calibri" pitchFamily="34" charset="-120"/>
              </a:rPr>
              <a:t>20'000–63'000</a:t>
            </a:r>
            <a:endParaRPr lang="en-US" sz="1100" dirty="0"/>
          </a:p>
        </p:txBody>
      </p:sp>
      <p:sp>
        <p:nvSpPr>
          <p:cNvPr id="10" name="Text 8"/>
          <p:cNvSpPr txBox="1"/>
          <p:nvPr/>
        </p:nvSpPr>
        <p:spPr>
          <a:xfrm>
            <a:off x="548640" y="2926080"/>
            <a:ext cx="1508760" cy="411480"/>
          </a:xfrm>
          <a:prstGeom prst="rect">
            <a:avLst/>
          </a:prstGeom>
          <a:noFill/>
          <a:ln/>
        </p:spPr>
        <p:txBody>
          <a:bodyPr wrap="square" lIns="0" tIns="0" rIns="0" bIns="0" rtlCol="0" anchor="ctr"/>
          <a:lstStyle/>
          <a:p>
            <a:pPr indent="0" marL="0">
              <a:buNone/>
            </a:pPr>
            <a:r>
              <a:rPr lang="en-US" sz="1200" dirty="0">
                <a:solidFill>
                  <a:srgbClr val="1A1A17"/>
                </a:solidFill>
                <a:latin typeface="Calibri" pitchFamily="34" charset="0"/>
                <a:ea typeface="Calibri" pitchFamily="34" charset="-122"/>
                <a:cs typeface="Calibri" pitchFamily="34" charset="-120"/>
              </a:rPr>
              <a:t>Österreich</a:t>
            </a:r>
            <a:endParaRPr lang="en-US" sz="1200" dirty="0"/>
          </a:p>
        </p:txBody>
      </p:sp>
      <p:sp>
        <p:nvSpPr>
          <p:cNvPr id="11" name="Shape 9"/>
          <p:cNvSpPr/>
          <p:nvPr/>
        </p:nvSpPr>
        <p:spPr>
          <a:xfrm>
            <a:off x="3242603" y="2999232"/>
            <a:ext cx="548640" cy="274320"/>
          </a:xfrm>
          <a:prstGeom prst="rect">
            <a:avLst/>
          </a:prstGeom>
          <a:solidFill>
            <a:srgbClr val="0F5257"/>
          </a:solidFill>
          <a:ln w="12700">
            <a:solidFill>
              <a:srgbClr val="0F5257"/>
            </a:solidFill>
            <a:prstDash val="solid"/>
          </a:ln>
        </p:spPr>
      </p:sp>
      <p:sp>
        <p:nvSpPr>
          <p:cNvPr id="12" name="Text 10"/>
          <p:cNvSpPr txBox="1"/>
          <p:nvPr/>
        </p:nvSpPr>
        <p:spPr>
          <a:xfrm>
            <a:off x="3882683" y="2926080"/>
            <a:ext cx="1645920" cy="411480"/>
          </a:xfrm>
          <a:prstGeom prst="rect">
            <a:avLst/>
          </a:prstGeom>
          <a:noFill/>
          <a:ln/>
        </p:spPr>
        <p:txBody>
          <a:bodyPr wrap="square" lIns="0" tIns="0" rIns="0" bIns="0" rtlCol="0" anchor="ctr"/>
          <a:lstStyle/>
          <a:p>
            <a:pPr indent="0" marL="0">
              <a:buNone/>
            </a:pPr>
            <a:r>
              <a:rPr lang="en-US" sz="1100" b="1" dirty="0">
                <a:solidFill>
                  <a:srgbClr val="1A1A17"/>
                </a:solidFill>
                <a:latin typeface="Calibri" pitchFamily="34" charset="0"/>
                <a:ea typeface="Calibri" pitchFamily="34" charset="-122"/>
                <a:cs typeface="Calibri" pitchFamily="34" charset="-120"/>
              </a:rPr>
              <a:t>13'500–20'000</a:t>
            </a:r>
            <a:endParaRPr lang="en-US" sz="1100" dirty="0"/>
          </a:p>
        </p:txBody>
      </p:sp>
      <p:sp>
        <p:nvSpPr>
          <p:cNvPr id="13" name="Text 11"/>
          <p:cNvSpPr txBox="1"/>
          <p:nvPr/>
        </p:nvSpPr>
        <p:spPr>
          <a:xfrm>
            <a:off x="548640" y="3566160"/>
            <a:ext cx="1508760" cy="411480"/>
          </a:xfrm>
          <a:prstGeom prst="rect">
            <a:avLst/>
          </a:prstGeom>
          <a:noFill/>
          <a:ln/>
        </p:spPr>
        <p:txBody>
          <a:bodyPr wrap="square" lIns="0" tIns="0" rIns="0" bIns="0" rtlCol="0" anchor="ctr"/>
          <a:lstStyle/>
          <a:p>
            <a:pPr indent="0" marL="0">
              <a:buNone/>
            </a:pPr>
            <a:r>
              <a:rPr lang="en-US" sz="1200" dirty="0">
                <a:solidFill>
                  <a:srgbClr val="1A1A17"/>
                </a:solidFill>
                <a:latin typeface="Calibri" pitchFamily="34" charset="0"/>
                <a:ea typeface="Calibri" pitchFamily="34" charset="-122"/>
                <a:cs typeface="Calibri" pitchFamily="34" charset="-120"/>
              </a:rPr>
              <a:t>Frankreich</a:t>
            </a:r>
            <a:endParaRPr lang="en-US" sz="1200" dirty="0"/>
          </a:p>
        </p:txBody>
      </p:sp>
      <p:sp>
        <p:nvSpPr>
          <p:cNvPr id="14" name="Shape 12"/>
          <p:cNvSpPr/>
          <p:nvPr/>
        </p:nvSpPr>
        <p:spPr>
          <a:xfrm>
            <a:off x="3115994" y="3639312"/>
            <a:ext cx="675249" cy="274320"/>
          </a:xfrm>
          <a:prstGeom prst="rect">
            <a:avLst/>
          </a:prstGeom>
          <a:solidFill>
            <a:srgbClr val="0F5257"/>
          </a:solidFill>
          <a:ln w="12700">
            <a:solidFill>
              <a:srgbClr val="0F5257"/>
            </a:solidFill>
            <a:prstDash val="solid"/>
          </a:ln>
        </p:spPr>
      </p:sp>
      <p:sp>
        <p:nvSpPr>
          <p:cNvPr id="15" name="Text 13"/>
          <p:cNvSpPr txBox="1"/>
          <p:nvPr/>
        </p:nvSpPr>
        <p:spPr>
          <a:xfrm>
            <a:off x="3882683" y="3566160"/>
            <a:ext cx="1645920" cy="411480"/>
          </a:xfrm>
          <a:prstGeom prst="rect">
            <a:avLst/>
          </a:prstGeom>
          <a:noFill/>
          <a:ln/>
        </p:spPr>
        <p:txBody>
          <a:bodyPr wrap="square" lIns="0" tIns="0" rIns="0" bIns="0" rtlCol="0" anchor="ctr"/>
          <a:lstStyle/>
          <a:p>
            <a:pPr indent="0" marL="0">
              <a:buNone/>
            </a:pPr>
            <a:r>
              <a:rPr lang="en-US" sz="1100" b="1" dirty="0">
                <a:solidFill>
                  <a:srgbClr val="1A1A17"/>
                </a:solidFill>
                <a:latin typeface="Calibri" pitchFamily="34" charset="0"/>
                <a:ea typeface="Calibri" pitchFamily="34" charset="-122"/>
                <a:cs typeface="Calibri" pitchFamily="34" charset="-120"/>
              </a:rPr>
              <a:t>12'000–20'000</a:t>
            </a:r>
            <a:endParaRPr lang="en-US" sz="1100" dirty="0"/>
          </a:p>
        </p:txBody>
      </p:sp>
      <p:sp>
        <p:nvSpPr>
          <p:cNvPr id="16" name="Text 14"/>
          <p:cNvSpPr txBox="1"/>
          <p:nvPr/>
        </p:nvSpPr>
        <p:spPr>
          <a:xfrm>
            <a:off x="548640" y="4206240"/>
            <a:ext cx="1508760" cy="411480"/>
          </a:xfrm>
          <a:prstGeom prst="rect">
            <a:avLst/>
          </a:prstGeom>
          <a:noFill/>
          <a:ln/>
        </p:spPr>
        <p:txBody>
          <a:bodyPr wrap="square" lIns="0" tIns="0" rIns="0" bIns="0" rtlCol="0" anchor="ctr"/>
          <a:lstStyle/>
          <a:p>
            <a:pPr indent="0" marL="0">
              <a:buNone/>
            </a:pPr>
            <a:r>
              <a:rPr lang="en-US" sz="1200" dirty="0">
                <a:solidFill>
                  <a:srgbClr val="1A1A17"/>
                </a:solidFill>
                <a:latin typeface="Calibri" pitchFamily="34" charset="0"/>
                <a:ea typeface="Calibri" pitchFamily="34" charset="-122"/>
                <a:cs typeface="Calibri" pitchFamily="34" charset="-120"/>
              </a:rPr>
              <a:t>Großbritannien</a:t>
            </a:r>
            <a:endParaRPr lang="en-US" sz="1200" dirty="0"/>
          </a:p>
        </p:txBody>
      </p:sp>
      <p:sp>
        <p:nvSpPr>
          <p:cNvPr id="17" name="Shape 15"/>
          <p:cNvSpPr/>
          <p:nvPr/>
        </p:nvSpPr>
        <p:spPr>
          <a:xfrm>
            <a:off x="2947182" y="4279392"/>
            <a:ext cx="337625" cy="274320"/>
          </a:xfrm>
          <a:prstGeom prst="rect">
            <a:avLst/>
          </a:prstGeom>
          <a:solidFill>
            <a:srgbClr val="0F5257"/>
          </a:solidFill>
          <a:ln w="12700">
            <a:solidFill>
              <a:srgbClr val="0F5257"/>
            </a:solidFill>
            <a:prstDash val="solid"/>
          </a:ln>
        </p:spPr>
      </p:sp>
      <p:sp>
        <p:nvSpPr>
          <p:cNvPr id="18" name="Text 16"/>
          <p:cNvSpPr txBox="1"/>
          <p:nvPr/>
        </p:nvSpPr>
        <p:spPr>
          <a:xfrm>
            <a:off x="3376246" y="4206240"/>
            <a:ext cx="1645920" cy="411480"/>
          </a:xfrm>
          <a:prstGeom prst="rect">
            <a:avLst/>
          </a:prstGeom>
          <a:noFill/>
          <a:ln/>
        </p:spPr>
        <p:txBody>
          <a:bodyPr wrap="square" lIns="0" tIns="0" rIns="0" bIns="0" rtlCol="0" anchor="ctr"/>
          <a:lstStyle/>
          <a:p>
            <a:pPr indent="0" marL="0">
              <a:buNone/>
            </a:pPr>
            <a:r>
              <a:rPr lang="en-US" sz="1100" b="1" dirty="0">
                <a:solidFill>
                  <a:srgbClr val="1A1A17"/>
                </a:solidFill>
                <a:latin typeface="Calibri" pitchFamily="34" charset="0"/>
                <a:ea typeface="Calibri" pitchFamily="34" charset="-122"/>
                <a:cs typeface="Calibri" pitchFamily="34" charset="-120"/>
              </a:rPr>
              <a:t>10'000–14'000</a:t>
            </a:r>
            <a:endParaRPr lang="en-US" sz="1100" dirty="0"/>
          </a:p>
        </p:txBody>
      </p:sp>
      <p:sp>
        <p:nvSpPr>
          <p:cNvPr id="19" name="Shape 17"/>
          <p:cNvSpPr/>
          <p:nvPr/>
        </p:nvSpPr>
        <p:spPr>
          <a:xfrm>
            <a:off x="3284806" y="2194560"/>
            <a:ext cx="0" cy="2743200"/>
          </a:xfrm>
          <a:prstGeom prst="line">
            <a:avLst/>
          </a:prstGeom>
          <a:noFill/>
          <a:ln w="15875">
            <a:solidFill>
              <a:srgbClr val="9A5B12"/>
            </a:solidFill>
            <a:prstDash val="dash"/>
          </a:ln>
        </p:spPr>
      </p:sp>
      <p:sp>
        <p:nvSpPr>
          <p:cNvPr id="20" name="Text 18"/>
          <p:cNvSpPr txBox="1"/>
          <p:nvPr/>
        </p:nvSpPr>
        <p:spPr>
          <a:xfrm>
            <a:off x="3376246" y="4892040"/>
            <a:ext cx="3657600" cy="274320"/>
          </a:xfrm>
          <a:prstGeom prst="rect">
            <a:avLst/>
          </a:prstGeom>
          <a:noFill/>
          <a:ln/>
        </p:spPr>
        <p:txBody>
          <a:bodyPr wrap="square" lIns="0" tIns="0" rIns="0" bIns="0" rtlCol="0" anchor="ctr"/>
          <a:lstStyle/>
          <a:p>
            <a:pPr indent="0" marL="0">
              <a:buNone/>
            </a:pPr>
            <a:r>
              <a:rPr lang="en-US" sz="1000" b="1" dirty="0">
                <a:solidFill>
                  <a:srgbClr val="9A5B12"/>
                </a:solidFill>
                <a:latin typeface="Calibri" pitchFamily="34" charset="0"/>
                <a:ea typeface="Calibri" pitchFamily="34" charset="-122"/>
                <a:cs typeface="Calibri" pitchFamily="34" charset="-120"/>
              </a:rPr>
              <a:t>Referenz 14'000 netto · 16'660 brutto</a:t>
            </a:r>
            <a:endParaRPr lang="en-US" sz="1000" dirty="0"/>
          </a:p>
        </p:txBody>
      </p:sp>
      <p:sp>
        <p:nvSpPr>
          <p:cNvPr id="21" name="Text 19"/>
          <p:cNvSpPr txBox="1"/>
          <p:nvPr/>
        </p:nvSpPr>
        <p:spPr>
          <a:xfrm>
            <a:off x="8778240" y="1783080"/>
            <a:ext cx="283464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Nach Förderung</a:t>
            </a:r>
            <a:endParaRPr lang="en-US" sz="1200" dirty="0"/>
          </a:p>
        </p:txBody>
      </p:sp>
      <p:sp>
        <p:nvSpPr>
          <p:cNvPr id="22" name="Text 20"/>
          <p:cNvSpPr txBox="1"/>
          <p:nvPr/>
        </p:nvSpPr>
        <p:spPr>
          <a:xfrm>
            <a:off x="8778240" y="2194560"/>
            <a:ext cx="2834640" cy="640080"/>
          </a:xfrm>
          <a:prstGeom prst="rect">
            <a:avLst/>
          </a:prstGeom>
          <a:noFill/>
          <a:ln/>
        </p:spPr>
        <p:txBody>
          <a:bodyPr wrap="square" lIns="0" tIns="0" rIns="0" bIns="0" rtlCol="0" anchor="ctr"/>
          <a:lstStyle/>
          <a:p>
            <a:pPr indent="0" marL="0">
              <a:buNone/>
            </a:pPr>
            <a:r>
              <a:rPr lang="en-US" sz="3600" b="1" dirty="0">
                <a:solidFill>
                  <a:srgbClr val="0F5257"/>
                </a:solidFill>
                <a:latin typeface="Cambria" pitchFamily="34" charset="0"/>
                <a:ea typeface="Cambria" pitchFamily="34" charset="-122"/>
                <a:cs typeface="Cambria" pitchFamily="34" charset="-120"/>
              </a:rPr>
              <a:t>3'200 €</a:t>
            </a:r>
            <a:endParaRPr lang="en-US" sz="3600" dirty="0"/>
          </a:p>
        </p:txBody>
      </p:sp>
      <p:sp>
        <p:nvSpPr>
          <p:cNvPr id="23" name="Text 21"/>
          <p:cNvSpPr txBox="1"/>
          <p:nvPr/>
        </p:nvSpPr>
        <p:spPr>
          <a:xfrm>
            <a:off x="8778240" y="2834640"/>
            <a:ext cx="2834640" cy="274320"/>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britischer Haushalt</a:t>
            </a:r>
            <a:endParaRPr lang="en-US" sz="1100" dirty="0"/>
          </a:p>
        </p:txBody>
      </p:sp>
      <p:sp>
        <p:nvSpPr>
          <p:cNvPr id="24" name="Text 22"/>
          <p:cNvSpPr txBox="1"/>
          <p:nvPr/>
        </p:nvSpPr>
        <p:spPr>
          <a:xfrm>
            <a:off x="8778240" y="3383280"/>
            <a:ext cx="2834640" cy="640080"/>
          </a:xfrm>
          <a:prstGeom prst="rect">
            <a:avLst/>
          </a:prstGeom>
          <a:noFill/>
          <a:ln/>
        </p:spPr>
        <p:txBody>
          <a:bodyPr wrap="square" lIns="0" tIns="0" rIns="0" bIns="0" rtlCol="0" anchor="ctr"/>
          <a:lstStyle/>
          <a:p>
            <a:pPr indent="0" marL="0">
              <a:buNone/>
            </a:pPr>
            <a:r>
              <a:rPr lang="en-US" sz="3600" b="1" dirty="0">
                <a:solidFill>
                  <a:srgbClr val="7A2E2E"/>
                </a:solidFill>
                <a:latin typeface="Cambria" pitchFamily="34" charset="0"/>
                <a:ea typeface="Cambria" pitchFamily="34" charset="-122"/>
                <a:cs typeface="Cambria" pitchFamily="34" charset="-120"/>
              </a:rPr>
              <a:t>14'900 €</a:t>
            </a:r>
            <a:endParaRPr lang="en-US" sz="3600" dirty="0"/>
          </a:p>
        </p:txBody>
      </p:sp>
      <p:sp>
        <p:nvSpPr>
          <p:cNvPr id="25" name="Text 23"/>
          <p:cNvSpPr txBox="1"/>
          <p:nvPr/>
        </p:nvSpPr>
        <p:spPr>
          <a:xfrm>
            <a:off x="8778240" y="4023360"/>
            <a:ext cx="2834640" cy="274320"/>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deutscher Haushalt, 50 % BEG</a:t>
            </a:r>
            <a:endParaRPr lang="en-US" sz="1100" dirty="0"/>
          </a:p>
        </p:txBody>
      </p:sp>
      <p:sp>
        <p:nvSpPr>
          <p:cNvPr id="26" name="Text 24"/>
          <p:cNvSpPr txBox="1"/>
          <p:nvPr/>
        </p:nvSpPr>
        <p:spPr>
          <a:xfrm>
            <a:off x="548640" y="5669280"/>
            <a:ext cx="11064240" cy="411480"/>
          </a:xfrm>
          <a:prstGeom prst="rect">
            <a:avLst/>
          </a:prstGeom>
          <a:noFill/>
          <a:ln/>
        </p:spPr>
        <p:txBody>
          <a:bodyPr wrap="square" lIns="0" tIns="0" rIns="0" bIns="0" rtlCol="0" anchor="ctr"/>
          <a:lstStyle/>
          <a:p>
            <a:pPr indent="0" marL="0">
              <a:buNone/>
            </a:pPr>
            <a:r>
              <a:rPr lang="en-US" sz="1600" i="1" dirty="0">
                <a:solidFill>
                  <a:srgbClr val="1A1A17"/>
                </a:solidFill>
                <a:latin typeface="Cambria" pitchFamily="34" charset="0"/>
                <a:ea typeface="Cambria" pitchFamily="34" charset="-122"/>
                <a:cs typeface="Cambria" pitchFamily="34" charset="-120"/>
              </a:rPr>
              <a:t>Faktor 2 bis 2.5 vor, fast 5 nach Förderung. Kein Naturgesetz.</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 · DIAGNOSE UND REFORM</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Vier Kostentreiber, fünf Hebel, ein Systemfehler</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3</a:t>
            </a:r>
            <a:endParaRPr lang="en-US" sz="900" dirty="0"/>
          </a:p>
        </p:txBody>
      </p:sp>
      <p:sp>
        <p:nvSpPr>
          <p:cNvPr id="6" name="Text 4"/>
          <p:cNvSpPr txBox="1"/>
          <p:nvPr/>
        </p:nvSpPr>
        <p:spPr>
          <a:xfrm>
            <a:off x="548640" y="1737360"/>
            <a:ext cx="512064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Mehrkosten gegenüber UK</a:t>
            </a:r>
            <a:endParaRPr lang="en-US" sz="1200" dirty="0"/>
          </a:p>
        </p:txBody>
      </p:sp>
      <p:sp>
        <p:nvSpPr>
          <p:cNvPr id="7" name="Shape 5"/>
          <p:cNvSpPr/>
          <p:nvPr/>
        </p:nvSpPr>
        <p:spPr>
          <a:xfrm>
            <a:off x="594360" y="2121408"/>
            <a:ext cx="347472" cy="347472"/>
          </a:xfrm>
          <a:prstGeom prst="ellipse">
            <a:avLst/>
          </a:prstGeom>
          <a:solidFill>
            <a:srgbClr val="EFEBE1"/>
          </a:solidFill>
          <a:ln w="12700">
            <a:solidFill>
              <a:srgbClr val="EFEBE1"/>
            </a:solidFill>
            <a:prstDash val="solid"/>
          </a:ln>
        </p:spPr>
      </p:sp>
      <p:pic>
        <p:nvPicPr>
          <p:cNvPr id="8" name="Image 0" descr="preencoded.png">    </p:cNvPr>
          <p:cNvPicPr>
            <a:picLocks noChangeAspect="1"/>
          </p:cNvPicPr>
          <p:nvPr/>
        </p:nvPicPr>
        <p:blipFill>
          <a:blip r:embed="rId1"/>
          <a:stretch>
            <a:fillRect/>
          </a:stretch>
        </p:blipFill>
        <p:spPr>
          <a:xfrm>
            <a:off x="667512" y="2194560"/>
            <a:ext cx="201168" cy="201168"/>
          </a:xfrm>
          <a:prstGeom prst="rect">
            <a:avLst/>
          </a:prstGeom>
        </p:spPr>
      </p:pic>
      <p:sp>
        <p:nvSpPr>
          <p:cNvPr id="9" name="Text 6"/>
          <p:cNvSpPr txBox="1"/>
          <p:nvPr/>
        </p:nvSpPr>
        <p:spPr>
          <a:xfrm>
            <a:off x="1051560" y="2103120"/>
            <a:ext cx="2011680" cy="38404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Geräte &amp; Markt</a:t>
            </a:r>
            <a:endParaRPr lang="en-US" sz="1250" dirty="0"/>
          </a:p>
        </p:txBody>
      </p:sp>
      <p:sp>
        <p:nvSpPr>
          <p:cNvPr id="10" name="Text 7"/>
          <p:cNvSpPr txBox="1"/>
          <p:nvPr/>
        </p:nvSpPr>
        <p:spPr>
          <a:xfrm>
            <a:off x="3017520" y="2103120"/>
            <a:ext cx="1280160" cy="384048"/>
          </a:xfrm>
          <a:prstGeom prst="rect">
            <a:avLst/>
          </a:prstGeom>
          <a:noFill/>
          <a:ln/>
        </p:spPr>
        <p:txBody>
          <a:bodyPr wrap="square" lIns="0" tIns="0" rIns="0" bIns="0" rtlCol="0" anchor="ctr"/>
          <a:lstStyle/>
          <a:p>
            <a:pPr algn="r" indent="0" marL="0">
              <a:buNone/>
            </a:pPr>
            <a:r>
              <a:rPr lang="en-US" sz="1250" b="1" dirty="0">
                <a:solidFill>
                  <a:srgbClr val="1A1A17"/>
                </a:solidFill>
                <a:latin typeface="Calibri" pitchFamily="34" charset="0"/>
                <a:ea typeface="Calibri" pitchFamily="34" charset="-122"/>
                <a:cs typeface="Calibri" pitchFamily="34" charset="-120"/>
              </a:rPr>
              <a:t>+2'000–4'000 €</a:t>
            </a:r>
            <a:endParaRPr lang="en-US" sz="1250" dirty="0"/>
          </a:p>
        </p:txBody>
      </p:sp>
      <p:sp>
        <p:nvSpPr>
          <p:cNvPr id="11" name="Text 8"/>
          <p:cNvSpPr txBox="1"/>
          <p:nvPr/>
        </p:nvSpPr>
        <p:spPr>
          <a:xfrm>
            <a:off x="4389120" y="2103120"/>
            <a:ext cx="1371600" cy="384048"/>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Premiumgeräte</a:t>
            </a:r>
            <a:endParaRPr lang="en-US" sz="1100" dirty="0"/>
          </a:p>
        </p:txBody>
      </p:sp>
      <p:sp>
        <p:nvSpPr>
          <p:cNvPr id="12" name="Shape 9"/>
          <p:cNvSpPr/>
          <p:nvPr/>
        </p:nvSpPr>
        <p:spPr>
          <a:xfrm>
            <a:off x="594360" y="2633472"/>
            <a:ext cx="347472" cy="347472"/>
          </a:xfrm>
          <a:prstGeom prst="ellipse">
            <a:avLst/>
          </a:prstGeom>
          <a:solidFill>
            <a:srgbClr val="EFEBE1"/>
          </a:solidFill>
          <a:ln w="12700">
            <a:solidFill>
              <a:srgbClr val="EFEBE1"/>
            </a:solidFill>
            <a:prstDash val="solid"/>
          </a:ln>
        </p:spPr>
      </p:sp>
      <p:pic>
        <p:nvPicPr>
          <p:cNvPr id="13" name="Image 1" descr="preencoded.png">    </p:cNvPr>
          <p:cNvPicPr>
            <a:picLocks noChangeAspect="1"/>
          </p:cNvPicPr>
          <p:nvPr/>
        </p:nvPicPr>
        <p:blipFill>
          <a:blip r:embed="rId2"/>
          <a:stretch>
            <a:fillRect/>
          </a:stretch>
        </p:blipFill>
        <p:spPr>
          <a:xfrm>
            <a:off x="667512" y="2706624"/>
            <a:ext cx="201168" cy="201168"/>
          </a:xfrm>
          <a:prstGeom prst="rect">
            <a:avLst/>
          </a:prstGeom>
        </p:spPr>
      </p:pic>
      <p:sp>
        <p:nvSpPr>
          <p:cNvPr id="14" name="Text 10"/>
          <p:cNvSpPr txBox="1"/>
          <p:nvPr/>
        </p:nvSpPr>
        <p:spPr>
          <a:xfrm>
            <a:off x="1051560" y="2615184"/>
            <a:ext cx="2011680" cy="38404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Fundament</a:t>
            </a:r>
            <a:endParaRPr lang="en-US" sz="1250" dirty="0"/>
          </a:p>
        </p:txBody>
      </p:sp>
      <p:sp>
        <p:nvSpPr>
          <p:cNvPr id="15" name="Text 11"/>
          <p:cNvSpPr txBox="1"/>
          <p:nvPr/>
        </p:nvSpPr>
        <p:spPr>
          <a:xfrm>
            <a:off x="3017520" y="2615184"/>
            <a:ext cx="1280160" cy="384048"/>
          </a:xfrm>
          <a:prstGeom prst="rect">
            <a:avLst/>
          </a:prstGeom>
          <a:noFill/>
          <a:ln/>
        </p:spPr>
        <p:txBody>
          <a:bodyPr wrap="square" lIns="0" tIns="0" rIns="0" bIns="0" rtlCol="0" anchor="ctr"/>
          <a:lstStyle/>
          <a:p>
            <a:pPr algn="r" indent="0" marL="0">
              <a:buNone/>
            </a:pPr>
            <a:r>
              <a:rPr lang="en-US" sz="1250" b="1" dirty="0">
                <a:solidFill>
                  <a:srgbClr val="1A1A17"/>
                </a:solidFill>
                <a:latin typeface="Calibri" pitchFamily="34" charset="0"/>
                <a:ea typeface="Calibri" pitchFamily="34" charset="-122"/>
                <a:cs typeface="Calibri" pitchFamily="34" charset="-120"/>
              </a:rPr>
              <a:t>+1'000–2'200 €</a:t>
            </a:r>
            <a:endParaRPr lang="en-US" sz="1250" dirty="0"/>
          </a:p>
        </p:txBody>
      </p:sp>
      <p:sp>
        <p:nvSpPr>
          <p:cNvPr id="16" name="Text 12"/>
          <p:cNvSpPr txBox="1"/>
          <p:nvPr/>
        </p:nvSpPr>
        <p:spPr>
          <a:xfrm>
            <a:off x="4389120" y="2615184"/>
            <a:ext cx="1371600" cy="384048"/>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Normenwesen</a:t>
            </a:r>
            <a:endParaRPr lang="en-US" sz="1100" dirty="0"/>
          </a:p>
        </p:txBody>
      </p:sp>
      <p:sp>
        <p:nvSpPr>
          <p:cNvPr id="17" name="Shape 13"/>
          <p:cNvSpPr/>
          <p:nvPr/>
        </p:nvSpPr>
        <p:spPr>
          <a:xfrm>
            <a:off x="594360" y="3145536"/>
            <a:ext cx="347472" cy="347472"/>
          </a:xfrm>
          <a:prstGeom prst="ellipse">
            <a:avLst/>
          </a:prstGeom>
          <a:solidFill>
            <a:srgbClr val="EFEBE1"/>
          </a:solidFill>
          <a:ln w="12700">
            <a:solidFill>
              <a:srgbClr val="EFEBE1"/>
            </a:solidFill>
            <a:prstDash val="solid"/>
          </a:ln>
        </p:spPr>
      </p:sp>
      <p:pic>
        <p:nvPicPr>
          <p:cNvPr id="18" name="Image 2" descr="preencoded.png">    </p:cNvPr>
          <p:cNvPicPr>
            <a:picLocks noChangeAspect="1"/>
          </p:cNvPicPr>
          <p:nvPr/>
        </p:nvPicPr>
        <p:blipFill>
          <a:blip r:embed="rId3"/>
          <a:stretch>
            <a:fillRect/>
          </a:stretch>
        </p:blipFill>
        <p:spPr>
          <a:xfrm>
            <a:off x="667512" y="3218688"/>
            <a:ext cx="201168" cy="201168"/>
          </a:xfrm>
          <a:prstGeom prst="rect">
            <a:avLst/>
          </a:prstGeom>
        </p:spPr>
      </p:pic>
      <p:sp>
        <p:nvSpPr>
          <p:cNvPr id="19" name="Text 14"/>
          <p:cNvSpPr txBox="1"/>
          <p:nvPr/>
        </p:nvSpPr>
        <p:spPr>
          <a:xfrm>
            <a:off x="1051560" y="3127248"/>
            <a:ext cx="2011680" cy="38404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Elektroanschluss</a:t>
            </a:r>
            <a:endParaRPr lang="en-US" sz="1250" dirty="0"/>
          </a:p>
        </p:txBody>
      </p:sp>
      <p:sp>
        <p:nvSpPr>
          <p:cNvPr id="20" name="Text 15"/>
          <p:cNvSpPr txBox="1"/>
          <p:nvPr/>
        </p:nvSpPr>
        <p:spPr>
          <a:xfrm>
            <a:off x="3017520" y="3127248"/>
            <a:ext cx="1280160" cy="384048"/>
          </a:xfrm>
          <a:prstGeom prst="rect">
            <a:avLst/>
          </a:prstGeom>
          <a:noFill/>
          <a:ln/>
        </p:spPr>
        <p:txBody>
          <a:bodyPr wrap="square" lIns="0" tIns="0" rIns="0" bIns="0" rtlCol="0" anchor="ctr"/>
          <a:lstStyle/>
          <a:p>
            <a:pPr algn="r" indent="0" marL="0">
              <a:buNone/>
            </a:pPr>
            <a:r>
              <a:rPr lang="en-US" sz="1250" b="1" dirty="0">
                <a:solidFill>
                  <a:srgbClr val="1A1A17"/>
                </a:solidFill>
                <a:latin typeface="Calibri" pitchFamily="34" charset="0"/>
                <a:ea typeface="Calibri" pitchFamily="34" charset="-122"/>
                <a:cs typeface="Calibri" pitchFamily="34" charset="-120"/>
              </a:rPr>
              <a:t>+1'500–2'500 €</a:t>
            </a:r>
            <a:endParaRPr lang="en-US" sz="1250" dirty="0"/>
          </a:p>
        </p:txBody>
      </p:sp>
      <p:sp>
        <p:nvSpPr>
          <p:cNvPr id="21" name="Text 16"/>
          <p:cNvSpPr txBox="1"/>
          <p:nvPr/>
        </p:nvSpPr>
        <p:spPr>
          <a:xfrm>
            <a:off x="4389120" y="3127248"/>
            <a:ext cx="1371600" cy="384048"/>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Heizstab, § 14a</a:t>
            </a:r>
            <a:endParaRPr lang="en-US" sz="1100" dirty="0"/>
          </a:p>
        </p:txBody>
      </p:sp>
      <p:sp>
        <p:nvSpPr>
          <p:cNvPr id="22" name="Shape 17"/>
          <p:cNvSpPr/>
          <p:nvPr/>
        </p:nvSpPr>
        <p:spPr>
          <a:xfrm>
            <a:off x="594360" y="3657600"/>
            <a:ext cx="347472" cy="347472"/>
          </a:xfrm>
          <a:prstGeom prst="ellipse">
            <a:avLst/>
          </a:prstGeom>
          <a:solidFill>
            <a:srgbClr val="EFEBE1"/>
          </a:solidFill>
          <a:ln w="12700">
            <a:solidFill>
              <a:srgbClr val="EFEBE1"/>
            </a:solidFill>
            <a:prstDash val="solid"/>
          </a:ln>
        </p:spPr>
      </p:sp>
      <p:pic>
        <p:nvPicPr>
          <p:cNvPr id="23" name="Image 3" descr="preencoded.png">    </p:cNvPr>
          <p:cNvPicPr>
            <a:picLocks noChangeAspect="1"/>
          </p:cNvPicPr>
          <p:nvPr/>
        </p:nvPicPr>
        <p:blipFill>
          <a:blip r:embed="rId4"/>
          <a:stretch>
            <a:fillRect/>
          </a:stretch>
        </p:blipFill>
        <p:spPr>
          <a:xfrm>
            <a:off x="667512" y="3730752"/>
            <a:ext cx="201168" cy="201168"/>
          </a:xfrm>
          <a:prstGeom prst="rect">
            <a:avLst/>
          </a:prstGeom>
        </p:spPr>
      </p:pic>
      <p:sp>
        <p:nvSpPr>
          <p:cNvPr id="24" name="Text 18"/>
          <p:cNvSpPr txBox="1"/>
          <p:nvPr/>
        </p:nvSpPr>
        <p:spPr>
          <a:xfrm>
            <a:off x="1051560" y="3639312"/>
            <a:ext cx="2011680" cy="38404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Arbeitszeit</a:t>
            </a:r>
            <a:endParaRPr lang="en-US" sz="1250" dirty="0"/>
          </a:p>
        </p:txBody>
      </p:sp>
      <p:sp>
        <p:nvSpPr>
          <p:cNvPr id="25" name="Text 19"/>
          <p:cNvSpPr txBox="1"/>
          <p:nvPr/>
        </p:nvSpPr>
        <p:spPr>
          <a:xfrm>
            <a:off x="3017520" y="3639312"/>
            <a:ext cx="1280160" cy="384048"/>
          </a:xfrm>
          <a:prstGeom prst="rect">
            <a:avLst/>
          </a:prstGeom>
          <a:noFill/>
          <a:ln/>
        </p:spPr>
        <p:txBody>
          <a:bodyPr wrap="square" lIns="0" tIns="0" rIns="0" bIns="0" rtlCol="0" anchor="ctr"/>
          <a:lstStyle/>
          <a:p>
            <a:pPr algn="r" indent="0" marL="0">
              <a:buNone/>
            </a:pPr>
            <a:r>
              <a:rPr lang="en-US" sz="1250" b="1" dirty="0">
                <a:solidFill>
                  <a:srgbClr val="1A1A17"/>
                </a:solidFill>
                <a:latin typeface="Calibri" pitchFamily="34" charset="0"/>
                <a:ea typeface="Calibri" pitchFamily="34" charset="-122"/>
                <a:cs typeface="Calibri" pitchFamily="34" charset="-120"/>
              </a:rPr>
              <a:t>+1'000–2'000 €</a:t>
            </a:r>
            <a:endParaRPr lang="en-US" sz="1250" dirty="0"/>
          </a:p>
        </p:txBody>
      </p:sp>
      <p:sp>
        <p:nvSpPr>
          <p:cNvPr id="26" name="Text 20"/>
          <p:cNvSpPr txBox="1"/>
          <p:nvPr/>
        </p:nvSpPr>
        <p:spPr>
          <a:xfrm>
            <a:off x="4389120" y="3639312"/>
            <a:ext cx="1371600" cy="384048"/>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110 h statt 40 h</a:t>
            </a:r>
            <a:endParaRPr lang="en-US" sz="1100" dirty="0"/>
          </a:p>
        </p:txBody>
      </p:sp>
      <p:sp>
        <p:nvSpPr>
          <p:cNvPr id="27" name="Shape 21"/>
          <p:cNvSpPr/>
          <p:nvPr/>
        </p:nvSpPr>
        <p:spPr>
          <a:xfrm>
            <a:off x="457200" y="4114800"/>
            <a:ext cx="5303520" cy="457200"/>
          </a:xfrm>
          <a:prstGeom prst="roundRect">
            <a:avLst>
              <a:gd name="adj" fmla="val 12000"/>
            </a:avLst>
          </a:prstGeom>
          <a:solidFill>
            <a:srgbClr val="F5E4E0"/>
          </a:solidFill>
          <a:ln w="12700">
            <a:solidFill>
              <a:srgbClr val="7A2E2E"/>
            </a:solidFill>
            <a:prstDash val="solid"/>
          </a:ln>
        </p:spPr>
      </p:sp>
      <p:sp>
        <p:nvSpPr>
          <p:cNvPr id="28" name="Shape 22"/>
          <p:cNvSpPr/>
          <p:nvPr/>
        </p:nvSpPr>
        <p:spPr>
          <a:xfrm>
            <a:off x="594360" y="4169664"/>
            <a:ext cx="347472" cy="347472"/>
          </a:xfrm>
          <a:prstGeom prst="ellipse">
            <a:avLst/>
          </a:prstGeom>
          <a:solidFill>
            <a:srgbClr val="7A2E2E"/>
          </a:solidFill>
          <a:ln w="12700">
            <a:solidFill>
              <a:srgbClr val="7A2E2E"/>
            </a:solidFill>
            <a:prstDash val="solid"/>
          </a:ln>
        </p:spPr>
      </p:sp>
      <p:pic>
        <p:nvPicPr>
          <p:cNvPr id="29" name="Image 4" descr="preencoded.png">    </p:cNvPr>
          <p:cNvPicPr>
            <a:picLocks noChangeAspect="1"/>
          </p:cNvPicPr>
          <p:nvPr/>
        </p:nvPicPr>
        <p:blipFill>
          <a:blip r:embed="rId5"/>
          <a:stretch>
            <a:fillRect/>
          </a:stretch>
        </p:blipFill>
        <p:spPr>
          <a:xfrm>
            <a:off x="667512" y="4242816"/>
            <a:ext cx="201168" cy="201168"/>
          </a:xfrm>
          <a:prstGeom prst="rect">
            <a:avLst/>
          </a:prstGeom>
        </p:spPr>
      </p:pic>
      <p:sp>
        <p:nvSpPr>
          <p:cNvPr id="30" name="Text 23"/>
          <p:cNvSpPr txBox="1"/>
          <p:nvPr/>
        </p:nvSpPr>
        <p:spPr>
          <a:xfrm>
            <a:off x="1051560" y="4151376"/>
            <a:ext cx="2011680" cy="384048"/>
          </a:xfrm>
          <a:prstGeom prst="rect">
            <a:avLst/>
          </a:prstGeom>
          <a:noFill/>
          <a:ln/>
        </p:spPr>
        <p:txBody>
          <a:bodyPr wrap="square" lIns="0" tIns="0" rIns="0" bIns="0" rtlCol="0" anchor="ctr"/>
          <a:lstStyle/>
          <a:p>
            <a:pPr indent="0" marL="0">
              <a:buNone/>
            </a:pPr>
            <a:r>
              <a:rPr lang="en-US" sz="1250" b="1" dirty="0">
                <a:solidFill>
                  <a:srgbClr val="7A2E2E"/>
                </a:solidFill>
                <a:latin typeface="Calibri" pitchFamily="34" charset="0"/>
                <a:ea typeface="Calibri" pitchFamily="34" charset="-122"/>
                <a:cs typeface="Calibri" pitchFamily="34" charset="-120"/>
              </a:rPr>
              <a:t>Prozentuale Förderung</a:t>
            </a:r>
            <a:endParaRPr lang="en-US" sz="1250" dirty="0"/>
          </a:p>
        </p:txBody>
      </p:sp>
      <p:sp>
        <p:nvSpPr>
          <p:cNvPr id="31" name="Text 24"/>
          <p:cNvSpPr txBox="1"/>
          <p:nvPr/>
        </p:nvSpPr>
        <p:spPr>
          <a:xfrm>
            <a:off x="3017520" y="4151376"/>
            <a:ext cx="1280160" cy="384048"/>
          </a:xfrm>
          <a:prstGeom prst="rect">
            <a:avLst/>
          </a:prstGeom>
          <a:noFill/>
          <a:ln/>
        </p:spPr>
        <p:txBody>
          <a:bodyPr wrap="square" lIns="0" tIns="0" rIns="0" bIns="0" rtlCol="0" anchor="ctr"/>
          <a:lstStyle/>
          <a:p>
            <a:pPr algn="r" indent="0" marL="0">
              <a:buNone/>
            </a:pPr>
            <a:r>
              <a:rPr lang="en-US" sz="1250" b="1" dirty="0">
                <a:solidFill>
                  <a:srgbClr val="7A2E2E"/>
                </a:solidFill>
                <a:latin typeface="Calibri" pitchFamily="34" charset="0"/>
                <a:ea typeface="Calibri" pitchFamily="34" charset="-122"/>
                <a:cs typeface="Calibri" pitchFamily="34" charset="-120"/>
              </a:rPr>
              <a:t>× alles</a:t>
            </a:r>
            <a:endParaRPr lang="en-US" sz="1250" dirty="0"/>
          </a:p>
        </p:txBody>
      </p:sp>
      <p:sp>
        <p:nvSpPr>
          <p:cNvPr id="32" name="Text 25"/>
          <p:cNvSpPr txBox="1"/>
          <p:nvPr/>
        </p:nvSpPr>
        <p:spPr>
          <a:xfrm>
            <a:off x="4389120" y="4151376"/>
            <a:ext cx="1371600" cy="384048"/>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Moral Hazard</a:t>
            </a:r>
            <a:endParaRPr lang="en-US" sz="1100" dirty="0"/>
          </a:p>
        </p:txBody>
      </p:sp>
      <p:sp>
        <p:nvSpPr>
          <p:cNvPr id="33" name="Shape 26"/>
          <p:cNvSpPr/>
          <p:nvPr/>
        </p:nvSpPr>
        <p:spPr>
          <a:xfrm>
            <a:off x="594360" y="4681728"/>
            <a:ext cx="347472" cy="347472"/>
          </a:xfrm>
          <a:prstGeom prst="ellipse">
            <a:avLst/>
          </a:prstGeom>
          <a:solidFill>
            <a:srgbClr val="EFEBE1"/>
          </a:solidFill>
          <a:ln w="12700">
            <a:solidFill>
              <a:srgbClr val="EFEBE1"/>
            </a:solidFill>
            <a:prstDash val="solid"/>
          </a:ln>
        </p:spPr>
      </p:sp>
      <p:pic>
        <p:nvPicPr>
          <p:cNvPr id="34" name="Image 5" descr="preencoded.png">    </p:cNvPr>
          <p:cNvPicPr>
            <a:picLocks noChangeAspect="1"/>
          </p:cNvPicPr>
          <p:nvPr/>
        </p:nvPicPr>
        <p:blipFill>
          <a:blip r:embed="rId6"/>
          <a:stretch>
            <a:fillRect/>
          </a:stretch>
        </p:blipFill>
        <p:spPr>
          <a:xfrm>
            <a:off x="667512" y="4754880"/>
            <a:ext cx="201168" cy="201168"/>
          </a:xfrm>
          <a:prstGeom prst="rect">
            <a:avLst/>
          </a:prstGeom>
        </p:spPr>
      </p:pic>
      <p:sp>
        <p:nvSpPr>
          <p:cNvPr id="35" name="Text 27"/>
          <p:cNvSpPr txBox="1"/>
          <p:nvPr/>
        </p:nvSpPr>
        <p:spPr>
          <a:xfrm>
            <a:off x="1051560" y="4663440"/>
            <a:ext cx="2011680" cy="384048"/>
          </a:xfrm>
          <a:prstGeom prst="rect">
            <a:avLst/>
          </a:prstGeom>
          <a:noFill/>
          <a:ln/>
        </p:spPr>
        <p:txBody>
          <a:bodyPr wrap="square" lIns="0" tIns="0" rIns="0" bIns="0" rtlCol="0" anchor="ctr"/>
          <a:lstStyle/>
          <a:p>
            <a:pPr indent="0" marL="0">
              <a:buNone/>
            </a:pPr>
            <a:r>
              <a:rPr lang="en-US" sz="1250" b="1" dirty="0">
                <a:solidFill>
                  <a:srgbClr val="1A1A17"/>
                </a:solidFill>
                <a:latin typeface="Calibri" pitchFamily="34" charset="0"/>
                <a:ea typeface="Calibri" pitchFamily="34" charset="-122"/>
                <a:cs typeface="Calibri" pitchFamily="34" charset="-120"/>
              </a:rPr>
              <a:t>Mehrwertsteuer</a:t>
            </a:r>
            <a:endParaRPr lang="en-US" sz="1250" dirty="0"/>
          </a:p>
        </p:txBody>
      </p:sp>
      <p:sp>
        <p:nvSpPr>
          <p:cNvPr id="36" name="Text 28"/>
          <p:cNvSpPr txBox="1"/>
          <p:nvPr/>
        </p:nvSpPr>
        <p:spPr>
          <a:xfrm>
            <a:off x="3017520" y="4663440"/>
            <a:ext cx="1280160" cy="384048"/>
          </a:xfrm>
          <a:prstGeom prst="rect">
            <a:avLst/>
          </a:prstGeom>
          <a:noFill/>
          <a:ln/>
        </p:spPr>
        <p:txBody>
          <a:bodyPr wrap="square" lIns="0" tIns="0" rIns="0" bIns="0" rtlCol="0" anchor="ctr"/>
          <a:lstStyle/>
          <a:p>
            <a:pPr algn="r" indent="0" marL="0">
              <a:buNone/>
            </a:pPr>
            <a:r>
              <a:rPr lang="en-US" sz="1250" b="1" dirty="0">
                <a:solidFill>
                  <a:srgbClr val="1A1A17"/>
                </a:solidFill>
                <a:latin typeface="Calibri" pitchFamily="34" charset="0"/>
                <a:ea typeface="Calibri" pitchFamily="34" charset="-122"/>
                <a:cs typeface="Calibri" pitchFamily="34" charset="-120"/>
              </a:rPr>
              <a:t>+5'700 €</a:t>
            </a:r>
            <a:endParaRPr lang="en-US" sz="1250" dirty="0"/>
          </a:p>
        </p:txBody>
      </p:sp>
      <p:sp>
        <p:nvSpPr>
          <p:cNvPr id="37" name="Text 29"/>
          <p:cNvSpPr txBox="1"/>
          <p:nvPr/>
        </p:nvSpPr>
        <p:spPr>
          <a:xfrm>
            <a:off x="4389120" y="4663440"/>
            <a:ext cx="1371600" cy="384048"/>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UK: 0 %</a:t>
            </a:r>
            <a:endParaRPr lang="en-US" sz="1100" dirty="0"/>
          </a:p>
        </p:txBody>
      </p:sp>
      <p:sp>
        <p:nvSpPr>
          <p:cNvPr id="38" name="Text 30"/>
          <p:cNvSpPr txBox="1"/>
          <p:nvPr/>
        </p:nvSpPr>
        <p:spPr>
          <a:xfrm>
            <a:off x="6309360" y="1737360"/>
            <a:ext cx="530352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Fünf Reformhebel</a:t>
            </a:r>
            <a:endParaRPr lang="en-US" sz="1200" dirty="0"/>
          </a:p>
        </p:txBody>
      </p:sp>
      <p:sp>
        <p:nvSpPr>
          <p:cNvPr id="39" name="Shape 31"/>
          <p:cNvSpPr/>
          <p:nvPr/>
        </p:nvSpPr>
        <p:spPr>
          <a:xfrm>
            <a:off x="6172200" y="2029968"/>
            <a:ext cx="5486400" cy="1097280"/>
          </a:xfrm>
          <a:prstGeom prst="roundRect">
            <a:avLst>
              <a:gd name="adj" fmla="val 5000"/>
            </a:avLst>
          </a:prstGeom>
          <a:solidFill>
            <a:srgbClr val="F4EBD3"/>
          </a:solidFill>
          <a:ln w="12700">
            <a:solidFill>
              <a:srgbClr val="F4EBD3"/>
            </a:solidFill>
            <a:prstDash val="solid"/>
          </a:ln>
        </p:spPr>
      </p:sp>
      <p:sp>
        <p:nvSpPr>
          <p:cNvPr id="40" name="Shape 32"/>
          <p:cNvSpPr/>
          <p:nvPr/>
        </p:nvSpPr>
        <p:spPr>
          <a:xfrm>
            <a:off x="6108192" y="2029968"/>
            <a:ext cx="54864" cy="1097280"/>
          </a:xfrm>
          <a:prstGeom prst="rect">
            <a:avLst/>
          </a:prstGeom>
          <a:solidFill>
            <a:srgbClr val="9A5B12"/>
          </a:solidFill>
          <a:ln w="12700">
            <a:solidFill>
              <a:srgbClr val="9A5B12"/>
            </a:solidFill>
            <a:prstDash val="solid"/>
          </a:ln>
        </p:spPr>
      </p:sp>
      <p:sp>
        <p:nvSpPr>
          <p:cNvPr id="41" name="Text 33"/>
          <p:cNvSpPr txBox="1"/>
          <p:nvPr/>
        </p:nvSpPr>
        <p:spPr>
          <a:xfrm>
            <a:off x="9966960" y="2057400"/>
            <a:ext cx="1645920" cy="201168"/>
          </a:xfrm>
          <a:prstGeom prst="rect">
            <a:avLst/>
          </a:prstGeom>
          <a:noFill/>
          <a:ln/>
        </p:spPr>
        <p:txBody>
          <a:bodyPr wrap="square" lIns="0" tIns="0" rIns="0" bIns="0" rtlCol="0" anchor="ctr"/>
          <a:lstStyle/>
          <a:p>
            <a:pPr algn="r" indent="0" marL="0">
              <a:buNone/>
            </a:pPr>
            <a:r>
              <a:rPr lang="en-US" sz="900" b="1" dirty="0">
                <a:solidFill>
                  <a:srgbClr val="9A5B12"/>
                </a:solidFill>
                <a:latin typeface="Calibri" pitchFamily="34" charset="0"/>
                <a:ea typeface="Calibri" pitchFamily="34" charset="-122"/>
                <a:cs typeface="Calibri" pitchFamily="34" charset="-120"/>
              </a:rPr>
              <a:t>gleichzeitig drehen</a:t>
            </a:r>
            <a:endParaRPr lang="en-US" sz="900" dirty="0"/>
          </a:p>
        </p:txBody>
      </p:sp>
      <p:sp>
        <p:nvSpPr>
          <p:cNvPr id="42" name="Text 34"/>
          <p:cNvSpPr txBox="1"/>
          <p:nvPr/>
        </p:nvSpPr>
        <p:spPr>
          <a:xfrm>
            <a:off x="6309360" y="2103120"/>
            <a:ext cx="320040" cy="384048"/>
          </a:xfrm>
          <a:prstGeom prst="rect">
            <a:avLst/>
          </a:prstGeom>
          <a:noFill/>
          <a:ln/>
        </p:spPr>
        <p:txBody>
          <a:bodyPr wrap="square" lIns="0" tIns="0" rIns="0" bIns="0" rtlCol="0" anchor="ctr"/>
          <a:lstStyle/>
          <a:p>
            <a:pPr indent="0" marL="0">
              <a:buNone/>
            </a:pPr>
            <a:r>
              <a:rPr lang="en-US" sz="1800" b="1" dirty="0">
                <a:solidFill>
                  <a:srgbClr val="0F5257"/>
                </a:solidFill>
                <a:latin typeface="Cambria" pitchFamily="34" charset="0"/>
                <a:ea typeface="Cambria" pitchFamily="34" charset="-122"/>
                <a:cs typeface="Cambria" pitchFamily="34" charset="-120"/>
              </a:rPr>
              <a:t>1</a:t>
            </a:r>
            <a:endParaRPr lang="en-US" sz="1800" dirty="0"/>
          </a:p>
        </p:txBody>
      </p:sp>
      <p:sp>
        <p:nvSpPr>
          <p:cNvPr id="43" name="Text 35"/>
          <p:cNvSpPr txBox="1"/>
          <p:nvPr/>
        </p:nvSpPr>
        <p:spPr>
          <a:xfrm>
            <a:off x="6675120" y="2103120"/>
            <a:ext cx="4754880" cy="384048"/>
          </a:xfrm>
          <a:prstGeom prst="rect">
            <a:avLst/>
          </a:prstGeom>
          <a:noFill/>
          <a:ln/>
        </p:spPr>
        <p:txBody>
          <a:bodyPr wrap="square" lIns="0" tIns="0" rIns="0" bIns="0" rtlCol="0" anchor="ctr"/>
          <a:lstStyle/>
          <a:p>
            <a:pPr indent="0" marL="0">
              <a:buNone/>
            </a:pPr>
            <a:r>
              <a:rPr lang="en-US" sz="1400" b="1" dirty="0">
                <a:solidFill>
                  <a:srgbClr val="1A1A17"/>
                </a:solidFill>
                <a:latin typeface="Calibri" pitchFamily="34" charset="0"/>
                <a:ea typeface="Calibri" pitchFamily="34" charset="-122"/>
                <a:cs typeface="Calibri" pitchFamily="34" charset="-120"/>
              </a:rPr>
              <a:t>Festbetrag statt Prozent-Förderung   </a:t>
            </a:r>
            <a:pPr indent="0" marL="0">
              <a:buNone/>
            </a:pPr>
            <a:r>
              <a:rPr lang="en-US" sz="1000" dirty="0">
                <a:solidFill>
                  <a:srgbClr val="9A5B12"/>
                </a:solidFill>
                <a:latin typeface="Calibri" pitchFamily="34" charset="0"/>
                <a:ea typeface="Calibri" pitchFamily="34" charset="-122"/>
                <a:cs typeface="Calibri" pitchFamily="34" charset="-120"/>
              </a:rPr>
              <a:t>★★★</a:t>
            </a:r>
            <a:endParaRPr lang="en-US" sz="1400" dirty="0"/>
          </a:p>
        </p:txBody>
      </p:sp>
      <p:sp>
        <p:nvSpPr>
          <p:cNvPr id="44" name="Text 36"/>
          <p:cNvSpPr txBox="1"/>
          <p:nvPr/>
        </p:nvSpPr>
        <p:spPr>
          <a:xfrm>
            <a:off x="6309360" y="2651760"/>
            <a:ext cx="320040" cy="384048"/>
          </a:xfrm>
          <a:prstGeom prst="rect">
            <a:avLst/>
          </a:prstGeom>
          <a:noFill/>
          <a:ln/>
        </p:spPr>
        <p:txBody>
          <a:bodyPr wrap="square" lIns="0" tIns="0" rIns="0" bIns="0" rtlCol="0" anchor="ctr"/>
          <a:lstStyle/>
          <a:p>
            <a:pPr indent="0" marL="0">
              <a:buNone/>
            </a:pPr>
            <a:r>
              <a:rPr lang="en-US" sz="1800" b="1" dirty="0">
                <a:solidFill>
                  <a:srgbClr val="0F5257"/>
                </a:solidFill>
                <a:latin typeface="Cambria" pitchFamily="34" charset="0"/>
                <a:ea typeface="Cambria" pitchFamily="34" charset="-122"/>
                <a:cs typeface="Cambria" pitchFamily="34" charset="-120"/>
              </a:rPr>
              <a:t>2</a:t>
            </a:r>
            <a:endParaRPr lang="en-US" sz="1800" dirty="0"/>
          </a:p>
        </p:txBody>
      </p:sp>
      <p:sp>
        <p:nvSpPr>
          <p:cNvPr id="45" name="Text 37"/>
          <p:cNvSpPr txBox="1"/>
          <p:nvPr/>
        </p:nvSpPr>
        <p:spPr>
          <a:xfrm>
            <a:off x="6675120" y="2651760"/>
            <a:ext cx="4754880" cy="384048"/>
          </a:xfrm>
          <a:prstGeom prst="rect">
            <a:avLst/>
          </a:prstGeom>
          <a:noFill/>
          <a:ln/>
        </p:spPr>
        <p:txBody>
          <a:bodyPr wrap="square" lIns="0" tIns="0" rIns="0" bIns="0" rtlCol="0" anchor="ctr"/>
          <a:lstStyle/>
          <a:p>
            <a:pPr indent="0" marL="0">
              <a:buNone/>
            </a:pPr>
            <a:r>
              <a:rPr lang="en-US" sz="1400" b="1" dirty="0">
                <a:solidFill>
                  <a:srgbClr val="1A1A17"/>
                </a:solidFill>
                <a:latin typeface="Calibri" pitchFamily="34" charset="0"/>
                <a:ea typeface="Calibri" pitchFamily="34" charset="-122"/>
                <a:cs typeface="Calibri" pitchFamily="34" charset="-120"/>
              </a:rPr>
              <a:t>Safe Harbour: Normen entkoppeln   </a:t>
            </a:r>
            <a:pPr indent="0" marL="0">
              <a:buNone/>
            </a:pPr>
            <a:r>
              <a:rPr lang="en-US" sz="1000" dirty="0">
                <a:solidFill>
                  <a:srgbClr val="9A5B12"/>
                </a:solidFill>
                <a:latin typeface="Calibri" pitchFamily="34" charset="0"/>
                <a:ea typeface="Calibri" pitchFamily="34" charset="-122"/>
                <a:cs typeface="Calibri" pitchFamily="34" charset="-120"/>
              </a:rPr>
              <a:t>★★★</a:t>
            </a:r>
            <a:endParaRPr lang="en-US" sz="1400" dirty="0"/>
          </a:p>
        </p:txBody>
      </p:sp>
      <p:sp>
        <p:nvSpPr>
          <p:cNvPr id="46" name="Text 38"/>
          <p:cNvSpPr txBox="1"/>
          <p:nvPr/>
        </p:nvSpPr>
        <p:spPr>
          <a:xfrm>
            <a:off x="6309360" y="3200400"/>
            <a:ext cx="320040" cy="384048"/>
          </a:xfrm>
          <a:prstGeom prst="rect">
            <a:avLst/>
          </a:prstGeom>
          <a:noFill/>
          <a:ln/>
        </p:spPr>
        <p:txBody>
          <a:bodyPr wrap="square" lIns="0" tIns="0" rIns="0" bIns="0" rtlCol="0" anchor="ctr"/>
          <a:lstStyle/>
          <a:p>
            <a:pPr indent="0" marL="0">
              <a:buNone/>
            </a:pPr>
            <a:r>
              <a:rPr lang="en-US" sz="1800" b="1" dirty="0">
                <a:solidFill>
                  <a:srgbClr val="0F5257"/>
                </a:solidFill>
                <a:latin typeface="Cambria" pitchFamily="34" charset="0"/>
                <a:ea typeface="Cambria" pitchFamily="34" charset="-122"/>
                <a:cs typeface="Cambria" pitchFamily="34" charset="-120"/>
              </a:rPr>
              <a:t>3</a:t>
            </a:r>
            <a:endParaRPr lang="en-US" sz="1800" dirty="0"/>
          </a:p>
        </p:txBody>
      </p:sp>
      <p:sp>
        <p:nvSpPr>
          <p:cNvPr id="47" name="Text 39"/>
          <p:cNvSpPr txBox="1"/>
          <p:nvPr/>
        </p:nvSpPr>
        <p:spPr>
          <a:xfrm>
            <a:off x="6675120" y="3200400"/>
            <a:ext cx="4754880" cy="384048"/>
          </a:xfrm>
          <a:prstGeom prst="rect">
            <a:avLst/>
          </a:prstGeom>
          <a:noFill/>
          <a:ln/>
        </p:spPr>
        <p:txBody>
          <a:bodyPr wrap="square" lIns="0" tIns="0" rIns="0" bIns="0" rtlCol="0" anchor="ctr"/>
          <a:lstStyle/>
          <a:p>
            <a:pPr indent="0" marL="0">
              <a:buNone/>
            </a:pPr>
            <a:r>
              <a:rPr lang="en-US" sz="1400" b="1" dirty="0">
                <a:solidFill>
                  <a:srgbClr val="1A1A17"/>
                </a:solidFill>
                <a:latin typeface="Calibri" pitchFamily="34" charset="0"/>
                <a:ea typeface="Calibri" pitchFamily="34" charset="-122"/>
                <a:cs typeface="Calibri" pitchFamily="34" charset="-120"/>
              </a:rPr>
              <a:t>Heizstab ≤ 3 kW als Standard   </a:t>
            </a:r>
            <a:pPr indent="0" marL="0">
              <a:buNone/>
            </a:pPr>
            <a:r>
              <a:rPr lang="en-US" sz="1000" dirty="0">
                <a:solidFill>
                  <a:srgbClr val="9A5B12"/>
                </a:solidFill>
                <a:latin typeface="Calibri" pitchFamily="34" charset="0"/>
                <a:ea typeface="Calibri" pitchFamily="34" charset="-122"/>
                <a:cs typeface="Calibri" pitchFamily="34" charset="-120"/>
              </a:rPr>
              <a:t>★★</a:t>
            </a:r>
            <a:endParaRPr lang="en-US" sz="1400" dirty="0"/>
          </a:p>
        </p:txBody>
      </p:sp>
      <p:sp>
        <p:nvSpPr>
          <p:cNvPr id="48" name="Text 40"/>
          <p:cNvSpPr txBox="1"/>
          <p:nvPr/>
        </p:nvSpPr>
        <p:spPr>
          <a:xfrm>
            <a:off x="6309360" y="3749040"/>
            <a:ext cx="320040" cy="384048"/>
          </a:xfrm>
          <a:prstGeom prst="rect">
            <a:avLst/>
          </a:prstGeom>
          <a:noFill/>
          <a:ln/>
        </p:spPr>
        <p:txBody>
          <a:bodyPr wrap="square" lIns="0" tIns="0" rIns="0" bIns="0" rtlCol="0" anchor="ctr"/>
          <a:lstStyle/>
          <a:p>
            <a:pPr indent="0" marL="0">
              <a:buNone/>
            </a:pPr>
            <a:r>
              <a:rPr lang="en-US" sz="1800" b="1" dirty="0">
                <a:solidFill>
                  <a:srgbClr val="0F5257"/>
                </a:solidFill>
                <a:latin typeface="Cambria" pitchFamily="34" charset="0"/>
                <a:ea typeface="Cambria" pitchFamily="34" charset="-122"/>
                <a:cs typeface="Cambria" pitchFamily="34" charset="-120"/>
              </a:rPr>
              <a:t>4</a:t>
            </a:r>
            <a:endParaRPr lang="en-US" sz="1800" dirty="0"/>
          </a:p>
        </p:txBody>
      </p:sp>
      <p:sp>
        <p:nvSpPr>
          <p:cNvPr id="49" name="Text 41"/>
          <p:cNvSpPr txBox="1"/>
          <p:nvPr/>
        </p:nvSpPr>
        <p:spPr>
          <a:xfrm>
            <a:off x="6675120" y="3749040"/>
            <a:ext cx="4754880" cy="384048"/>
          </a:xfrm>
          <a:prstGeom prst="rect">
            <a:avLst/>
          </a:prstGeom>
          <a:noFill/>
          <a:ln/>
        </p:spPr>
        <p:txBody>
          <a:bodyPr wrap="square" lIns="0" tIns="0" rIns="0" bIns="0" rtlCol="0" anchor="ctr"/>
          <a:lstStyle/>
          <a:p>
            <a:pPr indent="0" marL="0">
              <a:buNone/>
            </a:pPr>
            <a:r>
              <a:rPr lang="en-US" sz="1400" b="1" dirty="0">
                <a:solidFill>
                  <a:srgbClr val="1A1A17"/>
                </a:solidFill>
                <a:latin typeface="Calibri" pitchFamily="34" charset="0"/>
                <a:ea typeface="Calibri" pitchFamily="34" charset="-122"/>
                <a:cs typeface="Calibri" pitchFamily="34" charset="-120"/>
              </a:rPr>
              <a:t>§ 14a: Tarif statt Hardware-Pflicht   </a:t>
            </a:r>
            <a:pPr indent="0" marL="0">
              <a:buNone/>
            </a:pPr>
            <a:r>
              <a:rPr lang="en-US" sz="1000" dirty="0">
                <a:solidFill>
                  <a:srgbClr val="9A5B12"/>
                </a:solidFill>
                <a:latin typeface="Calibri" pitchFamily="34" charset="0"/>
                <a:ea typeface="Calibri" pitchFamily="34" charset="-122"/>
                <a:cs typeface="Calibri" pitchFamily="34" charset="-120"/>
              </a:rPr>
              <a:t>★★</a:t>
            </a:r>
            <a:endParaRPr lang="en-US" sz="1400" dirty="0"/>
          </a:p>
        </p:txBody>
      </p:sp>
      <p:sp>
        <p:nvSpPr>
          <p:cNvPr id="50" name="Text 42"/>
          <p:cNvSpPr txBox="1"/>
          <p:nvPr/>
        </p:nvSpPr>
        <p:spPr>
          <a:xfrm>
            <a:off x="6309360" y="4297680"/>
            <a:ext cx="320040" cy="384048"/>
          </a:xfrm>
          <a:prstGeom prst="rect">
            <a:avLst/>
          </a:prstGeom>
          <a:noFill/>
          <a:ln/>
        </p:spPr>
        <p:txBody>
          <a:bodyPr wrap="square" lIns="0" tIns="0" rIns="0" bIns="0" rtlCol="0" anchor="ctr"/>
          <a:lstStyle/>
          <a:p>
            <a:pPr indent="0" marL="0">
              <a:buNone/>
            </a:pPr>
            <a:r>
              <a:rPr lang="en-US" sz="1800" b="1" dirty="0">
                <a:solidFill>
                  <a:srgbClr val="0F5257"/>
                </a:solidFill>
                <a:latin typeface="Cambria" pitchFamily="34" charset="0"/>
                <a:ea typeface="Cambria" pitchFamily="34" charset="-122"/>
                <a:cs typeface="Cambria" pitchFamily="34" charset="-120"/>
              </a:rPr>
              <a:t>5</a:t>
            </a:r>
            <a:endParaRPr lang="en-US" sz="1800" dirty="0"/>
          </a:p>
        </p:txBody>
      </p:sp>
      <p:sp>
        <p:nvSpPr>
          <p:cNvPr id="51" name="Text 43"/>
          <p:cNvSpPr txBox="1"/>
          <p:nvPr/>
        </p:nvSpPr>
        <p:spPr>
          <a:xfrm>
            <a:off x="6675120" y="4297680"/>
            <a:ext cx="4754880" cy="384048"/>
          </a:xfrm>
          <a:prstGeom prst="rect">
            <a:avLst/>
          </a:prstGeom>
          <a:noFill/>
          <a:ln/>
        </p:spPr>
        <p:txBody>
          <a:bodyPr wrap="square" lIns="0" tIns="0" rIns="0" bIns="0" rtlCol="0" anchor="ctr"/>
          <a:lstStyle/>
          <a:p>
            <a:pPr indent="0" marL="0">
              <a:buNone/>
            </a:pPr>
            <a:r>
              <a:rPr lang="en-US" sz="1400" b="1" dirty="0">
                <a:solidFill>
                  <a:srgbClr val="1A1A17"/>
                </a:solidFill>
                <a:latin typeface="Calibri" pitchFamily="34" charset="0"/>
                <a:ea typeface="Calibri" pitchFamily="34" charset="-122"/>
                <a:cs typeface="Calibri" pitchFamily="34" charset="-120"/>
              </a:rPr>
              <a:t>EU-Nullsteuersatz für Heiztechnik   </a:t>
            </a:r>
            <a:pPr indent="0" marL="0">
              <a:buNone/>
            </a:pPr>
            <a:r>
              <a:rPr lang="en-US" sz="1000" dirty="0">
                <a:solidFill>
                  <a:srgbClr val="9A5B12"/>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WARNUNG · WARUM TEIL I DRINGEND IST</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Solange die Wärmepumpe 30'000 € kostet, rechnet sich nur Gas*</a:t>
            </a:r>
            <a:endParaRPr lang="en-US" sz="2800" dirty="0"/>
          </a:p>
        </p:txBody>
      </p:sp>
      <p:sp>
        <p:nvSpPr>
          <p:cNvPr id="4" name="Text 2"/>
          <p:cNvSpPr txBox="1"/>
          <p:nvPr/>
        </p:nvSpPr>
        <p:spPr>
          <a:xfrm>
            <a:off x="548640" y="1234440"/>
            <a:ext cx="11064240" cy="502920"/>
          </a:xfrm>
          <a:prstGeom prst="rect">
            <a:avLst/>
          </a:prstGeom>
          <a:noFill/>
          <a:ln/>
        </p:spPr>
        <p:txBody>
          <a:bodyPr wrap="square" lIns="0" tIns="0" rIns="0" bIns="0" rtlCol="0" anchor="t"/>
          <a:lstStyle/>
          <a:p>
            <a:pPr indent="0" marL="0">
              <a:buNone/>
            </a:pPr>
            <a:r>
              <a:rPr lang="en-US" sz="900" dirty="0">
                <a:solidFill>
                  <a:srgbClr val="56534B"/>
                </a:solidFill>
                <a:latin typeface="Calibri" pitchFamily="34" charset="0"/>
                <a:ea typeface="Calibri" pitchFamily="34" charset="-122"/>
                <a:cs typeface="Calibri" pitchFamily="34" charset="-120"/>
              </a:rPr>
              <a:t>* Genauer: Vollfaktoriell über 27 Kombinationen (Kesseltausch 6'000/9'000/12'000 € · Gas 9/11/13 ct/kWh · Nutzungsgrad 85/88/92 %) liegt der Kessel in 22 von 27 unter dem heutigen deutschen WP-Preis von 23.73 ct und in 1 von 27 unter der EU-Referenz von 17.75 ct — bei 6'000 €, 9 ct und 92 % mit 17.35 ct/kWh. Grüngaspflicht nach § 43 GModG barwertgewichtet enthalten (2.31 ct); ohne sie 19.20 ct, gegen die Referenz weiterhin teurer. Spannweite 17.35–25.73 ct/kWh; Abschnitt 4.2, Anhang A.10.</a:t>
            </a:r>
            <a:endParaRPr lang="en-US" sz="900" dirty="0"/>
          </a:p>
        </p:txBody>
      </p:sp>
      <p:sp>
        <p:nvSpPr>
          <p:cNvPr id="5" name="Text 3"/>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6" name="Text 4"/>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4</a:t>
            </a:r>
            <a:endParaRPr lang="en-US" sz="900" dirty="0"/>
          </a:p>
        </p:txBody>
      </p:sp>
      <p:graphicFrame>
        <p:nvGraphicFramePr>
          <p:cNvPr id="7" name="Chart 0" descr=""/>
          <p:cNvGraphicFramePr/>
          <p:nvPr/>
        </p:nvGraphicFramePr>
        <p:xfrm>
          <a:off x="548640" y="1874520"/>
          <a:ext cx="6035040" cy="33832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223760" y="2103120"/>
            <a:ext cx="548640" cy="548640"/>
          </a:xfrm>
          <a:prstGeom prst="ellipse">
            <a:avLst/>
          </a:prstGeom>
          <a:solidFill>
            <a:srgbClr val="F5E4E0"/>
          </a:solidFill>
          <a:ln w="12700">
            <a:solidFill>
              <a:srgbClr val="F5E4E0"/>
            </a:solidFill>
            <a:prstDash val="solid"/>
          </a:ln>
        </p:spPr>
      </p:sp>
      <p:pic>
        <p:nvPicPr>
          <p:cNvPr id="9" name="Image 0" descr="preencoded.png">    </p:cNvPr>
          <p:cNvPicPr>
            <a:picLocks noChangeAspect="1"/>
          </p:cNvPicPr>
          <p:nvPr/>
        </p:nvPicPr>
        <p:blipFill>
          <a:blip r:embed="rId2"/>
          <a:stretch>
            <a:fillRect/>
          </a:stretch>
        </p:blipFill>
        <p:spPr>
          <a:xfrm>
            <a:off x="7342632" y="2221992"/>
            <a:ext cx="310896" cy="310896"/>
          </a:xfrm>
          <a:prstGeom prst="rect">
            <a:avLst/>
          </a:prstGeom>
        </p:spPr>
      </p:pic>
      <p:sp>
        <p:nvSpPr>
          <p:cNvPr id="10" name="Text 6"/>
          <p:cNvSpPr txBox="1"/>
          <p:nvPr/>
        </p:nvSpPr>
        <p:spPr>
          <a:xfrm>
            <a:off x="7909560" y="2057400"/>
            <a:ext cx="3749040" cy="640080"/>
          </a:xfrm>
          <a:prstGeom prst="rect">
            <a:avLst/>
          </a:prstGeom>
          <a:noFill/>
          <a:ln/>
        </p:spPr>
        <p:txBody>
          <a:bodyPr wrap="square" lIns="0" tIns="0" rIns="0" bIns="0" rtlCol="0" anchor="ctr"/>
          <a:lstStyle/>
          <a:p>
            <a:pPr indent="0" marL="0">
              <a:buNone/>
            </a:pPr>
            <a:r>
              <a:rPr lang="en-US" sz="1500" b="1" dirty="0">
                <a:solidFill>
                  <a:srgbClr val="1A1A17"/>
                </a:solidFill>
                <a:latin typeface="Calibri" pitchFamily="34" charset="0"/>
                <a:ea typeface="Calibri" pitchFamily="34" charset="-122"/>
                <a:cs typeface="Calibri" pitchFamily="34" charset="-120"/>
              </a:rPr>
              <a:t>Alle rechnen gegen „Gastherme forever“</a:t>
            </a:r>
            <a:endParaRPr lang="en-US" sz="1500" dirty="0"/>
          </a:p>
        </p:txBody>
      </p:sp>
      <p:sp>
        <p:nvSpPr>
          <p:cNvPr id="11" name="Text 7"/>
          <p:cNvSpPr txBox="1"/>
          <p:nvPr/>
        </p:nvSpPr>
        <p:spPr>
          <a:xfrm>
            <a:off x="7909560" y="2743200"/>
            <a:ext cx="3749040" cy="822960"/>
          </a:xfrm>
          <a:prstGeom prst="rect">
            <a:avLst/>
          </a:prstGeom>
          <a:noFill/>
          <a:ln/>
        </p:spPr>
        <p:txBody>
          <a:bodyPr wrap="square" lIns="0" tIns="0" rIns="0" bIns="0" rtlCol="0" anchor="t"/>
          <a:lstStyle/>
          <a:p>
            <a:pPr indent="0" marL="0">
              <a:buNone/>
            </a:pPr>
            <a:r>
              <a:rPr lang="en-US" sz="1200" dirty="0">
                <a:solidFill>
                  <a:srgbClr val="56534B"/>
                </a:solidFill>
                <a:latin typeface="Calibri" pitchFamily="34" charset="0"/>
                <a:ea typeface="Calibri" pitchFamily="34" charset="-122"/>
                <a:cs typeface="Calibri" pitchFamily="34" charset="-120"/>
              </a:rPr>
              <a:t>Haushalte wie Planer: heutiger Gaspreis, Kessel für immer – und die Wette, dass 2045 verschoben wird.</a:t>
            </a:r>
            <a:endParaRPr lang="en-US" sz="1200" dirty="0"/>
          </a:p>
        </p:txBody>
      </p:sp>
      <p:sp>
        <p:nvSpPr>
          <p:cNvPr id="12" name="Text 8"/>
          <p:cNvSpPr txBox="1"/>
          <p:nvPr/>
        </p:nvSpPr>
        <p:spPr>
          <a:xfrm>
            <a:off x="7909560" y="3749040"/>
            <a:ext cx="3749040" cy="548640"/>
          </a:xfrm>
          <a:prstGeom prst="rect">
            <a:avLst/>
          </a:prstGeom>
          <a:noFill/>
          <a:ln/>
        </p:spPr>
        <p:txBody>
          <a:bodyPr wrap="square" lIns="0" tIns="0" rIns="0" bIns="0" rtlCol="0" anchor="t"/>
          <a:lstStyle/>
          <a:p>
            <a:pPr indent="0" marL="0">
              <a:buNone/>
            </a:pPr>
            <a:r>
              <a:rPr lang="en-US" sz="1050" dirty="0">
                <a:solidFill>
                  <a:srgbClr val="56534B"/>
                </a:solidFill>
                <a:latin typeface="Calibri" pitchFamily="34" charset="0"/>
                <a:ea typeface="Calibri" pitchFamily="34" charset="-122"/>
                <a:cs typeface="Calibri" pitchFamily="34" charset="-120"/>
              </a:rPr>
              <a:t>Investition: Kessel 9'000 € · WP 30'000 € (DE) · 16'660 € (Referenz)</a:t>
            </a:r>
            <a:endParaRPr lang="en-US" sz="1050" dirty="0"/>
          </a:p>
        </p:txBody>
      </p:sp>
      <p:sp>
        <p:nvSpPr>
          <p:cNvPr id="13" name="Shape 9"/>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14" name="Text 10"/>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7A2E2E"/>
                </a:solidFill>
                <a:latin typeface="Calibri" pitchFamily="34" charset="0"/>
                <a:ea typeface="Calibri" pitchFamily="34" charset="-122"/>
                <a:cs typeface="Calibri" pitchFamily="34" charset="-120"/>
              </a:rPr>
              <a:t>Was das heißt: </a:t>
            </a:r>
            <a:pPr indent="0" marL="0">
              <a:buNone/>
            </a:pPr>
            <a:r>
              <a:rPr lang="en-US" sz="1250" dirty="0">
                <a:solidFill>
                  <a:srgbClr val="1A1A17"/>
                </a:solidFill>
                <a:latin typeface="Calibri" pitchFamily="34" charset="0"/>
                <a:ea typeface="Calibri" pitchFamily="34" charset="-122"/>
                <a:cs typeface="Calibri" pitchFamily="34" charset="-120"/>
              </a:rPr>
              <a:t>Teil I entscheidet, ob sich überhaupt etwas anderes als Gas rechnet – die Wärmepumpe wie die Fernwärme. Ohne Wirtschaftlichkeit heute kein Hochlauf, kein Momentum.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DIE SYSTEMFRAGE</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Erst der Sockel, dann die Dichte</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548640" y="1783080"/>
            <a:ext cx="7680960" cy="274320"/>
          </a:xfrm>
          <a:prstGeom prst="rect">
            <a:avLst/>
          </a:prstGeom>
          <a:noFill/>
          <a:ln/>
        </p:spPr>
        <p:txBody>
          <a:bodyPr wrap="square" lIns="0" tIns="0" rIns="0" bIns="0" rtlCol="0" anchor="ctr"/>
          <a:lstStyle/>
          <a:p>
            <a:pPr indent="0" marL="0">
              <a:buNone/>
            </a:pPr>
            <a:r>
              <a:rPr lang="en-US" sz="1200" b="1" dirty="0">
                <a:solidFill>
                  <a:srgbClr val="1A1A17"/>
                </a:solidFill>
                <a:latin typeface="Calibri" pitchFamily="34" charset="0"/>
                <a:ea typeface="Calibri" pitchFamily="34" charset="-122"/>
                <a:cs typeface="Calibri" pitchFamily="34" charset="-120"/>
              </a:rPr>
              <a:t>Wärmegestehungskosten vor dem ersten Meter Netz (ct/kWh, Vollkosten)</a:t>
            </a:r>
            <a:endParaRPr lang="en-US" sz="1200" dirty="0"/>
          </a:p>
        </p:txBody>
      </p:sp>
      <p:sp>
        <p:nvSpPr>
          <p:cNvPr id="7" name="Shape 5"/>
          <p:cNvSpPr/>
          <p:nvPr/>
        </p:nvSpPr>
        <p:spPr>
          <a:xfrm>
            <a:off x="5109210" y="2395728"/>
            <a:ext cx="1472565" cy="237744"/>
          </a:xfrm>
          <a:prstGeom prst="rect">
            <a:avLst/>
          </a:prstGeom>
          <a:solidFill>
            <a:srgbClr val="E4EEE3"/>
          </a:solidFill>
          <a:ln w="6350">
            <a:solidFill>
              <a:srgbClr val="28633B"/>
            </a:solidFill>
            <a:prstDash val="solid"/>
          </a:ln>
        </p:spPr>
      </p:sp>
      <p:sp>
        <p:nvSpPr>
          <p:cNvPr id="8" name="Text 6"/>
          <p:cNvSpPr txBox="1"/>
          <p:nvPr/>
        </p:nvSpPr>
        <p:spPr>
          <a:xfrm>
            <a:off x="548640" y="2286000"/>
            <a:ext cx="2560320" cy="457200"/>
          </a:xfrm>
          <a:prstGeom prst="rect">
            <a:avLst/>
          </a:prstGeom>
          <a:noFill/>
          <a:ln/>
        </p:spPr>
        <p:txBody>
          <a:bodyPr wrap="square" lIns="0" tIns="0" rIns="0" bIns="0" rtlCol="0" anchor="ctr"/>
          <a:lstStyle/>
          <a:p>
            <a:pPr algn="r" indent="0" marL="0">
              <a:buNone/>
            </a:pPr>
            <a:r>
              <a:rPr lang="en-US" sz="1200" dirty="0">
                <a:solidFill>
                  <a:srgbClr val="1A1A17"/>
                </a:solidFill>
                <a:latin typeface="Calibri" pitchFamily="34" charset="0"/>
                <a:ea typeface="Calibri" pitchFamily="34" charset="-122"/>
                <a:cs typeface="Calibri" pitchFamily="34" charset="-120"/>
              </a:rPr>
              <a:t>Abwärme / Müllverbrennung</a:t>
            </a:r>
            <a:endParaRPr lang="en-US" sz="1200" dirty="0"/>
          </a:p>
        </p:txBody>
      </p:sp>
      <p:sp>
        <p:nvSpPr>
          <p:cNvPr id="9" name="Shape 7"/>
          <p:cNvSpPr/>
          <p:nvPr/>
        </p:nvSpPr>
        <p:spPr>
          <a:xfrm>
            <a:off x="3200400" y="2359152"/>
            <a:ext cx="1908810" cy="310896"/>
          </a:xfrm>
          <a:prstGeom prst="rect">
            <a:avLst/>
          </a:prstGeom>
          <a:solidFill>
            <a:srgbClr val="1F5673"/>
          </a:solidFill>
          <a:ln w="12700">
            <a:solidFill>
              <a:srgbClr val="1F5673"/>
            </a:solidFill>
            <a:prstDash val="solid"/>
          </a:ln>
        </p:spPr>
      </p:sp>
      <p:sp>
        <p:nvSpPr>
          <p:cNvPr id="10" name="Text 8"/>
          <p:cNvSpPr txBox="1"/>
          <p:nvPr/>
        </p:nvSpPr>
        <p:spPr>
          <a:xfrm>
            <a:off x="4331970" y="2286000"/>
            <a:ext cx="731520" cy="45720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10.02</a:t>
            </a:r>
            <a:endParaRPr lang="en-US" sz="1200" dirty="0"/>
          </a:p>
        </p:txBody>
      </p:sp>
      <p:sp>
        <p:nvSpPr>
          <p:cNvPr id="11" name="Text 9"/>
          <p:cNvSpPr txBox="1"/>
          <p:nvPr/>
        </p:nvSpPr>
        <p:spPr>
          <a:xfrm>
            <a:off x="8138160" y="2286000"/>
            <a:ext cx="1188720" cy="457200"/>
          </a:xfrm>
          <a:prstGeom prst="rect">
            <a:avLst/>
          </a:prstGeom>
          <a:noFill/>
          <a:ln/>
        </p:spPr>
        <p:txBody>
          <a:bodyPr wrap="square" lIns="0" tIns="0" rIns="0" bIns="0" rtlCol="0" anchor="ctr"/>
          <a:lstStyle/>
          <a:p>
            <a:pPr indent="0" marL="0">
              <a:buNone/>
            </a:pPr>
            <a:r>
              <a:rPr lang="en-US" sz="1800" b="1" dirty="0">
                <a:solidFill>
                  <a:srgbClr val="28633B"/>
                </a:solidFill>
                <a:latin typeface="Cambria" pitchFamily="34" charset="0"/>
                <a:ea typeface="Cambria" pitchFamily="34" charset="-122"/>
                <a:cs typeface="Cambria" pitchFamily="34" charset="-120"/>
              </a:rPr>
              <a:t>+7.72 ct</a:t>
            </a:r>
            <a:endParaRPr lang="en-US" sz="1800" dirty="0"/>
          </a:p>
        </p:txBody>
      </p:sp>
      <p:sp>
        <p:nvSpPr>
          <p:cNvPr id="12" name="Shape 10"/>
          <p:cNvSpPr/>
          <p:nvPr/>
        </p:nvSpPr>
        <p:spPr>
          <a:xfrm>
            <a:off x="6292215" y="3127248"/>
            <a:ext cx="289560" cy="237744"/>
          </a:xfrm>
          <a:prstGeom prst="rect">
            <a:avLst/>
          </a:prstGeom>
          <a:solidFill>
            <a:srgbClr val="E4EEE3"/>
          </a:solidFill>
          <a:ln w="6350">
            <a:solidFill>
              <a:srgbClr val="28633B"/>
            </a:solidFill>
            <a:prstDash val="solid"/>
          </a:ln>
        </p:spPr>
      </p:sp>
      <p:sp>
        <p:nvSpPr>
          <p:cNvPr id="13" name="Text 11"/>
          <p:cNvSpPr txBox="1"/>
          <p:nvPr/>
        </p:nvSpPr>
        <p:spPr>
          <a:xfrm>
            <a:off x="548640" y="3017520"/>
            <a:ext cx="2560320" cy="457200"/>
          </a:xfrm>
          <a:prstGeom prst="rect">
            <a:avLst/>
          </a:prstGeom>
          <a:noFill/>
          <a:ln/>
        </p:spPr>
        <p:txBody>
          <a:bodyPr wrap="square" lIns="0" tIns="0" rIns="0" bIns="0" rtlCol="0" anchor="ctr"/>
          <a:lstStyle/>
          <a:p>
            <a:pPr algn="r" indent="0" marL="0">
              <a:buNone/>
            </a:pPr>
            <a:r>
              <a:rPr lang="en-US" sz="1200" dirty="0">
                <a:solidFill>
                  <a:srgbClr val="1A1A17"/>
                </a:solidFill>
                <a:latin typeface="Calibri" pitchFamily="34" charset="0"/>
                <a:ea typeface="Calibri" pitchFamily="34" charset="-122"/>
                <a:cs typeface="Calibri" pitchFamily="34" charset="-120"/>
              </a:rPr>
              <a:t>Großwärmepumpe / Geothermie</a:t>
            </a:r>
            <a:endParaRPr lang="en-US" sz="1200" dirty="0"/>
          </a:p>
        </p:txBody>
      </p:sp>
      <p:sp>
        <p:nvSpPr>
          <p:cNvPr id="14" name="Shape 12"/>
          <p:cNvSpPr/>
          <p:nvPr/>
        </p:nvSpPr>
        <p:spPr>
          <a:xfrm>
            <a:off x="3200400" y="3090672"/>
            <a:ext cx="3091815" cy="310896"/>
          </a:xfrm>
          <a:prstGeom prst="rect">
            <a:avLst/>
          </a:prstGeom>
          <a:solidFill>
            <a:srgbClr val="1F5673"/>
          </a:solidFill>
          <a:ln w="12700">
            <a:solidFill>
              <a:srgbClr val="1F5673"/>
            </a:solidFill>
            <a:prstDash val="solid"/>
          </a:ln>
        </p:spPr>
      </p:sp>
      <p:sp>
        <p:nvSpPr>
          <p:cNvPr id="15" name="Text 13"/>
          <p:cNvSpPr txBox="1"/>
          <p:nvPr/>
        </p:nvSpPr>
        <p:spPr>
          <a:xfrm>
            <a:off x="5514975" y="3017520"/>
            <a:ext cx="731520" cy="45720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16.23</a:t>
            </a:r>
            <a:endParaRPr lang="en-US" sz="1200" dirty="0"/>
          </a:p>
        </p:txBody>
      </p:sp>
      <p:sp>
        <p:nvSpPr>
          <p:cNvPr id="16" name="Text 14"/>
          <p:cNvSpPr txBox="1"/>
          <p:nvPr/>
        </p:nvSpPr>
        <p:spPr>
          <a:xfrm>
            <a:off x="8138160" y="3017520"/>
            <a:ext cx="1188720" cy="457200"/>
          </a:xfrm>
          <a:prstGeom prst="rect">
            <a:avLst/>
          </a:prstGeom>
          <a:noFill/>
          <a:ln/>
        </p:spPr>
        <p:txBody>
          <a:bodyPr wrap="square" lIns="0" tIns="0" rIns="0" bIns="0" rtlCol="0" anchor="ctr"/>
          <a:lstStyle/>
          <a:p>
            <a:pPr indent="0" marL="0">
              <a:buNone/>
            </a:pPr>
            <a:r>
              <a:rPr lang="en-US" sz="1800" b="1" dirty="0">
                <a:solidFill>
                  <a:srgbClr val="28633B"/>
                </a:solidFill>
                <a:latin typeface="Cambria" pitchFamily="34" charset="0"/>
                <a:ea typeface="Cambria" pitchFamily="34" charset="-122"/>
                <a:cs typeface="Cambria" pitchFamily="34" charset="-120"/>
              </a:rPr>
              <a:t>+1.51 ct</a:t>
            </a:r>
            <a:endParaRPr lang="en-US" sz="1800" dirty="0"/>
          </a:p>
        </p:txBody>
      </p:sp>
      <p:sp>
        <p:nvSpPr>
          <p:cNvPr id="17" name="Shape 15"/>
          <p:cNvSpPr/>
          <p:nvPr/>
        </p:nvSpPr>
        <p:spPr>
          <a:xfrm>
            <a:off x="6581775" y="3858768"/>
            <a:ext cx="485775" cy="237744"/>
          </a:xfrm>
          <a:prstGeom prst="rect">
            <a:avLst/>
          </a:prstGeom>
          <a:solidFill>
            <a:srgbClr val="F5E4E0"/>
          </a:solidFill>
          <a:ln w="6350">
            <a:solidFill>
              <a:srgbClr val="7A2E2E"/>
            </a:solidFill>
            <a:prstDash val="solid"/>
          </a:ln>
        </p:spPr>
      </p:sp>
      <p:sp>
        <p:nvSpPr>
          <p:cNvPr id="18" name="Text 16"/>
          <p:cNvSpPr txBox="1"/>
          <p:nvPr/>
        </p:nvSpPr>
        <p:spPr>
          <a:xfrm>
            <a:off x="548640" y="3749040"/>
            <a:ext cx="2560320" cy="457200"/>
          </a:xfrm>
          <a:prstGeom prst="rect">
            <a:avLst/>
          </a:prstGeom>
          <a:noFill/>
          <a:ln/>
        </p:spPr>
        <p:txBody>
          <a:bodyPr wrap="square" lIns="0" tIns="0" rIns="0" bIns="0" rtlCol="0" anchor="ctr"/>
          <a:lstStyle/>
          <a:p>
            <a:pPr algn="r" indent="0" marL="0">
              <a:buNone/>
            </a:pPr>
            <a:r>
              <a:rPr lang="en-US" sz="1200" dirty="0">
                <a:solidFill>
                  <a:srgbClr val="1A1A17"/>
                </a:solidFill>
                <a:latin typeface="Calibri" pitchFamily="34" charset="0"/>
                <a:ea typeface="Calibri" pitchFamily="34" charset="-122"/>
                <a:cs typeface="Calibri" pitchFamily="34" charset="-120"/>
              </a:rPr>
              <a:t>Gas-KWK, fossil</a:t>
            </a:r>
            <a:endParaRPr lang="en-US" sz="1200" dirty="0"/>
          </a:p>
        </p:txBody>
      </p:sp>
      <p:sp>
        <p:nvSpPr>
          <p:cNvPr id="19" name="Shape 17"/>
          <p:cNvSpPr/>
          <p:nvPr/>
        </p:nvSpPr>
        <p:spPr>
          <a:xfrm>
            <a:off x="3200400" y="3822192"/>
            <a:ext cx="3867150" cy="310896"/>
          </a:xfrm>
          <a:prstGeom prst="rect">
            <a:avLst/>
          </a:prstGeom>
          <a:solidFill>
            <a:srgbClr val="7A2E2E"/>
          </a:solidFill>
          <a:ln w="12700">
            <a:solidFill>
              <a:srgbClr val="7A2E2E"/>
            </a:solidFill>
            <a:prstDash val="solid"/>
          </a:ln>
        </p:spPr>
      </p:sp>
      <p:sp>
        <p:nvSpPr>
          <p:cNvPr id="20" name="Text 18"/>
          <p:cNvSpPr txBox="1"/>
          <p:nvPr/>
        </p:nvSpPr>
        <p:spPr>
          <a:xfrm>
            <a:off x="6290310" y="3749040"/>
            <a:ext cx="731520" cy="457200"/>
          </a:xfrm>
          <a:prstGeom prst="rect">
            <a:avLst/>
          </a:prstGeom>
          <a:noFill/>
          <a:ln/>
        </p:spPr>
        <p:txBody>
          <a:bodyPr wrap="square" lIns="0" tIns="0" rIns="0" bIns="0" rtlCol="0" anchor="ctr"/>
          <a:lstStyle/>
          <a:p>
            <a:pPr algn="r" indent="0" marL="0">
              <a:buNone/>
            </a:pPr>
            <a:r>
              <a:rPr lang="en-US" sz="1200" b="1" dirty="0">
                <a:solidFill>
                  <a:srgbClr val="FFFFFF"/>
                </a:solidFill>
                <a:latin typeface="Calibri" pitchFamily="34" charset="0"/>
                <a:ea typeface="Calibri" pitchFamily="34" charset="-122"/>
                <a:cs typeface="Calibri" pitchFamily="34" charset="-120"/>
              </a:rPr>
              <a:t>20.30</a:t>
            </a:r>
            <a:endParaRPr lang="en-US" sz="1200" dirty="0"/>
          </a:p>
        </p:txBody>
      </p:sp>
      <p:sp>
        <p:nvSpPr>
          <p:cNvPr id="21" name="Text 19"/>
          <p:cNvSpPr txBox="1"/>
          <p:nvPr/>
        </p:nvSpPr>
        <p:spPr>
          <a:xfrm>
            <a:off x="8138160" y="3749040"/>
            <a:ext cx="1188720" cy="457200"/>
          </a:xfrm>
          <a:prstGeom prst="rect">
            <a:avLst/>
          </a:prstGeom>
          <a:noFill/>
          <a:ln/>
        </p:spPr>
        <p:txBody>
          <a:bodyPr wrap="square" lIns="0" tIns="0" rIns="0" bIns="0" rtlCol="0" anchor="ctr"/>
          <a:lstStyle/>
          <a:p>
            <a:pPr indent="0" marL="0">
              <a:buNone/>
            </a:pPr>
            <a:r>
              <a:rPr lang="en-US" sz="1800" b="1" dirty="0">
                <a:solidFill>
                  <a:srgbClr val="7A2E2E"/>
                </a:solidFill>
                <a:latin typeface="Cambria" pitchFamily="34" charset="0"/>
                <a:ea typeface="Cambria" pitchFamily="34" charset="-122"/>
                <a:cs typeface="Cambria" pitchFamily="34" charset="-120"/>
              </a:rPr>
              <a:t>−2.55 ct</a:t>
            </a:r>
            <a:endParaRPr lang="en-US" sz="1800" dirty="0"/>
          </a:p>
        </p:txBody>
      </p:sp>
      <p:sp>
        <p:nvSpPr>
          <p:cNvPr id="22" name="Shape 20"/>
          <p:cNvSpPr/>
          <p:nvPr/>
        </p:nvSpPr>
        <p:spPr>
          <a:xfrm>
            <a:off x="6581775" y="2148840"/>
            <a:ext cx="0" cy="2377440"/>
          </a:xfrm>
          <a:prstGeom prst="line">
            <a:avLst/>
          </a:prstGeom>
          <a:noFill/>
          <a:ln w="31750">
            <a:solidFill>
              <a:srgbClr val="0F5257"/>
            </a:solidFill>
            <a:prstDash val="solid"/>
          </a:ln>
        </p:spPr>
      </p:sp>
      <p:sp>
        <p:nvSpPr>
          <p:cNvPr id="23" name="Text 21"/>
          <p:cNvSpPr txBox="1"/>
          <p:nvPr/>
        </p:nvSpPr>
        <p:spPr>
          <a:xfrm>
            <a:off x="5667375" y="4526280"/>
            <a:ext cx="1828800" cy="274320"/>
          </a:xfrm>
          <a:prstGeom prst="rect">
            <a:avLst/>
          </a:prstGeom>
          <a:noFill/>
          <a:ln/>
        </p:spPr>
        <p:txBody>
          <a:bodyPr wrap="square" lIns="0" tIns="0" rIns="0" bIns="0" rtlCol="0" anchor="ctr"/>
          <a:lstStyle/>
          <a:p>
            <a:pPr algn="ctr" indent="0" marL="0">
              <a:buNone/>
            </a:pPr>
            <a:r>
              <a:rPr lang="en-US" sz="1100" b="1" dirty="0">
                <a:solidFill>
                  <a:srgbClr val="0F5257"/>
                </a:solidFill>
                <a:latin typeface="Calibri" pitchFamily="34" charset="0"/>
                <a:ea typeface="Calibri" pitchFamily="34" charset="-122"/>
                <a:cs typeface="Calibri" pitchFamily="34" charset="-120"/>
              </a:rPr>
              <a:t>Wärmepumpe 17.75</a:t>
            </a:r>
            <a:endParaRPr lang="en-US" sz="1100" dirty="0"/>
          </a:p>
        </p:txBody>
      </p:sp>
      <p:sp>
        <p:nvSpPr>
          <p:cNvPr id="24" name="Text 22"/>
          <p:cNvSpPr txBox="1"/>
          <p:nvPr/>
        </p:nvSpPr>
        <p:spPr>
          <a:xfrm>
            <a:off x="8138160" y="1920240"/>
            <a:ext cx="1463040" cy="274320"/>
          </a:xfrm>
          <a:prstGeom prst="rect">
            <a:avLst/>
          </a:prstGeom>
          <a:noFill/>
          <a:ln/>
        </p:spPr>
        <p:txBody>
          <a:bodyPr wrap="square" lIns="0" tIns="0" rIns="0" bIns="0" rtlCol="0" anchor="ctr"/>
          <a:lstStyle/>
          <a:p>
            <a:pPr indent="0" marL="0">
              <a:buNone/>
            </a:pPr>
            <a:r>
              <a:rPr lang="en-US" sz="1000" b="1" dirty="0">
                <a:solidFill>
                  <a:srgbClr val="56534B"/>
                </a:solidFill>
                <a:latin typeface="Calibri" pitchFamily="34" charset="0"/>
                <a:ea typeface="Calibri" pitchFamily="34" charset="-122"/>
                <a:cs typeface="Calibri" pitchFamily="34" charset="-120"/>
              </a:rPr>
              <a:t>Budget fürs Netz</a:t>
            </a:r>
            <a:endParaRPr lang="en-US" sz="1000" dirty="0"/>
          </a:p>
        </p:txBody>
      </p:sp>
      <p:sp>
        <p:nvSpPr>
          <p:cNvPr id="25" name="Text 23"/>
          <p:cNvSpPr txBox="1"/>
          <p:nvPr/>
        </p:nvSpPr>
        <p:spPr>
          <a:xfrm>
            <a:off x="548640" y="4846320"/>
            <a:ext cx="7315200" cy="274320"/>
          </a:xfrm>
          <a:prstGeom prst="rect">
            <a:avLst/>
          </a:prstGeom>
          <a:noFill/>
          <a:ln/>
        </p:spPr>
        <p:txBody>
          <a:bodyPr wrap="square" lIns="0" tIns="0" rIns="0" bIns="0" rtlCol="0" anchor="ctr"/>
          <a:lstStyle/>
          <a:p>
            <a:pPr indent="0" marL="0">
              <a:buNone/>
            </a:pPr>
            <a:r>
              <a:rPr lang="en-US" sz="1100" i="1" dirty="0">
                <a:solidFill>
                  <a:srgbClr val="7A2E2E"/>
                </a:solidFill>
                <a:latin typeface="Calibri" pitchFamily="34" charset="0"/>
                <a:ea typeface="Calibri" pitchFamily="34" charset="-122"/>
                <a:cs typeface="Calibri" pitchFamily="34" charset="-120"/>
              </a:rPr>
              <a:t>Gasvorlauf: verschlechtert jede Quelle.</a:t>
            </a:r>
            <a:endParaRPr lang="en-US" sz="1100" dirty="0"/>
          </a:p>
        </p:txBody>
      </p:sp>
      <p:sp>
        <p:nvSpPr>
          <p:cNvPr id="26" name="Shape 24"/>
          <p:cNvSpPr/>
          <p:nvPr/>
        </p:nvSpPr>
        <p:spPr>
          <a:xfrm>
            <a:off x="9509760" y="1783080"/>
            <a:ext cx="2103120" cy="3291840"/>
          </a:xfrm>
          <a:prstGeom prst="roundRect">
            <a:avLst>
              <a:gd name="adj" fmla="val 3478"/>
            </a:avLst>
          </a:prstGeom>
          <a:solidFill>
            <a:srgbClr val="DEE9E8"/>
          </a:solidFill>
          <a:ln w="12700">
            <a:solidFill>
              <a:srgbClr val="DEE9E8"/>
            </a:solidFill>
            <a:prstDash val="solid"/>
          </a:ln>
        </p:spPr>
      </p:sp>
      <p:sp>
        <p:nvSpPr>
          <p:cNvPr id="27" name="Text 25"/>
          <p:cNvSpPr txBox="1"/>
          <p:nvPr/>
        </p:nvSpPr>
        <p:spPr>
          <a:xfrm>
            <a:off x="9646920" y="1920240"/>
            <a:ext cx="1828800" cy="3017520"/>
          </a:xfrm>
          <a:prstGeom prst="rect">
            <a:avLst/>
          </a:prstGeom>
          <a:noFill/>
          <a:ln/>
        </p:spPr>
        <p:txBody>
          <a:bodyPr wrap="square" lIns="0" tIns="0" rIns="0" bIns="0" rtlCol="0" anchor="t"/>
          <a:lstStyle/>
          <a:p>
            <a:pPr indent="0" marL="0">
              <a:buNone/>
            </a:pPr>
            <a:r>
              <a:rPr lang="en-US" sz="1400" b="1" dirty="0">
                <a:solidFill>
                  <a:srgbClr val="0F5257"/>
                </a:solidFill>
                <a:latin typeface="Calibri" pitchFamily="34" charset="0"/>
                <a:ea typeface="Calibri" pitchFamily="34" charset="-122"/>
                <a:cs typeface="Calibri" pitchFamily="34" charset="-120"/>
              </a:rPr>
              <a:t>Budget</a:t>
            </a:r>
            <a:endParaRPr lang="en-US" sz="1150" dirty="0"/>
          </a:p>
          <a:p>
            <a:pPr indent="0" marL="0">
              <a:buNone/>
            </a:pPr>
            <a:r>
              <a:rPr lang="en-US" sz="1150" b="1" dirty="0">
                <a:solidFill>
                  <a:srgbClr val="1A1A17"/>
                </a:solidFill>
                <a:latin typeface="Calibri" pitchFamily="34" charset="0"/>
                <a:ea typeface="Calibri" pitchFamily="34" charset="-122"/>
                <a:cs typeface="Calibri" pitchFamily="34" charset="-120"/>
              </a:rPr>
              <a:t>= Wärmepumpe − Sockel</a:t>
            </a:r>
            <a:endParaRPr lang="en-US" sz="1150" dirty="0"/>
          </a:p>
          <a:p>
            <a:pPr indent="0" marL="0">
              <a:buNone/>
            </a:pPr>
            <a:r>
              <a:rPr lang="en-US" sz="600" dirty="0">
                <a:solidFill>
                  <a:srgbClr val="1A1A17"/>
                </a:solidFill>
                <a:latin typeface="Calibri" pitchFamily="34" charset="0"/>
                <a:ea typeface="Calibri" pitchFamily="34" charset="-122"/>
                <a:cs typeface="Calibri" pitchFamily="34" charset="-120"/>
              </a:rPr>
              <a:t> </a:t>
            </a:r>
            <a:endParaRPr lang="en-US" sz="1150" dirty="0"/>
          </a:p>
          <a:p>
            <a:pPr indent="0" marL="0">
              <a:buNone/>
            </a:pPr>
            <a:r>
              <a:rPr lang="en-US" sz="1150" dirty="0">
                <a:solidFill>
                  <a:srgbClr val="1A1A17"/>
                </a:solidFill>
                <a:latin typeface="Calibri" pitchFamily="34" charset="0"/>
                <a:ea typeface="Calibri" pitchFamily="34" charset="-122"/>
                <a:cs typeface="Calibri" pitchFamily="34" charset="-120"/>
              </a:rPr>
              <a:t>Was das Netz je kWh für Trasse, Anschluss, Verluste ausgeben darf.</a:t>
            </a:r>
            <a:endParaRPr lang="en-US" sz="1150" dirty="0"/>
          </a:p>
          <a:p>
            <a:pPr indent="0" marL="0">
              <a:buNone/>
            </a:pPr>
            <a:r>
              <a:rPr lang="en-US" sz="600" dirty="0">
                <a:solidFill>
                  <a:srgbClr val="1A1A17"/>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7A2E2E"/>
                </a:solidFill>
                <a:latin typeface="Calibri" pitchFamily="34" charset="0"/>
                <a:ea typeface="Calibri" pitchFamily="34" charset="-122"/>
                <a:cs typeface="Calibri" pitchFamily="34" charset="-120"/>
              </a:rPr>
              <a:t>Negativ = verloren vor dem ersten Meter.</a:t>
            </a:r>
            <a:endParaRPr lang="en-US" sz="1150" dirty="0"/>
          </a:p>
        </p:txBody>
      </p:sp>
      <p:sp>
        <p:nvSpPr>
          <p:cNvPr id="28" name="Shape 26"/>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29" name="Text 27"/>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0F5257"/>
                </a:solidFill>
                <a:latin typeface="Calibri" pitchFamily="34" charset="0"/>
                <a:ea typeface="Calibri" pitchFamily="34" charset="-122"/>
                <a:cs typeface="Calibri" pitchFamily="34" charset="-120"/>
              </a:rPr>
              <a:t>Die Setzung: </a:t>
            </a:r>
            <a:pPr indent="0" marL="0">
              <a:buNone/>
            </a:pPr>
            <a:r>
              <a:rPr lang="en-US" sz="1250" dirty="0">
                <a:solidFill>
                  <a:srgbClr val="1A1A17"/>
                </a:solidFill>
                <a:latin typeface="Calibri" pitchFamily="34" charset="0"/>
                <a:ea typeface="Calibri" pitchFamily="34" charset="-122"/>
                <a:cs typeface="Calibri" pitchFamily="34" charset="-120"/>
              </a:rPr>
              <a:t>Nicht die Dichte ist das Axiom, sondern das Vorzeichen des Budgets. Erst danach fragt das Modell, ob die Bebauung reicht.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METHODE</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Drei Setzungen und eine Regel</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783080"/>
            <a:ext cx="548640" cy="548640"/>
          </a:xfrm>
          <a:prstGeom prst="ellipse">
            <a:avLst/>
          </a:prstGeom>
          <a:solidFill>
            <a:srgbClr val="E4EEE3"/>
          </a:solidFill>
          <a:ln w="12700">
            <a:solidFill>
              <a:srgbClr val="E4EEE3"/>
            </a:solidFill>
            <a:prstDash val="solid"/>
          </a:ln>
        </p:spPr>
      </p:sp>
      <p:pic>
        <p:nvPicPr>
          <p:cNvPr id="7" name="Image 0" descr="preencoded.png">    </p:cNvPr>
          <p:cNvPicPr>
            <a:picLocks noChangeAspect="1"/>
          </p:cNvPicPr>
          <p:nvPr/>
        </p:nvPicPr>
        <p:blipFill>
          <a:blip r:embed="rId1"/>
          <a:stretch>
            <a:fillRect/>
          </a:stretch>
        </p:blipFill>
        <p:spPr>
          <a:xfrm>
            <a:off x="676656" y="1911096"/>
            <a:ext cx="292608" cy="292608"/>
          </a:xfrm>
          <a:prstGeom prst="rect">
            <a:avLst/>
          </a:prstGeom>
        </p:spPr>
      </p:pic>
      <p:sp>
        <p:nvSpPr>
          <p:cNvPr id="8" name="Text 5"/>
          <p:cNvSpPr txBox="1"/>
          <p:nvPr/>
        </p:nvSpPr>
        <p:spPr>
          <a:xfrm>
            <a:off x="548640" y="2423160"/>
            <a:ext cx="3474720" cy="457200"/>
          </a:xfrm>
          <a:prstGeom prst="rect">
            <a:avLst/>
          </a:prstGeom>
          <a:noFill/>
          <a:ln/>
        </p:spPr>
        <p:txBody>
          <a:bodyPr wrap="square" lIns="0" tIns="0" rIns="0" bIns="0" rtlCol="0" anchor="t"/>
          <a:lstStyle/>
          <a:p>
            <a:pPr indent="0" marL="0">
              <a:buNone/>
            </a:pPr>
            <a:r>
              <a:rPr lang="en-US" sz="1500" b="1" dirty="0">
                <a:solidFill>
                  <a:srgbClr val="1A1A17"/>
                </a:solidFill>
                <a:latin typeface="Calibri" pitchFamily="34" charset="0"/>
                <a:ea typeface="Calibri" pitchFamily="34" charset="-122"/>
                <a:cs typeface="Calibri" pitchFamily="34" charset="-120"/>
              </a:rPr>
              <a:t>Vollkosten beider Pfade</a:t>
            </a:r>
            <a:endParaRPr lang="en-US" sz="1500" dirty="0"/>
          </a:p>
        </p:txBody>
      </p:sp>
      <p:sp>
        <p:nvSpPr>
          <p:cNvPr id="9" name="Text 6"/>
          <p:cNvSpPr txBox="1"/>
          <p:nvPr/>
        </p:nvSpPr>
        <p:spPr>
          <a:xfrm>
            <a:off x="548640" y="2880360"/>
            <a:ext cx="3474720" cy="457200"/>
          </a:xfrm>
          <a:prstGeom prst="rect">
            <a:avLst/>
          </a:prstGeom>
          <a:noFill/>
          <a:ln/>
        </p:spPr>
        <p:txBody>
          <a:bodyPr wrap="square" lIns="0" tIns="0" rIns="0" bIns="0" rtlCol="0" anchor="t"/>
          <a:lstStyle/>
          <a:p>
            <a:pPr indent="0" marL="0">
              <a:buNone/>
            </a:pPr>
            <a:r>
              <a:rPr lang="en-US" sz="1200" dirty="0">
                <a:solidFill>
                  <a:srgbClr val="56534B"/>
                </a:solidFill>
                <a:latin typeface="Calibri" pitchFamily="34" charset="0"/>
                <a:ea typeface="Calibri" pitchFamily="34" charset="-122"/>
                <a:cs typeface="Calibri" pitchFamily="34" charset="-120"/>
              </a:rPr>
              <a:t>gleiche Systemgrenze, Annuität, ohne Förderung</a:t>
            </a:r>
            <a:endParaRPr lang="en-US" sz="1200" dirty="0"/>
          </a:p>
        </p:txBody>
      </p:sp>
      <p:sp>
        <p:nvSpPr>
          <p:cNvPr id="10" name="Shape 7"/>
          <p:cNvSpPr/>
          <p:nvPr/>
        </p:nvSpPr>
        <p:spPr>
          <a:xfrm>
            <a:off x="4297680" y="1783080"/>
            <a:ext cx="548640" cy="548640"/>
          </a:xfrm>
          <a:prstGeom prst="ellipse">
            <a:avLst/>
          </a:prstGeom>
          <a:solidFill>
            <a:srgbClr val="E4EEE3"/>
          </a:solidFill>
          <a:ln w="12700">
            <a:solidFill>
              <a:srgbClr val="E4EEE3"/>
            </a:solidFill>
            <a:prstDash val="solid"/>
          </a:ln>
        </p:spPr>
      </p:sp>
      <p:pic>
        <p:nvPicPr>
          <p:cNvPr id="11" name="Image 1" descr="preencoded.png">    </p:cNvPr>
          <p:cNvPicPr>
            <a:picLocks noChangeAspect="1"/>
          </p:cNvPicPr>
          <p:nvPr/>
        </p:nvPicPr>
        <p:blipFill>
          <a:blip r:embed="rId2"/>
          <a:stretch>
            <a:fillRect/>
          </a:stretch>
        </p:blipFill>
        <p:spPr>
          <a:xfrm>
            <a:off x="4425696" y="1911096"/>
            <a:ext cx="292608" cy="292608"/>
          </a:xfrm>
          <a:prstGeom prst="rect">
            <a:avLst/>
          </a:prstGeom>
        </p:spPr>
      </p:pic>
      <p:sp>
        <p:nvSpPr>
          <p:cNvPr id="12" name="Text 8"/>
          <p:cNvSpPr txBox="1"/>
          <p:nvPr/>
        </p:nvSpPr>
        <p:spPr>
          <a:xfrm>
            <a:off x="4297680" y="2423160"/>
            <a:ext cx="3474720" cy="457200"/>
          </a:xfrm>
          <a:prstGeom prst="rect">
            <a:avLst/>
          </a:prstGeom>
          <a:noFill/>
          <a:ln/>
        </p:spPr>
        <p:txBody>
          <a:bodyPr wrap="square" lIns="0" tIns="0" rIns="0" bIns="0" rtlCol="0" anchor="t"/>
          <a:lstStyle/>
          <a:p>
            <a:pPr indent="0" marL="0">
              <a:buNone/>
            </a:pPr>
            <a:r>
              <a:rPr lang="en-US" sz="1500" b="1" dirty="0">
                <a:solidFill>
                  <a:srgbClr val="1A1A17"/>
                </a:solidFill>
                <a:latin typeface="Calibri" pitchFamily="34" charset="0"/>
                <a:ea typeface="Calibri" pitchFamily="34" charset="-122"/>
                <a:cs typeface="Calibri" pitchFamily="34" charset="-120"/>
              </a:rPr>
              <a:t>Wärmepumpe auf EU-Niveau</a:t>
            </a:r>
            <a:endParaRPr lang="en-US" sz="1500" dirty="0"/>
          </a:p>
        </p:txBody>
      </p:sp>
      <p:sp>
        <p:nvSpPr>
          <p:cNvPr id="13" name="Text 9"/>
          <p:cNvSpPr txBox="1"/>
          <p:nvPr/>
        </p:nvSpPr>
        <p:spPr>
          <a:xfrm>
            <a:off x="4297680" y="2880360"/>
            <a:ext cx="3474720" cy="457200"/>
          </a:xfrm>
          <a:prstGeom prst="rect">
            <a:avLst/>
          </a:prstGeom>
          <a:noFill/>
          <a:ln/>
        </p:spPr>
        <p:txBody>
          <a:bodyPr wrap="square" lIns="0" tIns="0" rIns="0" bIns="0" rtlCol="0" anchor="t"/>
          <a:lstStyle/>
          <a:p>
            <a:pPr indent="0" marL="0">
              <a:buNone/>
            </a:pPr>
            <a:r>
              <a:rPr lang="en-US" sz="1200" dirty="0">
                <a:solidFill>
                  <a:srgbClr val="56534B"/>
                </a:solidFill>
                <a:latin typeface="Calibri" pitchFamily="34" charset="0"/>
                <a:ea typeface="Calibri" pitchFamily="34" charset="-122"/>
                <a:cs typeface="Calibri" pitchFamily="34" charset="-120"/>
              </a:rPr>
              <a:t>16'660 € → 17.75 ct/kWh</a:t>
            </a:r>
            <a:endParaRPr lang="en-US" sz="1200" dirty="0"/>
          </a:p>
        </p:txBody>
      </p:sp>
      <p:sp>
        <p:nvSpPr>
          <p:cNvPr id="14" name="Shape 10"/>
          <p:cNvSpPr/>
          <p:nvPr/>
        </p:nvSpPr>
        <p:spPr>
          <a:xfrm>
            <a:off x="8046720" y="1783080"/>
            <a:ext cx="548640" cy="548640"/>
          </a:xfrm>
          <a:prstGeom prst="ellipse">
            <a:avLst/>
          </a:prstGeom>
          <a:solidFill>
            <a:srgbClr val="E4EEE3"/>
          </a:solidFill>
          <a:ln w="12700">
            <a:solidFill>
              <a:srgbClr val="E4EEE3"/>
            </a:solidFill>
            <a:prstDash val="solid"/>
          </a:ln>
        </p:spPr>
      </p:sp>
      <p:pic>
        <p:nvPicPr>
          <p:cNvPr id="15" name="Image 2" descr="preencoded.png">    </p:cNvPr>
          <p:cNvPicPr>
            <a:picLocks noChangeAspect="1"/>
          </p:cNvPicPr>
          <p:nvPr/>
        </p:nvPicPr>
        <p:blipFill>
          <a:blip r:embed="rId3"/>
          <a:stretch>
            <a:fillRect/>
          </a:stretch>
        </p:blipFill>
        <p:spPr>
          <a:xfrm>
            <a:off x="8174736" y="1911096"/>
            <a:ext cx="292608" cy="292608"/>
          </a:xfrm>
          <a:prstGeom prst="rect">
            <a:avLst/>
          </a:prstGeom>
        </p:spPr>
      </p:pic>
      <p:sp>
        <p:nvSpPr>
          <p:cNvPr id="16" name="Text 11"/>
          <p:cNvSpPr txBox="1"/>
          <p:nvPr/>
        </p:nvSpPr>
        <p:spPr>
          <a:xfrm>
            <a:off x="8046720" y="2423160"/>
            <a:ext cx="3474720" cy="457200"/>
          </a:xfrm>
          <a:prstGeom prst="rect">
            <a:avLst/>
          </a:prstGeom>
          <a:noFill/>
          <a:ln/>
        </p:spPr>
        <p:txBody>
          <a:bodyPr wrap="square" lIns="0" tIns="0" rIns="0" bIns="0" rtlCol="0" anchor="t"/>
          <a:lstStyle/>
          <a:p>
            <a:pPr indent="0" marL="0">
              <a:buNone/>
            </a:pPr>
            <a:r>
              <a:rPr lang="en-US" sz="1500" b="1" dirty="0">
                <a:solidFill>
                  <a:srgbClr val="1A1A17"/>
                </a:solidFill>
                <a:latin typeface="Calibri" pitchFamily="34" charset="0"/>
                <a:ea typeface="Calibri" pitchFamily="34" charset="-122"/>
                <a:cs typeface="Calibri" pitchFamily="34" charset="-120"/>
              </a:rPr>
              <a:t>Dichteschwelle berechnet, nicht gesetzt</a:t>
            </a:r>
            <a:endParaRPr lang="en-US" sz="1500" dirty="0"/>
          </a:p>
        </p:txBody>
      </p:sp>
      <p:sp>
        <p:nvSpPr>
          <p:cNvPr id="17" name="Text 12"/>
          <p:cNvSpPr txBox="1"/>
          <p:nvPr/>
        </p:nvSpPr>
        <p:spPr>
          <a:xfrm>
            <a:off x="8046720" y="2880360"/>
            <a:ext cx="3474720" cy="457200"/>
          </a:xfrm>
          <a:prstGeom prst="rect">
            <a:avLst/>
          </a:prstGeom>
          <a:noFill/>
          <a:ln/>
        </p:spPr>
        <p:txBody>
          <a:bodyPr wrap="square" lIns="0" tIns="0" rIns="0" bIns="0" rtlCol="0" anchor="t"/>
          <a:lstStyle/>
          <a:p>
            <a:pPr indent="0" marL="0">
              <a:buNone/>
            </a:pPr>
            <a:r>
              <a:rPr lang="en-US" sz="1200" dirty="0">
                <a:solidFill>
                  <a:srgbClr val="56534B"/>
                </a:solidFill>
                <a:latin typeface="Calibri" pitchFamily="34" charset="0"/>
                <a:ea typeface="Calibri" pitchFamily="34" charset="-122"/>
                <a:cs typeface="Calibri" pitchFamily="34" charset="-120"/>
              </a:rPr>
              <a:t>aus Trassenkosten und Budget</a:t>
            </a:r>
            <a:endParaRPr lang="en-US" sz="1200" dirty="0"/>
          </a:p>
        </p:txBody>
      </p:sp>
      <p:sp>
        <p:nvSpPr>
          <p:cNvPr id="18" name="Shape 13"/>
          <p:cNvSpPr/>
          <p:nvPr/>
        </p:nvSpPr>
        <p:spPr>
          <a:xfrm>
            <a:off x="548640" y="3566160"/>
            <a:ext cx="11064240" cy="2011680"/>
          </a:xfrm>
          <a:prstGeom prst="roundRect">
            <a:avLst>
              <a:gd name="adj" fmla="val 3636"/>
            </a:avLst>
          </a:prstGeom>
          <a:solidFill>
            <a:srgbClr val="E2E8ED"/>
          </a:solidFill>
          <a:ln w="12700">
            <a:solidFill>
              <a:srgbClr val="E2E8ED"/>
            </a:solidFill>
            <a:prstDash val="solid"/>
          </a:ln>
        </p:spPr>
      </p:sp>
      <p:sp>
        <p:nvSpPr>
          <p:cNvPr id="19" name="Text 14"/>
          <p:cNvSpPr txBox="1"/>
          <p:nvPr/>
        </p:nvSpPr>
        <p:spPr>
          <a:xfrm>
            <a:off x="731520" y="3657600"/>
            <a:ext cx="10698480" cy="320040"/>
          </a:xfrm>
          <a:prstGeom prst="rect">
            <a:avLst/>
          </a:prstGeom>
          <a:noFill/>
          <a:ln/>
        </p:spPr>
        <p:txBody>
          <a:bodyPr wrap="square" lIns="0" tIns="0" rIns="0" bIns="0" rtlCol="0" anchor="ctr"/>
          <a:lstStyle/>
          <a:p>
            <a:pPr indent="0" marL="0">
              <a:buNone/>
            </a:pPr>
            <a:r>
              <a:rPr lang="en-US" sz="1200" dirty="0">
                <a:solidFill>
                  <a:srgbClr val="1F5673"/>
                </a:solidFill>
                <a:latin typeface="Calibri" pitchFamily="34" charset="0"/>
                <a:ea typeface="Calibri" pitchFamily="34" charset="-122"/>
                <a:cs typeface="Calibri" pitchFamily="34" charset="-120"/>
              </a:rPr>
              <a:t>Wärmeliniendichte: wie viel Wärme ein Meter Straße im Jahr verkauft (MWh/m·a)</a:t>
            </a:r>
            <a:endParaRPr lang="en-US" sz="1200" dirty="0"/>
          </a:p>
        </p:txBody>
      </p:sp>
      <p:sp>
        <p:nvSpPr>
          <p:cNvPr id="20" name="Shape 15"/>
          <p:cNvSpPr/>
          <p:nvPr/>
        </p:nvSpPr>
        <p:spPr>
          <a:xfrm>
            <a:off x="731520" y="4114800"/>
            <a:ext cx="2377440" cy="777240"/>
          </a:xfrm>
          <a:prstGeom prst="roundRect">
            <a:avLst>
              <a:gd name="adj" fmla="val 11765"/>
            </a:avLst>
          </a:prstGeom>
          <a:solidFill>
            <a:srgbClr val="FFFFFF"/>
          </a:solidFill>
          <a:ln w="19050">
            <a:solidFill>
              <a:srgbClr val="1F5673"/>
            </a:solidFill>
            <a:prstDash val="solid"/>
          </a:ln>
        </p:spPr>
      </p:sp>
      <p:sp>
        <p:nvSpPr>
          <p:cNvPr id="21" name="Text 16"/>
          <p:cNvSpPr txBox="1"/>
          <p:nvPr/>
        </p:nvSpPr>
        <p:spPr>
          <a:xfrm>
            <a:off x="731520" y="4114800"/>
            <a:ext cx="2377440" cy="777240"/>
          </a:xfrm>
          <a:prstGeom prst="rect">
            <a:avLst/>
          </a:prstGeom>
          <a:noFill/>
          <a:ln/>
        </p:spPr>
        <p:txBody>
          <a:bodyPr wrap="square" lIns="0" tIns="0" rIns="0" bIns="0" rtlCol="0" anchor="ctr"/>
          <a:lstStyle/>
          <a:p>
            <a:pPr algn="ctr" indent="0" marL="0">
              <a:buNone/>
            </a:pPr>
            <a:r>
              <a:rPr lang="en-US" sz="1700" b="1" dirty="0">
                <a:solidFill>
                  <a:srgbClr val="1F5673"/>
                </a:solidFill>
                <a:latin typeface="Cambria" pitchFamily="34" charset="0"/>
                <a:ea typeface="Cambria" pitchFamily="34" charset="-122"/>
                <a:cs typeface="Cambria" pitchFamily="34" charset="-120"/>
              </a:rPr>
              <a:t>erreichte Dichte</a:t>
            </a:r>
            <a:endParaRPr lang="en-US" sz="1700" dirty="0"/>
          </a:p>
        </p:txBody>
      </p:sp>
      <p:sp>
        <p:nvSpPr>
          <p:cNvPr id="22" name="Text 17"/>
          <p:cNvSpPr txBox="1"/>
          <p:nvPr/>
        </p:nvSpPr>
        <p:spPr>
          <a:xfrm>
            <a:off x="3246120" y="4114800"/>
            <a:ext cx="411480" cy="777240"/>
          </a:xfrm>
          <a:prstGeom prst="rect">
            <a:avLst/>
          </a:prstGeom>
          <a:noFill/>
          <a:ln/>
        </p:spPr>
        <p:txBody>
          <a:bodyPr wrap="square" lIns="0" tIns="0" rIns="0" bIns="0" rtlCol="0" anchor="ctr"/>
          <a:lstStyle/>
          <a:p>
            <a:pPr algn="ctr" indent="0" marL="0">
              <a:buNone/>
            </a:pPr>
            <a:r>
              <a:rPr lang="en-US" sz="2600" b="1" dirty="0">
                <a:solidFill>
                  <a:srgbClr val="1A1A17"/>
                </a:solidFill>
                <a:latin typeface="Cambria" pitchFamily="34" charset="0"/>
                <a:ea typeface="Cambria" pitchFamily="34" charset="-122"/>
                <a:cs typeface="Cambria" pitchFamily="34" charset="-120"/>
              </a:rPr>
              <a:t>&gt;</a:t>
            </a:r>
            <a:endParaRPr lang="en-US" sz="2600" dirty="0"/>
          </a:p>
        </p:txBody>
      </p:sp>
      <p:sp>
        <p:nvSpPr>
          <p:cNvPr id="23" name="Shape 18"/>
          <p:cNvSpPr/>
          <p:nvPr/>
        </p:nvSpPr>
        <p:spPr>
          <a:xfrm>
            <a:off x="3794760" y="4114800"/>
            <a:ext cx="3063240" cy="777240"/>
          </a:xfrm>
          <a:prstGeom prst="roundRect">
            <a:avLst>
              <a:gd name="adj" fmla="val 11765"/>
            </a:avLst>
          </a:prstGeom>
          <a:solidFill>
            <a:srgbClr val="FFFFFF"/>
          </a:solidFill>
          <a:ln w="19050">
            <a:solidFill>
              <a:srgbClr val="9A5B12"/>
            </a:solidFill>
            <a:prstDash val="solid"/>
          </a:ln>
        </p:spPr>
      </p:sp>
      <p:sp>
        <p:nvSpPr>
          <p:cNvPr id="24" name="Text 19"/>
          <p:cNvSpPr txBox="1"/>
          <p:nvPr/>
        </p:nvSpPr>
        <p:spPr>
          <a:xfrm>
            <a:off x="3794760" y="4114800"/>
            <a:ext cx="3063240" cy="777240"/>
          </a:xfrm>
          <a:prstGeom prst="rect">
            <a:avLst/>
          </a:prstGeom>
          <a:noFill/>
          <a:ln/>
        </p:spPr>
        <p:txBody>
          <a:bodyPr wrap="square" lIns="0" tIns="0" rIns="0" bIns="0" rtlCol="0" anchor="ctr"/>
          <a:lstStyle/>
          <a:p>
            <a:pPr algn="ctr" indent="0" marL="0">
              <a:buNone/>
            </a:pPr>
            <a:r>
              <a:rPr lang="en-US" sz="1700" b="1" dirty="0">
                <a:solidFill>
                  <a:srgbClr val="9A5B12"/>
                </a:solidFill>
                <a:latin typeface="Cambria" pitchFamily="34" charset="0"/>
                <a:ea typeface="Cambria" pitchFamily="34" charset="-122"/>
                <a:cs typeface="Cambria" pitchFamily="34" charset="-120"/>
              </a:rPr>
              <a:t>Netzkosten je Meter und Jahr</a:t>
            </a:r>
            <a:endParaRPr lang="en-US" sz="1700" dirty="0"/>
          </a:p>
        </p:txBody>
      </p:sp>
      <p:sp>
        <p:nvSpPr>
          <p:cNvPr id="25" name="Text 20"/>
          <p:cNvSpPr txBox="1"/>
          <p:nvPr/>
        </p:nvSpPr>
        <p:spPr>
          <a:xfrm>
            <a:off x="6995160" y="4114800"/>
            <a:ext cx="411480" cy="777240"/>
          </a:xfrm>
          <a:prstGeom prst="rect">
            <a:avLst/>
          </a:prstGeom>
          <a:noFill/>
          <a:ln/>
        </p:spPr>
        <p:txBody>
          <a:bodyPr wrap="square" lIns="0" tIns="0" rIns="0" bIns="0" rtlCol="0" anchor="ctr"/>
          <a:lstStyle/>
          <a:p>
            <a:pPr algn="ctr" indent="0" marL="0">
              <a:buNone/>
            </a:pPr>
            <a:r>
              <a:rPr lang="en-US" sz="2600" b="1" dirty="0">
                <a:solidFill>
                  <a:srgbClr val="1A1A17"/>
                </a:solidFill>
                <a:latin typeface="Cambria" pitchFamily="34" charset="0"/>
                <a:ea typeface="Cambria" pitchFamily="34" charset="-122"/>
                <a:cs typeface="Cambria" pitchFamily="34" charset="-120"/>
              </a:rPr>
              <a:t>÷</a:t>
            </a:r>
            <a:endParaRPr lang="en-US" sz="2600" dirty="0"/>
          </a:p>
        </p:txBody>
      </p:sp>
      <p:sp>
        <p:nvSpPr>
          <p:cNvPr id="26" name="Shape 21"/>
          <p:cNvSpPr/>
          <p:nvPr/>
        </p:nvSpPr>
        <p:spPr>
          <a:xfrm>
            <a:off x="7543800" y="4114800"/>
            <a:ext cx="1371600" cy="777240"/>
          </a:xfrm>
          <a:prstGeom prst="roundRect">
            <a:avLst>
              <a:gd name="adj" fmla="val 11765"/>
            </a:avLst>
          </a:prstGeom>
          <a:solidFill>
            <a:srgbClr val="FFFFFF"/>
          </a:solidFill>
          <a:ln w="19050">
            <a:solidFill>
              <a:srgbClr val="0F5257"/>
            </a:solidFill>
            <a:prstDash val="solid"/>
          </a:ln>
        </p:spPr>
      </p:sp>
      <p:sp>
        <p:nvSpPr>
          <p:cNvPr id="27" name="Text 22"/>
          <p:cNvSpPr txBox="1"/>
          <p:nvPr/>
        </p:nvSpPr>
        <p:spPr>
          <a:xfrm>
            <a:off x="7543800" y="4114800"/>
            <a:ext cx="1371600" cy="777240"/>
          </a:xfrm>
          <a:prstGeom prst="rect">
            <a:avLst/>
          </a:prstGeom>
          <a:noFill/>
          <a:ln/>
        </p:spPr>
        <p:txBody>
          <a:bodyPr wrap="square" lIns="0" tIns="0" rIns="0" bIns="0" rtlCol="0" anchor="ctr"/>
          <a:lstStyle/>
          <a:p>
            <a:pPr algn="ctr" indent="0" marL="0">
              <a:buNone/>
            </a:pPr>
            <a:r>
              <a:rPr lang="en-US" sz="1700" b="1" dirty="0">
                <a:solidFill>
                  <a:srgbClr val="0F5257"/>
                </a:solidFill>
                <a:latin typeface="Cambria" pitchFamily="34" charset="0"/>
                <a:ea typeface="Cambria" pitchFamily="34" charset="-122"/>
                <a:cs typeface="Cambria" pitchFamily="34" charset="-120"/>
              </a:rPr>
              <a:t>Budget</a:t>
            </a:r>
            <a:endParaRPr lang="en-US" sz="1700" dirty="0"/>
          </a:p>
        </p:txBody>
      </p:sp>
      <p:sp>
        <p:nvSpPr>
          <p:cNvPr id="28" name="Text 23"/>
          <p:cNvSpPr txBox="1"/>
          <p:nvPr/>
        </p:nvSpPr>
        <p:spPr>
          <a:xfrm>
            <a:off x="9052560" y="4114800"/>
            <a:ext cx="2240280" cy="777240"/>
          </a:xfrm>
          <a:prstGeom prst="rect">
            <a:avLst/>
          </a:prstGeom>
          <a:noFill/>
          <a:ln/>
        </p:spPr>
        <p:txBody>
          <a:bodyPr wrap="square" lIns="0" tIns="0" rIns="0" bIns="0" rtlCol="0" anchor="ctr"/>
          <a:lstStyle/>
          <a:p>
            <a:pPr algn="ctr" indent="0" marL="0">
              <a:buNone/>
            </a:pPr>
            <a:r>
              <a:rPr lang="en-US" sz="1700" b="1" dirty="0">
                <a:solidFill>
                  <a:srgbClr val="28633B"/>
                </a:solidFill>
                <a:latin typeface="Cambria" pitchFamily="34" charset="0"/>
                <a:ea typeface="Cambria" pitchFamily="34" charset="-122"/>
                <a:cs typeface="Cambria" pitchFamily="34" charset="-120"/>
              </a:rPr>
              <a:t>→ Netz trägt</a:t>
            </a:r>
            <a:endParaRPr lang="en-US" sz="1700" dirty="0"/>
          </a:p>
        </p:txBody>
      </p:sp>
      <p:sp>
        <p:nvSpPr>
          <p:cNvPr id="29" name="Shape 24"/>
          <p:cNvSpPr/>
          <p:nvPr/>
        </p:nvSpPr>
        <p:spPr>
          <a:xfrm>
            <a:off x="3794760" y="4919472"/>
            <a:ext cx="5120640" cy="18288"/>
          </a:xfrm>
          <a:prstGeom prst="rect">
            <a:avLst/>
          </a:prstGeom>
          <a:solidFill>
            <a:srgbClr val="9A5B12"/>
          </a:solidFill>
          <a:ln w="12700">
            <a:solidFill>
              <a:srgbClr val="9A5B12"/>
            </a:solidFill>
            <a:prstDash val="solid"/>
          </a:ln>
        </p:spPr>
      </p:sp>
      <p:sp>
        <p:nvSpPr>
          <p:cNvPr id="30" name="Shape 25"/>
          <p:cNvSpPr/>
          <p:nvPr/>
        </p:nvSpPr>
        <p:spPr>
          <a:xfrm>
            <a:off x="3794760" y="4864608"/>
            <a:ext cx="18288" cy="54864"/>
          </a:xfrm>
          <a:prstGeom prst="rect">
            <a:avLst/>
          </a:prstGeom>
          <a:solidFill>
            <a:srgbClr val="9A5B12"/>
          </a:solidFill>
          <a:ln w="12700">
            <a:solidFill>
              <a:srgbClr val="9A5B12"/>
            </a:solidFill>
            <a:prstDash val="solid"/>
          </a:ln>
        </p:spPr>
      </p:sp>
      <p:sp>
        <p:nvSpPr>
          <p:cNvPr id="31" name="Shape 26"/>
          <p:cNvSpPr/>
          <p:nvPr/>
        </p:nvSpPr>
        <p:spPr>
          <a:xfrm>
            <a:off x="8915400" y="4864608"/>
            <a:ext cx="18288" cy="54864"/>
          </a:xfrm>
          <a:prstGeom prst="rect">
            <a:avLst/>
          </a:prstGeom>
          <a:solidFill>
            <a:srgbClr val="9A5B12"/>
          </a:solidFill>
          <a:ln w="12700">
            <a:solidFill>
              <a:srgbClr val="9A5B12"/>
            </a:solidFill>
            <a:prstDash val="solid"/>
          </a:ln>
        </p:spPr>
      </p:sp>
      <p:sp>
        <p:nvSpPr>
          <p:cNvPr id="32" name="Shape 27"/>
          <p:cNvSpPr/>
          <p:nvPr/>
        </p:nvSpPr>
        <p:spPr>
          <a:xfrm>
            <a:off x="6355080" y="4919472"/>
            <a:ext cx="18288" cy="73152"/>
          </a:xfrm>
          <a:prstGeom prst="rect">
            <a:avLst/>
          </a:prstGeom>
          <a:solidFill>
            <a:srgbClr val="9A5B12"/>
          </a:solidFill>
          <a:ln w="12700">
            <a:solidFill>
              <a:srgbClr val="9A5B12"/>
            </a:solidFill>
            <a:prstDash val="solid"/>
          </a:ln>
        </p:spPr>
      </p:sp>
      <p:sp>
        <p:nvSpPr>
          <p:cNvPr id="33" name="Text 28"/>
          <p:cNvSpPr txBox="1"/>
          <p:nvPr/>
        </p:nvSpPr>
        <p:spPr>
          <a:xfrm>
            <a:off x="2880360" y="4992624"/>
            <a:ext cx="6949440" cy="256032"/>
          </a:xfrm>
          <a:prstGeom prst="rect">
            <a:avLst/>
          </a:prstGeom>
          <a:noFill/>
          <a:ln/>
        </p:spPr>
        <p:txBody>
          <a:bodyPr wrap="square" lIns="0" tIns="0" rIns="0" bIns="0" rtlCol="0" anchor="ctr"/>
          <a:lstStyle/>
          <a:p>
            <a:pPr algn="ctr" indent="0" marL="0">
              <a:buNone/>
            </a:pPr>
            <a:r>
              <a:rPr lang="en-US" sz="1150" b="1" dirty="0">
                <a:solidFill>
                  <a:srgbClr val="9A5B12"/>
                </a:solidFill>
                <a:latin typeface="Calibri" pitchFamily="34" charset="0"/>
                <a:ea typeface="Calibri" pitchFamily="34" charset="-122"/>
                <a:cs typeface="Calibri" pitchFamily="34" charset="-120"/>
              </a:rPr>
              <a:t>= Schwellenwert, den das Modell ausrechnet</a:t>
            </a:r>
            <a:endParaRPr lang="en-US" sz="1150" dirty="0"/>
          </a:p>
        </p:txBody>
      </p:sp>
      <p:sp>
        <p:nvSpPr>
          <p:cNvPr id="34" name="Text 29"/>
          <p:cNvSpPr txBox="1"/>
          <p:nvPr/>
        </p:nvSpPr>
        <p:spPr>
          <a:xfrm>
            <a:off x="731520" y="5285232"/>
            <a:ext cx="10698480" cy="274320"/>
          </a:xfrm>
          <a:prstGeom prst="rect">
            <a:avLst/>
          </a:prstGeom>
          <a:noFill/>
          <a:ln/>
        </p:spPr>
        <p:txBody>
          <a:bodyPr wrap="square" lIns="0" tIns="0" rIns="0" bIns="0" rtlCol="0" anchor="ctr"/>
          <a:lstStyle/>
          <a:p>
            <a:pPr indent="0" marL="0">
              <a:buNone/>
            </a:pPr>
            <a:r>
              <a:rPr lang="en-US" sz="1100" dirty="0">
                <a:solidFill>
                  <a:srgbClr val="56534B"/>
                </a:solidFill>
                <a:latin typeface="Calibri" pitchFamily="34" charset="0"/>
                <a:ea typeface="Calibri" pitchFamily="34" charset="-122"/>
                <a:cs typeface="Calibri" pitchFamily="34" charset="-120"/>
              </a:rPr>
              <a:t>Kleines Budget → hohe Schwelle. 36 Parameterkombinationen, Skript offen.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BEFUND 1</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Die Wärmequelle entscheidet, nicht die Dichte</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7</a:t>
            </a:r>
            <a:endParaRPr lang="en-US" sz="900" dirty="0"/>
          </a:p>
        </p:txBody>
      </p:sp>
      <p:graphicFrame>
        <p:nvGraphicFramePr>
          <p:cNvPr id="6" name="Chart 0" descr=""/>
          <p:cNvGraphicFramePr/>
          <p:nvPr/>
        </p:nvGraphicFramePr>
        <p:xfrm>
          <a:off x="457200" y="1737360"/>
          <a:ext cx="1124712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8" name="Text 5"/>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1F5673"/>
                </a:solidFill>
                <a:latin typeface="Calibri" pitchFamily="34" charset="0"/>
                <a:ea typeface="Calibri" pitchFamily="34" charset="-122"/>
                <a:cs typeface="Calibri" pitchFamily="34" charset="-120"/>
              </a:rPr>
              <a:t>Abwärme trägt fast überall, Großwärmepumpe nirgends: </a:t>
            </a:r>
            <a:pPr indent="0" marL="0">
              <a:buNone/>
            </a:pPr>
            <a:r>
              <a:rPr lang="en-US" sz="1250" dirty="0">
                <a:solidFill>
                  <a:srgbClr val="1A1A17"/>
                </a:solidFill>
                <a:latin typeface="Calibri" pitchFamily="34" charset="0"/>
                <a:ea typeface="Calibri" pitchFamily="34" charset="-122"/>
                <a:cs typeface="Calibri" pitchFamily="34" charset="-120"/>
              </a:rPr>
              <a:t>Schwelle GroßWP/Geothermie 5.4 · 5.6 · 5.8 · 20 · &gt;50 – kein Quartier erreicht sie.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BEFUND 4</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Der Vergleichsmaßstab erzeugt einen ganzen Pfad</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8</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1627632"/>
                <a:gridCol w="786384"/>
                <a:gridCol w="786384"/>
                <a:gridCol w="786384"/>
                <a:gridCol w="786384"/>
                <a:gridCol w="786384"/>
                <a:gridCol w="786384"/>
                <a:gridCol w="786384"/>
                <a:gridCol w="786384"/>
                <a:gridCol w="786384"/>
                <a:gridCol w="786384"/>
                <a:gridCol w="786384"/>
                <a:gridCol w="786384"/>
              </a:tblGrid>
              <a:tr h="310896">
                <a:tc>
                  <a:txBody>
                    <a:bodyPr/>
                    <a:lstStyle/>
                    <a:p>
                      <a:pPr indent="0" marL="0">
                        <a:buNone/>
                      </a:pPr>
                      <a:endParaRPr lang="en-US" sz="1200" dirty="0">
                        <a:latin typeface="Calibri" charset="0"/>
                        <a:ea typeface="Calibri" charset="0"/>
                        <a:cs typeface="Calibr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gridSpan="4">
                  <a:txBody>
                    <a:bodyPr/>
                    <a:lstStyle/>
                    <a:p>
                      <a:pPr algn="ctr" indent="0" marL="0">
                        <a:buNone/>
                      </a:pPr>
                      <a:r>
                        <a:rPr lang="en-US" sz="1100" b="1" dirty="0">
                          <a:solidFill>
                            <a:srgbClr val="1A1A17"/>
                          </a:solidFill>
                          <a:latin typeface="Calibri" pitchFamily="34" charset="0"/>
                          <a:ea typeface="Calibri" pitchFamily="34" charset="-122"/>
                          <a:cs typeface="Calibri" pitchFamily="34" charset="-120"/>
                        </a:rPr>
                        <a:t>gegen WP-Referenz (EU) · 17.75 ct</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hMerge="1">
                  <a:tcPr/>
                </a:tc>
                <a:tc hMerge="1">
                  <a:tcPr/>
                </a:tc>
                <a:tc hMerge="1">
                  <a:tcPr/>
                </a:tc>
                <a:tc gridSpan="4">
                  <a:txBody>
                    <a:bodyPr/>
                    <a:lstStyle/>
                    <a:p>
                      <a:pPr algn="ctr" indent="0" marL="0">
                        <a:buNone/>
                      </a:pPr>
                      <a:r>
                        <a:rPr lang="en-US" sz="1100" b="1" dirty="0">
                          <a:solidFill>
                            <a:srgbClr val="1A1A17"/>
                          </a:solidFill>
                          <a:latin typeface="Calibri" pitchFamily="34" charset="0"/>
                          <a:ea typeface="Calibri" pitchFamily="34" charset="-122"/>
                          <a:cs typeface="Calibri" pitchFamily="34" charset="-120"/>
                        </a:rPr>
                        <a:t>gegen Gasheizung · 21.51 ct</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hMerge="1">
                  <a:tcPr/>
                </a:tc>
                <a:tc hMerge="1">
                  <a:tcPr/>
                </a:tc>
                <a:tc hMerge="1">
                  <a:tcPr/>
                </a:tc>
                <a:tc gridSpan="4">
                  <a:txBody>
                    <a:bodyPr/>
                    <a:lstStyle/>
                    <a:p>
                      <a:pPr algn="ctr" indent="0" marL="0">
                        <a:buNone/>
                      </a:pPr>
                      <a:r>
                        <a:rPr lang="en-US" sz="1100" b="1" dirty="0">
                          <a:solidFill>
                            <a:srgbClr val="1A1A17"/>
                          </a:solidFill>
                          <a:latin typeface="Calibri" pitchFamily="34" charset="0"/>
                          <a:ea typeface="Calibri" pitchFamily="34" charset="-122"/>
                          <a:cs typeface="Calibri" pitchFamily="34" charset="-120"/>
                        </a:rPr>
                        <a:t>gegen WP heute (DE) · 23.73 ct</a:t>
                      </a:r>
                      <a:endParaRPr lang="en-US" sz="11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hMerge="1">
                  <a:tcPr/>
                </a:tc>
                <a:tc hMerge="1">
                  <a:tcPr/>
                </a:tc>
                <a:tc hMerge="1">
                  <a:tcPr/>
                </a:tc>
              </a:tr>
              <a:tr h="237744">
                <a:tc>
                  <a:txBody>
                    <a:bodyPr/>
                    <a:lstStyle/>
                    <a:p>
                      <a:pPr indent="0" marL="0">
                        <a:buNone/>
                      </a:pPr>
                      <a:endParaRPr lang="en-US" sz="1200" dirty="0">
                        <a:latin typeface="Calibri" charset="0"/>
                        <a:ea typeface="Calibri" charset="0"/>
                        <a:cs typeface="Calibri" charset="0"/>
                      </a:endParaRPr>
                    </a:p>
                  </a:txBody>
                  <a:tcPr marL="91440" marR="91440" marT="45720" marB="45720">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Abwärme</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GroßWP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Gas→Abw</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Gas→GWP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Abwärme</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GroßWP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Gas→Abw</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Gas→GWP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Abwärme</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GroßWP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Gas→Abw</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r>
                        <a:rPr lang="en-US" sz="900" dirty="0">
                          <a:solidFill>
                            <a:srgbClr val="56534B"/>
                          </a:solidFill>
                          <a:latin typeface="Calibri" pitchFamily="34" charset="0"/>
                          <a:ea typeface="Calibri" pitchFamily="34" charset="-122"/>
                          <a:cs typeface="Calibri" pitchFamily="34" charset="-120"/>
                        </a:rPr>
                        <a:t>Gas→GWP</a:t>
                      </a:r>
                      <a:endParaRPr lang="en-US" sz="9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r>
              <a:tr h="384048">
                <a:tc>
                  <a:txBody>
                    <a:bodyPr/>
                    <a:lstStyle/>
                    <a:p>
                      <a:pPr indent="0" marL="0">
                        <a:buNone/>
                      </a:pPr>
                      <a:r>
                        <a:rPr lang="en-US" sz="1050" dirty="0">
                          <a:solidFill>
                            <a:srgbClr val="1A1A17"/>
                          </a:solidFill>
                          <a:latin typeface="Calibri" pitchFamily="34" charset="0"/>
                          <a:ea typeface="Calibri" pitchFamily="34" charset="-122"/>
                          <a:cs typeface="Calibri" pitchFamily="34" charset="-120"/>
                        </a:rPr>
                        <a:t>EFH-Gebiet</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r>
              <a:tr h="384048">
                <a:tc>
                  <a:txBody>
                    <a:bodyPr/>
                    <a:lstStyle/>
                    <a:p>
                      <a:pPr indent="0" marL="0">
                        <a:buNone/>
                      </a:pPr>
                      <a:r>
                        <a:rPr lang="en-US" sz="1050" dirty="0">
                          <a:solidFill>
                            <a:srgbClr val="1A1A17"/>
                          </a:solidFill>
                          <a:latin typeface="Calibri" pitchFamily="34" charset="0"/>
                          <a:ea typeface="Calibri" pitchFamily="34" charset="-122"/>
                          <a:cs typeface="Calibri" pitchFamily="34" charset="-120"/>
                        </a:rPr>
                        <a:t>Reihenhaus</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r>
              <a:tr h="384048">
                <a:tc>
                  <a:txBody>
                    <a:bodyPr/>
                    <a:lstStyle/>
                    <a:p>
                      <a:pPr indent="0" marL="0">
                        <a:buNone/>
                      </a:pPr>
                      <a:r>
                        <a:rPr lang="en-US" sz="1050" dirty="0">
                          <a:solidFill>
                            <a:srgbClr val="1A1A17"/>
                          </a:solidFill>
                          <a:latin typeface="Calibri" pitchFamily="34" charset="0"/>
                          <a:ea typeface="Calibri" pitchFamily="34" charset="-122"/>
                          <a:cs typeface="Calibri" pitchFamily="34" charset="-120"/>
                        </a:rPr>
                        <a:t>Kleines MFH, 5 WE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r>
              <a:tr h="384048">
                <a:tc>
                  <a:txBody>
                    <a:bodyPr/>
                    <a:lstStyle/>
                    <a:p>
                      <a:pPr indent="0" marL="0">
                        <a:buNone/>
                      </a:pPr>
                      <a:r>
                        <a:rPr lang="en-US" sz="1050" dirty="0">
                          <a:solidFill>
                            <a:srgbClr val="1A1A17"/>
                          </a:solidFill>
                          <a:latin typeface="Calibri" pitchFamily="34" charset="0"/>
                          <a:ea typeface="Calibri" pitchFamily="34" charset="-122"/>
                          <a:cs typeface="Calibri" pitchFamily="34" charset="-120"/>
                        </a:rPr>
                        <a:t>Gründerzeitblock</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r>
              <a:tr h="384048">
                <a:tc>
                  <a:txBody>
                    <a:bodyPr/>
                    <a:lstStyle/>
                    <a:p>
                      <a:pPr indent="0" marL="0">
                        <a:buNone/>
                      </a:pPr>
                      <a:r>
                        <a:rPr lang="en-US" sz="1050" dirty="0">
                          <a:solidFill>
                            <a:srgbClr val="1A1A17"/>
                          </a:solidFill>
                          <a:latin typeface="Calibri" pitchFamily="34" charset="0"/>
                          <a:ea typeface="Calibri" pitchFamily="34" charset="-122"/>
                          <a:cs typeface="Calibri" pitchFamily="34" charset="-120"/>
                        </a:rPr>
                        <a:t>Plattenbau-Zeile</a:t>
                      </a:r>
                      <a:endParaRPr lang="en-US" sz="105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r>
                        <a:rPr lang="en-US" sz="1200" b="1" dirty="0">
                          <a:solidFill>
                            <a:srgbClr val="042C5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85B7E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F1FB"/>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0DD97"/>
                    </a:solidFill>
                  </a:tcPr>
                </a:tc>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3DE"/>
                    </a:solidFill>
                  </a:tcPr>
                </a:tc>
              </a:tr>
            </a:tbl>
          </a:graphicData>
        </a:graphic>
      </p:graphicFrame>
      <p:sp>
        <p:nvSpPr>
          <p:cNvPr id="7" name="Text 4"/>
          <p:cNvSpPr txBox="1"/>
          <p:nvPr/>
        </p:nvSpPr>
        <p:spPr>
          <a:xfrm>
            <a:off x="548640" y="4434840"/>
            <a:ext cx="11064240" cy="274320"/>
          </a:xfrm>
          <a:prstGeom prst="rect">
            <a:avLst/>
          </a:prstGeom>
          <a:noFill/>
          <a:ln/>
        </p:spPr>
        <p:txBody>
          <a:bodyPr wrap="square" lIns="0" tIns="0" rIns="0" bIns="0" rtlCol="0" anchor="ctr"/>
          <a:lstStyle/>
          <a:p>
            <a:pPr indent="0" marL="0">
              <a:buNone/>
            </a:pPr>
            <a:r>
              <a:rPr lang="en-US" sz="1100" b="1" dirty="0">
                <a:solidFill>
                  <a:srgbClr val="3B6D11"/>
                </a:solidFill>
                <a:latin typeface="Calibri" pitchFamily="34" charset="0"/>
                <a:ea typeface="Calibri" pitchFamily="34" charset="-122"/>
                <a:cs typeface="Calibri" pitchFamily="34" charset="-120"/>
              </a:rPr>
              <a:t>Grün: </a:t>
            </a:r>
            <a:pPr indent="0" marL="0">
              <a:buNone/>
            </a:pPr>
            <a:r>
              <a:rPr lang="en-US" sz="1100" dirty="0">
                <a:solidFill>
                  <a:srgbClr val="56534B"/>
                </a:solidFill>
                <a:latin typeface="Calibri" pitchFamily="34" charset="0"/>
                <a:ea typeface="Calibri" pitchFamily="34" charset="-122"/>
                <a:cs typeface="Calibri" pitchFamily="34" charset="-120"/>
              </a:rPr>
              <a:t>das Netz trägt.   </a:t>
            </a:r>
            <a:pPr indent="0" marL="0">
              <a:buNone/>
            </a:pPr>
            <a:r>
              <a:rPr lang="en-US" sz="1100" b="1" dirty="0">
                <a:solidFill>
                  <a:srgbClr val="185FA5"/>
                </a:solidFill>
                <a:latin typeface="Calibri" pitchFamily="34" charset="0"/>
                <a:ea typeface="Calibri" pitchFamily="34" charset="-122"/>
                <a:cs typeface="Calibri" pitchFamily="34" charset="-120"/>
              </a:rPr>
              <a:t>Blau: </a:t>
            </a:r>
            <a:pPr indent="0" marL="0">
              <a:buNone/>
            </a:pPr>
            <a:r>
              <a:rPr lang="en-US" sz="1100" dirty="0">
                <a:solidFill>
                  <a:srgbClr val="56534B"/>
                </a:solidFill>
                <a:latin typeface="Calibri" pitchFamily="34" charset="0"/>
                <a:ea typeface="Calibri" pitchFamily="34" charset="-122"/>
                <a:cs typeface="Calibri" pitchFamily="34" charset="-120"/>
              </a:rPr>
              <a:t>die Wärmepumpe gewinnt.   </a:t>
            </a:r>
            <a:pPr indent="0" marL="0">
              <a:buNone/>
            </a:pPr>
            <a:r>
              <a:rPr lang="en-US" sz="1100" b="1" dirty="0">
                <a:solidFill>
                  <a:srgbClr val="042C53"/>
                </a:solidFill>
                <a:latin typeface="Calibri" pitchFamily="34" charset="0"/>
                <a:ea typeface="Calibri" pitchFamily="34" charset="-122"/>
                <a:cs typeface="Calibri" pitchFamily="34" charset="-120"/>
              </a:rPr>
              <a:t>×: </a:t>
            </a:r>
            <a:pPr indent="0" marL="0">
              <a:buNone/>
            </a:pPr>
            <a:r>
              <a:rPr lang="en-US" sz="1100" dirty="0">
                <a:solidFill>
                  <a:srgbClr val="56534B"/>
                </a:solidFill>
                <a:latin typeface="Calibri" pitchFamily="34" charset="0"/>
                <a:ea typeface="Calibri" pitchFamily="34" charset="-122"/>
                <a:cs typeface="Calibri" pitchFamily="34" charset="-120"/>
              </a:rPr>
              <a:t>negatives Budget – bei keiner Dichte erreichbar.   Je kräftiger der Ton, desto eindeutiger.</a:t>
            </a:r>
            <a:endParaRPr lang="en-US" sz="1100" dirty="0"/>
          </a:p>
        </p:txBody>
      </p:sp>
      <p:sp>
        <p:nvSpPr>
          <p:cNvPr id="8" name="Text 5"/>
          <p:cNvSpPr txBox="1"/>
          <p:nvPr/>
        </p:nvSpPr>
        <p:spPr>
          <a:xfrm>
            <a:off x="548640" y="4800600"/>
            <a:ext cx="11064240" cy="365760"/>
          </a:xfrm>
          <a:prstGeom prst="rect">
            <a:avLst/>
          </a:prstGeom>
          <a:noFill/>
          <a:ln/>
        </p:spPr>
        <p:txBody>
          <a:bodyPr wrap="square" lIns="0" tIns="0" rIns="0" bIns="0" rtlCol="0" anchor="ctr"/>
          <a:lstStyle/>
          <a:p>
            <a:pPr indent="0" marL="0">
              <a:buNone/>
            </a:pPr>
            <a:r>
              <a:rPr lang="en-US" sz="1500" i="1" dirty="0">
                <a:solidFill>
                  <a:srgbClr val="1A1A17"/>
                </a:solidFill>
                <a:latin typeface="Cambria" pitchFamily="34" charset="0"/>
                <a:ea typeface="Cambria" pitchFamily="34" charset="-122"/>
                <a:cs typeface="Cambria" pitchFamily="34" charset="-120"/>
              </a:rPr>
              <a:t>Faktor 1.8 bis 5 zwischen links und rechts. Der Hochlauf verschärft das.</a:t>
            </a:r>
            <a:endParaRPr lang="en-US" sz="1500" dirty="0"/>
          </a:p>
        </p:txBody>
      </p:sp>
      <p:sp>
        <p:nvSpPr>
          <p:cNvPr id="9" name="Shape 6"/>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10" name="Text 7"/>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7A2E2E"/>
                </a:solidFill>
                <a:latin typeface="Calibri" pitchFamily="34" charset="0"/>
                <a:ea typeface="Calibri" pitchFamily="34" charset="-122"/>
                <a:cs typeface="Calibri" pitchFamily="34" charset="-120"/>
              </a:rPr>
              <a:t>Die Kernbotschaften:</a:t>
            </a:r>
            <a:endParaRPr lang="en-US" sz="1250" dirty="0"/>
          </a:p>
          <a:p>
            <a:pPr indent="0" marL="0">
              <a:buNone/>
            </a:pPr>
            <a:r>
              <a:rPr lang="en-US" sz="1250" b="1" dirty="0">
                <a:solidFill>
                  <a:srgbClr val="7A2E2E"/>
                </a:solidFill>
                <a:latin typeface="Calibri" pitchFamily="34" charset="0"/>
                <a:ea typeface="Calibri" pitchFamily="34" charset="-122"/>
                <a:cs typeface="Calibri" pitchFamily="34" charset="-120"/>
              </a:rPr>
              <a:t>– </a:t>
            </a:r>
            <a:pPr indent="0" marL="0">
              <a:buNone/>
            </a:pPr>
            <a:r>
              <a:rPr lang="en-US" sz="1250" dirty="0">
                <a:solidFill>
                  <a:srgbClr val="1A1A17"/>
                </a:solidFill>
                <a:latin typeface="Calibri" pitchFamily="34" charset="0"/>
                <a:ea typeface="Calibri" pitchFamily="34" charset="-122"/>
                <a:cs typeface="Calibri" pitchFamily="34" charset="-120"/>
              </a:rPr>
              <a:t>Das deutsche WP-Preisniveau subventioniert die Fernwärme – und macht beides so teuer, dass viele sich aktuell noch für fossiles Gas entscheiden.</a:t>
            </a:r>
            <a:endParaRPr lang="en-US" sz="1250" dirty="0"/>
          </a:p>
          <a:p>
            <a:pPr indent="0" marL="0">
              <a:buNone/>
            </a:pPr>
            <a:r>
              <a:rPr lang="en-US" sz="1250" dirty="0">
                <a:solidFill>
                  <a:srgbClr val="1A1A17"/>
                </a:solidFill>
                <a:latin typeface="Calibri" pitchFamily="34" charset="0"/>
                <a:ea typeface="Calibri" pitchFamily="34" charset="-122"/>
                <a:cs typeface="Calibri" pitchFamily="34" charset="-120"/>
              </a:rPr>
              <a:t>– Senken wir WP-Preise, könnten manche Fernwärmenetze zu „sunk costs“ werden oder einen politisch teuren Anschluss- und Benutzungszwang erzwingen.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TEIL II · BEFUND 5</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1 Mrd. € = 26'000 oder 413'000 Haushalte, je nach Gebäudetyp</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9</a:t>
            </a:r>
            <a:endParaRPr lang="en-US" sz="900" dirty="0"/>
          </a:p>
        </p:txBody>
      </p:sp>
      <p:graphicFrame>
        <p:nvGraphicFramePr>
          <p:cNvPr id="6" name="Chart 0" descr=""/>
          <p:cNvGraphicFramePr/>
          <p:nvPr/>
        </p:nvGraphicFramePr>
        <p:xfrm>
          <a:off x="1280160" y="1737360"/>
          <a:ext cx="10332720" cy="35661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960120" y="2743200"/>
            <a:ext cx="137160" cy="2423160"/>
          </a:xfrm>
          <a:prstGeom prst="leftBracket">
            <a:avLst/>
          </a:prstGeom>
          <a:noFill/>
          <a:ln w="19050">
            <a:solidFill>
              <a:srgbClr val="1F5673"/>
            </a:solidFill>
            <a:prstDash val="solid"/>
          </a:ln>
        </p:spPr>
      </p:sp>
      <p:sp>
        <p:nvSpPr>
          <p:cNvPr id="8" name="Text 5"/>
          <p:cNvSpPr txBox="1"/>
          <p:nvPr/>
        </p:nvSpPr>
        <p:spPr>
          <a:xfrm rot="16200000">
            <a:off x="91440" y="3749040"/>
            <a:ext cx="1371600" cy="365760"/>
          </a:xfrm>
          <a:prstGeom prst="rect">
            <a:avLst/>
          </a:prstGeom>
          <a:noFill/>
          <a:ln/>
        </p:spPr>
        <p:txBody>
          <a:bodyPr wrap="square" lIns="0" tIns="0" rIns="0" bIns="0" rtlCol="0" anchor="ctr"/>
          <a:lstStyle/>
          <a:p>
            <a:pPr algn="ctr" indent="0" marL="0">
              <a:buNone/>
            </a:pPr>
            <a:r>
              <a:rPr lang="en-US" sz="1100" b="1" dirty="0">
                <a:solidFill>
                  <a:srgbClr val="1F5673"/>
                </a:solidFill>
                <a:latin typeface="Calibri" pitchFamily="34" charset="0"/>
                <a:ea typeface="Calibri" pitchFamily="34" charset="-122"/>
                <a:cs typeface="Calibri" pitchFamily="34" charset="-120"/>
              </a:rPr>
              <a:t>Netzausbau</a:t>
            </a:r>
            <a:endParaRPr lang="en-US" sz="1100" dirty="0"/>
          </a:p>
        </p:txBody>
      </p:sp>
      <p:sp>
        <p:nvSpPr>
          <p:cNvPr id="9" name="Shape 6"/>
          <p:cNvSpPr/>
          <p:nvPr/>
        </p:nvSpPr>
        <p:spPr>
          <a:xfrm>
            <a:off x="548640" y="5440680"/>
            <a:ext cx="11064240" cy="822960"/>
          </a:xfrm>
          <a:prstGeom prst="roundRect">
            <a:avLst>
              <a:gd name="adj" fmla="val 8889"/>
            </a:avLst>
          </a:prstGeom>
          <a:solidFill>
            <a:srgbClr val="EFEBE1"/>
          </a:solidFill>
          <a:ln w="9525">
            <a:solidFill>
              <a:srgbClr val="C9C3B4"/>
            </a:solidFill>
            <a:prstDash val="solid"/>
          </a:ln>
        </p:spPr>
      </p:sp>
      <p:sp>
        <p:nvSpPr>
          <p:cNvPr id="10" name="Text 7"/>
          <p:cNvSpPr txBox="1"/>
          <p:nvPr/>
        </p:nvSpPr>
        <p:spPr>
          <a:xfrm>
            <a:off x="731520" y="5440680"/>
            <a:ext cx="10698480" cy="822960"/>
          </a:xfrm>
          <a:prstGeom prst="rect">
            <a:avLst/>
          </a:prstGeom>
          <a:noFill/>
          <a:ln/>
        </p:spPr>
        <p:txBody>
          <a:bodyPr wrap="square" lIns="0" tIns="0" rIns="0" bIns="0" rtlCol="0" anchor="ctr"/>
          <a:lstStyle/>
          <a:p>
            <a:pPr indent="0" marL="0">
              <a:buNone/>
            </a:pPr>
            <a:r>
              <a:rPr lang="en-US" sz="1250" b="1" dirty="0">
                <a:solidFill>
                  <a:srgbClr val="1F5673"/>
                </a:solidFill>
                <a:latin typeface="Calibri" pitchFamily="34" charset="0"/>
                <a:ea typeface="Calibri" pitchFamily="34" charset="-122"/>
                <a:cs typeface="Calibri" pitchFamily="34" charset="-120"/>
              </a:rPr>
              <a:t>Was das heißt: </a:t>
            </a:r>
            <a:pPr indent="0" marL="0">
              <a:buNone/>
            </a:pPr>
            <a:r>
              <a:rPr lang="en-US" sz="1250" dirty="0">
                <a:solidFill>
                  <a:srgbClr val="1A1A17"/>
                </a:solidFill>
                <a:latin typeface="Calibri" pitchFamily="34" charset="0"/>
                <a:ea typeface="Calibri" pitchFamily="34" charset="-122"/>
                <a:cs typeface="Calibri" pitchFamily="34" charset="-120"/>
              </a:rPr>
              <a:t>Im EFH-Bestand ist Netzausbau die teuerste, im Geschosswohnungsbau die billigste Mittelverwendung. Ein Schwellenwert für die ganze Stadt entscheidet in beide Richtungen falsch.</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SCHLUSSFOLGERUNGEN</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Was daraus folgt</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10</a:t>
            </a:r>
            <a:endParaRPr lang="en-US" sz="900" dirty="0"/>
          </a:p>
        </p:txBody>
      </p:sp>
      <p:sp>
        <p:nvSpPr>
          <p:cNvPr id="6" name="Text 4"/>
          <p:cNvSpPr txBox="1"/>
          <p:nvPr/>
        </p:nvSpPr>
        <p:spPr>
          <a:xfrm>
            <a:off x="548640" y="1691640"/>
            <a:ext cx="5669280" cy="274320"/>
          </a:xfrm>
          <a:prstGeom prst="rect">
            <a:avLst/>
          </a:prstGeom>
          <a:noFill/>
          <a:ln/>
        </p:spPr>
        <p:txBody>
          <a:bodyPr wrap="square" lIns="0" tIns="0" rIns="0" bIns="0" rtlCol="0" anchor="ctr"/>
          <a:lstStyle/>
          <a:p>
            <a:pPr indent="0" marL="0">
              <a:buNone/>
            </a:pPr>
            <a:r>
              <a:rPr lang="en-US" sz="1200" b="1" spc="100" kern="0" dirty="0">
                <a:solidFill>
                  <a:srgbClr val="56534B"/>
                </a:solidFill>
                <a:latin typeface="Calibri" pitchFamily="34" charset="0"/>
                <a:ea typeface="Calibri" pitchFamily="34" charset="-122"/>
                <a:cs typeface="Calibri" pitchFamily="34" charset="-120"/>
              </a:rPr>
              <a:t>Drei Botschaften</a:t>
            </a:r>
            <a:endParaRPr lang="en-US" sz="1200" dirty="0"/>
          </a:p>
        </p:txBody>
      </p:sp>
      <p:sp>
        <p:nvSpPr>
          <p:cNvPr id="7" name="Shape 5"/>
          <p:cNvSpPr/>
          <p:nvPr/>
        </p:nvSpPr>
        <p:spPr>
          <a:xfrm>
            <a:off x="548640" y="2139696"/>
            <a:ext cx="73152" cy="914400"/>
          </a:xfrm>
          <a:prstGeom prst="rect">
            <a:avLst/>
          </a:prstGeom>
          <a:solidFill>
            <a:srgbClr val="7A2E2E"/>
          </a:solidFill>
          <a:ln w="12700">
            <a:solidFill>
              <a:srgbClr val="7A2E2E"/>
            </a:solidFill>
            <a:prstDash val="solid"/>
          </a:ln>
        </p:spPr>
      </p:sp>
      <p:sp>
        <p:nvSpPr>
          <p:cNvPr id="8" name="Text 6"/>
          <p:cNvSpPr txBox="1"/>
          <p:nvPr/>
        </p:nvSpPr>
        <p:spPr>
          <a:xfrm>
            <a:off x="822960" y="2103120"/>
            <a:ext cx="5394960" cy="457200"/>
          </a:xfrm>
          <a:prstGeom prst="rect">
            <a:avLst/>
          </a:prstGeom>
          <a:noFill/>
          <a:ln/>
        </p:spPr>
        <p:txBody>
          <a:bodyPr wrap="square" lIns="0" tIns="0" rIns="0" bIns="0" rtlCol="0" anchor="t"/>
          <a:lstStyle/>
          <a:p>
            <a:pPr indent="0" marL="0">
              <a:buNone/>
            </a:pPr>
            <a:r>
              <a:rPr lang="en-US" sz="1350" b="1" dirty="0">
                <a:solidFill>
                  <a:srgbClr val="7A2E2E"/>
                </a:solidFill>
                <a:latin typeface="Calibri" pitchFamily="34" charset="0"/>
                <a:ea typeface="Calibri" pitchFamily="34" charset="-122"/>
                <a:cs typeface="Calibri" pitchFamily="34" charset="-120"/>
              </a:rPr>
              <a:t>Anschluss- und Benutzungszwang ist ein politisches Risiko.</a:t>
            </a:r>
            <a:endParaRPr lang="en-US" sz="1350" dirty="0"/>
          </a:p>
        </p:txBody>
      </p:sp>
      <p:sp>
        <p:nvSpPr>
          <p:cNvPr id="9" name="Text 7"/>
          <p:cNvSpPr txBox="1"/>
          <p:nvPr/>
        </p:nvSpPr>
        <p:spPr>
          <a:xfrm>
            <a:off x="822960" y="2560320"/>
            <a:ext cx="5394960" cy="594360"/>
          </a:xfrm>
          <a:prstGeom prst="rect">
            <a:avLst/>
          </a:prstGeom>
          <a:noFill/>
          <a:ln/>
        </p:spPr>
        <p:txBody>
          <a:bodyPr wrap="square" lIns="0" tIns="0" rIns="0" bIns="0" rtlCol="0" anchor="t"/>
          <a:lstStyle/>
          <a:p>
            <a:pPr indent="0" marL="0">
              <a:buNone/>
            </a:pPr>
            <a:r>
              <a:rPr lang="en-US" sz="1100" dirty="0">
                <a:solidFill>
                  <a:srgbClr val="56534B"/>
                </a:solidFill>
                <a:latin typeface="Calibri" pitchFamily="34" charset="0"/>
                <a:ea typeface="Calibri" pitchFamily="34" charset="-122"/>
                <a:cs typeface="Calibri" pitchFamily="34" charset="-120"/>
              </a:rPr>
              <a:t>Je besser die WP-Reform wirkt, desto öfter zwingt er Bürger ans teurere Netz – oder das Netz wird zum stranded asset.</a:t>
            </a:r>
            <a:endParaRPr lang="en-US" sz="1100" dirty="0"/>
          </a:p>
        </p:txBody>
      </p:sp>
      <p:sp>
        <p:nvSpPr>
          <p:cNvPr id="10" name="Shape 8"/>
          <p:cNvSpPr/>
          <p:nvPr/>
        </p:nvSpPr>
        <p:spPr>
          <a:xfrm>
            <a:off x="548640" y="3282696"/>
            <a:ext cx="73152" cy="914400"/>
          </a:xfrm>
          <a:prstGeom prst="rect">
            <a:avLst/>
          </a:prstGeom>
          <a:solidFill>
            <a:srgbClr val="7A2E2E"/>
          </a:solidFill>
          <a:ln w="12700">
            <a:solidFill>
              <a:srgbClr val="7A2E2E"/>
            </a:solidFill>
            <a:prstDash val="solid"/>
          </a:ln>
        </p:spPr>
      </p:sp>
      <p:sp>
        <p:nvSpPr>
          <p:cNvPr id="11" name="Text 9"/>
          <p:cNvSpPr txBox="1"/>
          <p:nvPr/>
        </p:nvSpPr>
        <p:spPr>
          <a:xfrm>
            <a:off x="822960" y="3246120"/>
            <a:ext cx="5394960" cy="457200"/>
          </a:xfrm>
          <a:prstGeom prst="rect">
            <a:avLst/>
          </a:prstGeom>
          <a:noFill/>
          <a:ln/>
        </p:spPr>
        <p:txBody>
          <a:bodyPr wrap="square" lIns="0" tIns="0" rIns="0" bIns="0" rtlCol="0" anchor="t"/>
          <a:lstStyle/>
          <a:p>
            <a:pPr indent="0" marL="0">
              <a:buNone/>
            </a:pPr>
            <a:r>
              <a:rPr lang="en-US" sz="1350" b="1" dirty="0">
                <a:solidFill>
                  <a:srgbClr val="7A2E2E"/>
                </a:solidFill>
                <a:latin typeface="Calibri" pitchFamily="34" charset="0"/>
                <a:ea typeface="Calibri" pitchFamily="34" charset="-122"/>
                <a:cs typeface="Calibri" pitchFamily="34" charset="-120"/>
              </a:rPr>
              <a:t>Der WP-Preis ist das einzige Preissignal im Wärmesektor.</a:t>
            </a:r>
            <a:endParaRPr lang="en-US" sz="1350" dirty="0"/>
          </a:p>
        </p:txBody>
      </p:sp>
      <p:sp>
        <p:nvSpPr>
          <p:cNvPr id="12" name="Text 10"/>
          <p:cNvSpPr txBox="1"/>
          <p:nvPr/>
        </p:nvSpPr>
        <p:spPr>
          <a:xfrm>
            <a:off x="822960" y="3703320"/>
            <a:ext cx="5394960" cy="594360"/>
          </a:xfrm>
          <a:prstGeom prst="rect">
            <a:avLst/>
          </a:prstGeom>
          <a:noFill/>
          <a:ln/>
        </p:spPr>
        <p:txBody>
          <a:bodyPr wrap="square" lIns="0" tIns="0" rIns="0" bIns="0" rtlCol="0" anchor="t"/>
          <a:lstStyle/>
          <a:p>
            <a:pPr indent="0" marL="0">
              <a:buNone/>
            </a:pPr>
            <a:r>
              <a:rPr lang="en-US" sz="1100" dirty="0">
                <a:solidFill>
                  <a:srgbClr val="56534B"/>
                </a:solidFill>
                <a:latin typeface="Calibri" pitchFamily="34" charset="0"/>
                <a:ea typeface="Calibri" pitchFamily="34" charset="-122"/>
                <a:cs typeface="Calibri" pitchFamily="34" charset="-120"/>
              </a:rPr>
              <a:t>Das deutsche Preisniveau subventioniert die Fernwärme – und treibt Haushalte zu fossilem Gas.</a:t>
            </a:r>
            <a:endParaRPr lang="en-US" sz="1100" dirty="0"/>
          </a:p>
        </p:txBody>
      </p:sp>
      <p:sp>
        <p:nvSpPr>
          <p:cNvPr id="13" name="Shape 11"/>
          <p:cNvSpPr/>
          <p:nvPr/>
        </p:nvSpPr>
        <p:spPr>
          <a:xfrm>
            <a:off x="548640" y="4425696"/>
            <a:ext cx="73152" cy="914400"/>
          </a:xfrm>
          <a:prstGeom prst="rect">
            <a:avLst/>
          </a:prstGeom>
          <a:solidFill>
            <a:srgbClr val="9A5B12"/>
          </a:solidFill>
          <a:ln w="12700">
            <a:solidFill>
              <a:srgbClr val="9A5B12"/>
            </a:solidFill>
            <a:prstDash val="solid"/>
          </a:ln>
        </p:spPr>
      </p:sp>
      <p:sp>
        <p:nvSpPr>
          <p:cNvPr id="14" name="Text 12"/>
          <p:cNvSpPr txBox="1"/>
          <p:nvPr/>
        </p:nvSpPr>
        <p:spPr>
          <a:xfrm>
            <a:off x="822960" y="4389120"/>
            <a:ext cx="5394960" cy="457200"/>
          </a:xfrm>
          <a:prstGeom prst="rect">
            <a:avLst/>
          </a:prstGeom>
          <a:noFill/>
          <a:ln/>
        </p:spPr>
        <p:txBody>
          <a:bodyPr wrap="square" lIns="0" tIns="0" rIns="0" bIns="0" rtlCol="0" anchor="t"/>
          <a:lstStyle/>
          <a:p>
            <a:pPr indent="0" marL="0">
              <a:buNone/>
            </a:pPr>
            <a:r>
              <a:rPr lang="en-US" sz="1350" b="1" dirty="0">
                <a:solidFill>
                  <a:srgbClr val="9A5B12"/>
                </a:solidFill>
                <a:latin typeface="Calibri" pitchFamily="34" charset="0"/>
                <a:ea typeface="Calibri" pitchFamily="34" charset="-122"/>
                <a:cs typeface="Calibri" pitchFamily="34" charset="-120"/>
              </a:rPr>
              <a:t>2045 ist nichts wert, solange nicht gebaut wird.</a:t>
            </a:r>
            <a:endParaRPr lang="en-US" sz="1350" dirty="0"/>
          </a:p>
        </p:txBody>
      </p:sp>
      <p:sp>
        <p:nvSpPr>
          <p:cNvPr id="15" name="Text 13"/>
          <p:cNvSpPr txBox="1"/>
          <p:nvPr/>
        </p:nvSpPr>
        <p:spPr>
          <a:xfrm>
            <a:off x="822960" y="4846320"/>
            <a:ext cx="5394960" cy="594360"/>
          </a:xfrm>
          <a:prstGeom prst="rect">
            <a:avLst/>
          </a:prstGeom>
          <a:noFill/>
          <a:ln/>
        </p:spPr>
        <p:txBody>
          <a:bodyPr wrap="square" lIns="0" tIns="0" rIns="0" bIns="0" rtlCol="0" anchor="t"/>
          <a:lstStyle/>
          <a:p>
            <a:pPr indent="0" marL="0">
              <a:buNone/>
            </a:pPr>
            <a:r>
              <a:rPr lang="en-US" sz="1100" dirty="0">
                <a:solidFill>
                  <a:srgbClr val="56534B"/>
                </a:solidFill>
                <a:latin typeface="Calibri" pitchFamily="34" charset="0"/>
                <a:ea typeface="Calibri" pitchFamily="34" charset="-122"/>
                <a:cs typeface="Calibri" pitchFamily="34" charset="-120"/>
              </a:rPr>
              <a:t>Alle wetten auf ein Verschieben des Ziels. Nur Wirtschaftlichkeit heute erzeugt Hochlauf.</a:t>
            </a:r>
            <a:endParaRPr lang="en-US" sz="1100" dirty="0"/>
          </a:p>
        </p:txBody>
      </p:sp>
      <p:sp>
        <p:nvSpPr>
          <p:cNvPr id="16" name="Text 14"/>
          <p:cNvSpPr txBox="1"/>
          <p:nvPr/>
        </p:nvSpPr>
        <p:spPr>
          <a:xfrm>
            <a:off x="6583680" y="1691640"/>
            <a:ext cx="5029200" cy="274320"/>
          </a:xfrm>
          <a:prstGeom prst="rect">
            <a:avLst/>
          </a:prstGeom>
          <a:noFill/>
          <a:ln/>
        </p:spPr>
        <p:txBody>
          <a:bodyPr wrap="square" lIns="0" tIns="0" rIns="0" bIns="0" rtlCol="0" anchor="ctr"/>
          <a:lstStyle/>
          <a:p>
            <a:pPr indent="0" marL="0">
              <a:buNone/>
            </a:pPr>
            <a:r>
              <a:rPr lang="en-US" sz="1200" b="1" spc="100" kern="0" dirty="0">
                <a:solidFill>
                  <a:srgbClr val="56534B"/>
                </a:solidFill>
                <a:latin typeface="Calibri" pitchFamily="34" charset="0"/>
                <a:ea typeface="Calibri" pitchFamily="34" charset="-122"/>
                <a:cs typeface="Calibri" pitchFamily="34" charset="-120"/>
              </a:rPr>
              <a:t>Drei Instrumente</a:t>
            </a:r>
            <a:endParaRPr lang="en-US" sz="1200" dirty="0"/>
          </a:p>
        </p:txBody>
      </p:sp>
      <p:sp>
        <p:nvSpPr>
          <p:cNvPr id="17" name="Shape 15"/>
          <p:cNvSpPr/>
          <p:nvPr/>
        </p:nvSpPr>
        <p:spPr>
          <a:xfrm>
            <a:off x="6583680" y="2103120"/>
            <a:ext cx="5029200" cy="960120"/>
          </a:xfrm>
          <a:prstGeom prst="roundRect">
            <a:avLst>
              <a:gd name="adj" fmla="val 5714"/>
            </a:avLst>
          </a:prstGeom>
          <a:solidFill>
            <a:srgbClr val="DEE9E8"/>
          </a:solidFill>
          <a:ln w="9525">
            <a:solidFill>
              <a:srgbClr val="0F5257"/>
            </a:solidFill>
            <a:prstDash val="solid"/>
          </a:ln>
        </p:spPr>
      </p:sp>
      <p:sp>
        <p:nvSpPr>
          <p:cNvPr id="18" name="Text 16"/>
          <p:cNvSpPr txBox="1"/>
          <p:nvPr/>
        </p:nvSpPr>
        <p:spPr>
          <a:xfrm>
            <a:off x="6675120" y="2103120"/>
            <a:ext cx="365760" cy="960120"/>
          </a:xfrm>
          <a:prstGeom prst="rect">
            <a:avLst/>
          </a:prstGeom>
          <a:noFill/>
          <a:ln/>
        </p:spPr>
        <p:txBody>
          <a:bodyPr wrap="square" lIns="0" tIns="0" rIns="0" bIns="0" rtlCol="0" anchor="ctr"/>
          <a:lstStyle/>
          <a:p>
            <a:pPr algn="ctr" indent="0" marL="0">
              <a:buNone/>
            </a:pPr>
            <a:r>
              <a:rPr lang="en-US" sz="2200" b="1" dirty="0">
                <a:solidFill>
                  <a:srgbClr val="0F5257"/>
                </a:solidFill>
                <a:latin typeface="Cambria" pitchFamily="34" charset="0"/>
                <a:ea typeface="Cambria" pitchFamily="34" charset="-122"/>
                <a:cs typeface="Cambria" pitchFamily="34" charset="-120"/>
              </a:rPr>
              <a:t>1</a:t>
            </a:r>
            <a:endParaRPr lang="en-US" sz="2200" dirty="0"/>
          </a:p>
        </p:txBody>
      </p:sp>
      <p:pic>
        <p:nvPicPr>
          <p:cNvPr id="19" name="Image 0" descr="preencoded.png">    </p:cNvPr>
          <p:cNvPicPr>
            <a:picLocks noChangeAspect="1"/>
          </p:cNvPicPr>
          <p:nvPr/>
        </p:nvPicPr>
        <p:blipFill>
          <a:blip r:embed="rId1"/>
          <a:stretch>
            <a:fillRect/>
          </a:stretch>
        </p:blipFill>
        <p:spPr>
          <a:xfrm>
            <a:off x="7114032" y="2450592"/>
            <a:ext cx="274320" cy="274320"/>
          </a:xfrm>
          <a:prstGeom prst="rect">
            <a:avLst/>
          </a:prstGeom>
        </p:spPr>
      </p:pic>
      <p:sp>
        <p:nvSpPr>
          <p:cNvPr id="20" name="Text 17"/>
          <p:cNvSpPr txBox="1"/>
          <p:nvPr/>
        </p:nvSpPr>
        <p:spPr>
          <a:xfrm>
            <a:off x="7498080" y="2212848"/>
            <a:ext cx="4023360" cy="365760"/>
          </a:xfrm>
          <a:prstGeom prst="rect">
            <a:avLst/>
          </a:prstGeom>
          <a:noFill/>
          <a:ln/>
        </p:spPr>
        <p:txBody>
          <a:bodyPr wrap="square" lIns="0" tIns="0" rIns="0" bIns="0" rtlCol="0" anchor="ctr"/>
          <a:lstStyle/>
          <a:p>
            <a:pPr indent="0" marL="0">
              <a:buNone/>
            </a:pPr>
            <a:r>
              <a:rPr lang="en-US" sz="1350" b="1" dirty="0">
                <a:solidFill>
                  <a:srgbClr val="1A1A17"/>
                </a:solidFill>
                <a:latin typeface="Calibri" pitchFamily="34" charset="0"/>
                <a:ea typeface="Calibri" pitchFamily="34" charset="-122"/>
                <a:cs typeface="Calibri" pitchFamily="34" charset="-120"/>
              </a:rPr>
              <a:t>BEG-Festbetrag + Safe Harbour</a:t>
            </a:r>
            <a:endParaRPr lang="en-US" sz="1350" dirty="0"/>
          </a:p>
        </p:txBody>
      </p:sp>
      <p:sp>
        <p:nvSpPr>
          <p:cNvPr id="21" name="Text 18"/>
          <p:cNvSpPr txBox="1"/>
          <p:nvPr/>
        </p:nvSpPr>
        <p:spPr>
          <a:xfrm>
            <a:off x="7498080" y="2578608"/>
            <a:ext cx="4023360" cy="457200"/>
          </a:xfrm>
          <a:prstGeom prst="rect">
            <a:avLst/>
          </a:prstGeom>
          <a:noFill/>
          <a:ln/>
        </p:spPr>
        <p:txBody>
          <a:bodyPr wrap="square" lIns="0" tIns="0" rIns="0" bIns="0" rtlCol="0" anchor="t"/>
          <a:lstStyle/>
          <a:p>
            <a:pPr indent="0" marL="0">
              <a:buNone/>
            </a:pPr>
            <a:r>
              <a:rPr lang="en-US" sz="1050" dirty="0">
                <a:solidFill>
                  <a:srgbClr val="56534B"/>
                </a:solidFill>
                <a:latin typeface="Calibri" pitchFamily="34" charset="0"/>
                <a:ea typeface="Calibri" pitchFamily="34" charset="-122"/>
                <a:cs typeface="Calibri" pitchFamily="34" charset="-120"/>
              </a:rPr>
              <a:t>= Fernwärme-Preisdisziplin. Kapital ist nicht der Engpass: Der Bund bürgt schon für Wärmenetze – niemand ruft es ab.</a:t>
            </a:r>
            <a:endParaRPr lang="en-US" sz="1050" dirty="0"/>
          </a:p>
        </p:txBody>
      </p:sp>
      <p:sp>
        <p:nvSpPr>
          <p:cNvPr id="22" name="Text 19"/>
          <p:cNvSpPr txBox="1"/>
          <p:nvPr/>
        </p:nvSpPr>
        <p:spPr>
          <a:xfrm>
            <a:off x="10424160" y="2148840"/>
            <a:ext cx="1097280" cy="228600"/>
          </a:xfrm>
          <a:prstGeom prst="rect">
            <a:avLst/>
          </a:prstGeom>
          <a:noFill/>
          <a:ln/>
        </p:spPr>
        <p:txBody>
          <a:bodyPr wrap="square" lIns="0" tIns="0" rIns="0" bIns="0" rtlCol="0" anchor="ctr"/>
          <a:lstStyle/>
          <a:p>
            <a:pPr algn="r" indent="0" marL="0">
              <a:buNone/>
            </a:pPr>
            <a:r>
              <a:rPr lang="en-US" sz="850" dirty="0">
                <a:solidFill>
                  <a:srgbClr val="9A5B12"/>
                </a:solidFill>
                <a:latin typeface="Calibri" pitchFamily="34" charset="0"/>
                <a:ea typeface="Calibri" pitchFamily="34" charset="-122"/>
                <a:cs typeface="Calibri" pitchFamily="34" charset="-120"/>
              </a:rPr>
              <a:t>Teil I · 9.5</a:t>
            </a:r>
            <a:endParaRPr lang="en-US" sz="850" dirty="0"/>
          </a:p>
        </p:txBody>
      </p:sp>
      <p:sp>
        <p:nvSpPr>
          <p:cNvPr id="23" name="Shape 20"/>
          <p:cNvSpPr/>
          <p:nvPr/>
        </p:nvSpPr>
        <p:spPr>
          <a:xfrm>
            <a:off x="6583680" y="3246120"/>
            <a:ext cx="5029200" cy="960120"/>
          </a:xfrm>
          <a:prstGeom prst="roundRect">
            <a:avLst>
              <a:gd name="adj" fmla="val 5714"/>
            </a:avLst>
          </a:prstGeom>
          <a:solidFill>
            <a:srgbClr val="FFFFFF"/>
          </a:solidFill>
          <a:ln w="9525">
            <a:solidFill>
              <a:srgbClr val="C9C3B4"/>
            </a:solidFill>
            <a:prstDash val="solid"/>
          </a:ln>
        </p:spPr>
      </p:sp>
      <p:sp>
        <p:nvSpPr>
          <p:cNvPr id="24" name="Text 21"/>
          <p:cNvSpPr txBox="1"/>
          <p:nvPr/>
        </p:nvSpPr>
        <p:spPr>
          <a:xfrm>
            <a:off x="6675120" y="3246120"/>
            <a:ext cx="365760" cy="960120"/>
          </a:xfrm>
          <a:prstGeom prst="rect">
            <a:avLst/>
          </a:prstGeom>
          <a:noFill/>
          <a:ln/>
        </p:spPr>
        <p:txBody>
          <a:bodyPr wrap="square" lIns="0" tIns="0" rIns="0" bIns="0" rtlCol="0" anchor="ctr"/>
          <a:lstStyle/>
          <a:p>
            <a:pPr algn="ctr" indent="0" marL="0">
              <a:buNone/>
            </a:pPr>
            <a:r>
              <a:rPr lang="en-US" sz="2200" b="1" dirty="0">
                <a:solidFill>
                  <a:srgbClr val="0F5257"/>
                </a:solidFill>
                <a:latin typeface="Cambria" pitchFamily="34" charset="0"/>
                <a:ea typeface="Cambria" pitchFamily="34" charset="-122"/>
                <a:cs typeface="Cambria" pitchFamily="34" charset="-120"/>
              </a:rPr>
              <a:t>2</a:t>
            </a:r>
            <a:endParaRPr lang="en-US" sz="2200" dirty="0"/>
          </a:p>
        </p:txBody>
      </p:sp>
      <p:pic>
        <p:nvPicPr>
          <p:cNvPr id="25" name="Image 1" descr="preencoded.png">    </p:cNvPr>
          <p:cNvPicPr>
            <a:picLocks noChangeAspect="1"/>
          </p:cNvPicPr>
          <p:nvPr/>
        </p:nvPicPr>
        <p:blipFill>
          <a:blip r:embed="rId2"/>
          <a:stretch>
            <a:fillRect/>
          </a:stretch>
        </p:blipFill>
        <p:spPr>
          <a:xfrm>
            <a:off x="7114032" y="3593592"/>
            <a:ext cx="274320" cy="274320"/>
          </a:xfrm>
          <a:prstGeom prst="rect">
            <a:avLst/>
          </a:prstGeom>
        </p:spPr>
      </p:pic>
      <p:sp>
        <p:nvSpPr>
          <p:cNvPr id="26" name="Text 22"/>
          <p:cNvSpPr txBox="1"/>
          <p:nvPr/>
        </p:nvSpPr>
        <p:spPr>
          <a:xfrm>
            <a:off x="7498080" y="3355848"/>
            <a:ext cx="4023360" cy="365760"/>
          </a:xfrm>
          <a:prstGeom prst="rect">
            <a:avLst/>
          </a:prstGeom>
          <a:noFill/>
          <a:ln/>
        </p:spPr>
        <p:txBody>
          <a:bodyPr wrap="square" lIns="0" tIns="0" rIns="0" bIns="0" rtlCol="0" anchor="ctr"/>
          <a:lstStyle/>
          <a:p>
            <a:pPr indent="0" marL="0">
              <a:buNone/>
            </a:pPr>
            <a:r>
              <a:rPr lang="en-US" sz="1350" b="1" dirty="0">
                <a:solidFill>
                  <a:srgbClr val="1A1A17"/>
                </a:solidFill>
                <a:latin typeface="Calibri" pitchFamily="34" charset="0"/>
                <a:ea typeface="Calibri" pitchFamily="34" charset="-122"/>
                <a:cs typeface="Calibri" pitchFamily="34" charset="-120"/>
              </a:rPr>
              <a:t>Benchmark in der Wärmeplanung</a:t>
            </a:r>
            <a:endParaRPr lang="en-US" sz="1350" dirty="0"/>
          </a:p>
        </p:txBody>
      </p:sp>
      <p:sp>
        <p:nvSpPr>
          <p:cNvPr id="27" name="Text 23"/>
          <p:cNvSpPr txBox="1"/>
          <p:nvPr/>
        </p:nvSpPr>
        <p:spPr>
          <a:xfrm>
            <a:off x="7498080" y="3721608"/>
            <a:ext cx="4023360" cy="457200"/>
          </a:xfrm>
          <a:prstGeom prst="rect">
            <a:avLst/>
          </a:prstGeom>
          <a:noFill/>
          <a:ln/>
        </p:spPr>
        <p:txBody>
          <a:bodyPr wrap="square" lIns="0" tIns="0" rIns="0" bIns="0" rtlCol="0" anchor="t"/>
          <a:lstStyle/>
          <a:p>
            <a:pPr indent="0" marL="0">
              <a:buNone/>
            </a:pPr>
            <a:r>
              <a:rPr lang="en-US" sz="1050" dirty="0">
                <a:solidFill>
                  <a:srgbClr val="56534B"/>
                </a:solidFill>
                <a:latin typeface="Calibri" pitchFamily="34" charset="0"/>
                <a:ea typeface="Calibri" pitchFamily="34" charset="-122"/>
                <a:cs typeface="Calibri" pitchFamily="34" charset="-120"/>
              </a:rPr>
              <a:t>nach Gebäudetyp, gegen die EU-Referenz – kein Gebietsmittel</a:t>
            </a:r>
            <a:endParaRPr lang="en-US" sz="1050" dirty="0"/>
          </a:p>
        </p:txBody>
      </p:sp>
      <p:sp>
        <p:nvSpPr>
          <p:cNvPr id="28" name="Text 24"/>
          <p:cNvSpPr txBox="1"/>
          <p:nvPr/>
        </p:nvSpPr>
        <p:spPr>
          <a:xfrm>
            <a:off x="10424160" y="3291840"/>
            <a:ext cx="1097280" cy="228600"/>
          </a:xfrm>
          <a:prstGeom prst="rect">
            <a:avLst/>
          </a:prstGeom>
          <a:noFill/>
          <a:ln/>
        </p:spPr>
        <p:txBody>
          <a:bodyPr wrap="square" lIns="0" tIns="0" rIns="0" bIns="0" rtlCol="0" anchor="ctr"/>
          <a:lstStyle/>
          <a:p>
            <a:pPr algn="r" indent="0" marL="0">
              <a:buNone/>
            </a:pPr>
            <a:r>
              <a:rPr lang="en-US" sz="850" dirty="0">
                <a:solidFill>
                  <a:srgbClr val="9A5B12"/>
                </a:solidFill>
                <a:latin typeface="Calibri" pitchFamily="34" charset="0"/>
                <a:ea typeface="Calibri" pitchFamily="34" charset="-122"/>
                <a:cs typeface="Calibri" pitchFamily="34" charset="-120"/>
              </a:rPr>
              <a:t>WPG § 18 · 9.1</a:t>
            </a:r>
            <a:endParaRPr lang="en-US" sz="850" dirty="0"/>
          </a:p>
        </p:txBody>
      </p:sp>
      <p:sp>
        <p:nvSpPr>
          <p:cNvPr id="29" name="Shape 25"/>
          <p:cNvSpPr/>
          <p:nvPr/>
        </p:nvSpPr>
        <p:spPr>
          <a:xfrm>
            <a:off x="6583680" y="4389120"/>
            <a:ext cx="5029200" cy="960120"/>
          </a:xfrm>
          <a:prstGeom prst="roundRect">
            <a:avLst>
              <a:gd name="adj" fmla="val 5714"/>
            </a:avLst>
          </a:prstGeom>
          <a:solidFill>
            <a:srgbClr val="FFFFFF"/>
          </a:solidFill>
          <a:ln w="9525">
            <a:solidFill>
              <a:srgbClr val="C9C3B4"/>
            </a:solidFill>
            <a:prstDash val="solid"/>
          </a:ln>
        </p:spPr>
      </p:sp>
      <p:sp>
        <p:nvSpPr>
          <p:cNvPr id="30" name="Text 26"/>
          <p:cNvSpPr txBox="1"/>
          <p:nvPr/>
        </p:nvSpPr>
        <p:spPr>
          <a:xfrm>
            <a:off x="6675120" y="4389120"/>
            <a:ext cx="365760" cy="960120"/>
          </a:xfrm>
          <a:prstGeom prst="rect">
            <a:avLst/>
          </a:prstGeom>
          <a:noFill/>
          <a:ln/>
        </p:spPr>
        <p:txBody>
          <a:bodyPr wrap="square" lIns="0" tIns="0" rIns="0" bIns="0" rtlCol="0" anchor="ctr"/>
          <a:lstStyle/>
          <a:p>
            <a:pPr algn="ctr" indent="0" marL="0">
              <a:buNone/>
            </a:pPr>
            <a:r>
              <a:rPr lang="en-US" sz="2200" b="1" dirty="0">
                <a:solidFill>
                  <a:srgbClr val="0F5257"/>
                </a:solidFill>
                <a:latin typeface="Cambria" pitchFamily="34" charset="0"/>
                <a:ea typeface="Cambria" pitchFamily="34" charset="-122"/>
                <a:cs typeface="Cambria" pitchFamily="34" charset="-120"/>
              </a:rPr>
              <a:t>3</a:t>
            </a:r>
            <a:endParaRPr lang="en-US" sz="2200" dirty="0"/>
          </a:p>
        </p:txBody>
      </p:sp>
      <p:pic>
        <p:nvPicPr>
          <p:cNvPr id="31" name="Image 2" descr="preencoded.png">    </p:cNvPr>
          <p:cNvPicPr>
            <a:picLocks noChangeAspect="1"/>
          </p:cNvPicPr>
          <p:nvPr/>
        </p:nvPicPr>
        <p:blipFill>
          <a:blip r:embed="rId3"/>
          <a:stretch>
            <a:fillRect/>
          </a:stretch>
        </p:blipFill>
        <p:spPr>
          <a:xfrm>
            <a:off x="7114032" y="4736592"/>
            <a:ext cx="274320" cy="274320"/>
          </a:xfrm>
          <a:prstGeom prst="rect">
            <a:avLst/>
          </a:prstGeom>
        </p:spPr>
      </p:pic>
      <p:sp>
        <p:nvSpPr>
          <p:cNvPr id="32" name="Text 27"/>
          <p:cNvSpPr txBox="1"/>
          <p:nvPr/>
        </p:nvSpPr>
        <p:spPr>
          <a:xfrm>
            <a:off x="7498080" y="4498848"/>
            <a:ext cx="4023360" cy="365760"/>
          </a:xfrm>
          <a:prstGeom prst="rect">
            <a:avLst/>
          </a:prstGeom>
          <a:noFill/>
          <a:ln/>
        </p:spPr>
        <p:txBody>
          <a:bodyPr wrap="square" lIns="0" tIns="0" rIns="0" bIns="0" rtlCol="0" anchor="ctr"/>
          <a:lstStyle/>
          <a:p>
            <a:pPr indent="0" marL="0">
              <a:buNone/>
            </a:pPr>
            <a:r>
              <a:rPr lang="en-US" sz="1350" b="1" dirty="0">
                <a:solidFill>
                  <a:srgbClr val="1A1A17"/>
                </a:solidFill>
                <a:latin typeface="Calibri" pitchFamily="34" charset="0"/>
                <a:ea typeface="Calibri" pitchFamily="34" charset="-122"/>
                <a:cs typeface="Calibri" pitchFamily="34" charset="-120"/>
              </a:rPr>
              <a:t>Förderung quellenscharf</a:t>
            </a:r>
            <a:endParaRPr lang="en-US" sz="1350" dirty="0"/>
          </a:p>
        </p:txBody>
      </p:sp>
      <p:sp>
        <p:nvSpPr>
          <p:cNvPr id="33" name="Text 28"/>
          <p:cNvSpPr txBox="1"/>
          <p:nvPr/>
        </p:nvSpPr>
        <p:spPr>
          <a:xfrm>
            <a:off x="7498080" y="4864608"/>
            <a:ext cx="4023360" cy="457200"/>
          </a:xfrm>
          <a:prstGeom prst="rect">
            <a:avLst/>
          </a:prstGeom>
          <a:noFill/>
          <a:ln/>
        </p:spPr>
        <p:txBody>
          <a:bodyPr wrap="square" lIns="0" tIns="0" rIns="0" bIns="0" rtlCol="0" anchor="t"/>
          <a:lstStyle/>
          <a:p>
            <a:pPr indent="0" marL="0">
              <a:buNone/>
            </a:pPr>
            <a:r>
              <a:rPr lang="en-US" sz="1050" dirty="0">
                <a:solidFill>
                  <a:srgbClr val="56534B"/>
                </a:solidFill>
                <a:latin typeface="Calibri" pitchFamily="34" charset="0"/>
                <a:ea typeface="Calibri" pitchFamily="34" charset="-122"/>
                <a:cs typeface="Calibri" pitchFamily="34" charset="-120"/>
              </a:rPr>
              <a:t>Abwärme zuerst, Gasvorlauf wie seine Nachfolgequelle, im Bestand Quellenwechsel</a:t>
            </a:r>
            <a:endParaRPr lang="en-US" sz="1050" dirty="0"/>
          </a:p>
        </p:txBody>
      </p:sp>
      <p:sp>
        <p:nvSpPr>
          <p:cNvPr id="34" name="Text 29"/>
          <p:cNvSpPr txBox="1"/>
          <p:nvPr/>
        </p:nvSpPr>
        <p:spPr>
          <a:xfrm>
            <a:off x="10424160" y="4434840"/>
            <a:ext cx="1097280" cy="228600"/>
          </a:xfrm>
          <a:prstGeom prst="rect">
            <a:avLst/>
          </a:prstGeom>
          <a:noFill/>
          <a:ln/>
        </p:spPr>
        <p:txBody>
          <a:bodyPr wrap="square" lIns="0" tIns="0" rIns="0" bIns="0" rtlCol="0" anchor="ctr"/>
          <a:lstStyle/>
          <a:p>
            <a:pPr algn="r" indent="0" marL="0">
              <a:buNone/>
            </a:pPr>
            <a:r>
              <a:rPr lang="en-US" sz="850" dirty="0">
                <a:solidFill>
                  <a:srgbClr val="9A5B12"/>
                </a:solidFill>
                <a:latin typeface="Calibri" pitchFamily="34" charset="0"/>
                <a:ea typeface="Calibri" pitchFamily="34" charset="-122"/>
                <a:cs typeface="Calibri" pitchFamily="34" charset="-120"/>
              </a:rPr>
              <a:t>BEW · 9.3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ctr"/>
          <a:lstStyle/>
          <a:p>
            <a:pPr indent="0" marL="0">
              <a:buNone/>
            </a:pPr>
            <a:r>
              <a:rPr lang="en-US" sz="1100" spc="200" kern="0" dirty="0">
                <a:solidFill>
                  <a:srgbClr val="56534B"/>
                </a:solidFill>
                <a:latin typeface="Calibri" pitchFamily="34" charset="0"/>
                <a:ea typeface="Calibri" pitchFamily="34" charset="-122"/>
                <a:cs typeface="Calibri" pitchFamily="34" charset="-120"/>
              </a:rPr>
              <a:t>ZUM NACHLESEN</a:t>
            </a:r>
            <a:endParaRPr lang="en-US" sz="1100" dirty="0"/>
          </a:p>
        </p:txBody>
      </p:sp>
      <p:sp>
        <p:nvSpPr>
          <p:cNvPr id="3" name="Text 1"/>
          <p:cNvSpPr txBox="1"/>
          <p:nvPr/>
        </p:nvSpPr>
        <p:spPr>
          <a:xfrm>
            <a:off x="548640" y="594360"/>
            <a:ext cx="11064240" cy="868680"/>
          </a:xfrm>
          <a:prstGeom prst="rect">
            <a:avLst/>
          </a:prstGeom>
          <a:noFill/>
          <a:ln/>
        </p:spPr>
        <p:txBody>
          <a:bodyPr wrap="square" lIns="0" tIns="0" rIns="0" bIns="0" rtlCol="0" anchor="t"/>
          <a:lstStyle/>
          <a:p>
            <a:pPr indent="0" marL="0">
              <a:buNone/>
            </a:pPr>
            <a:r>
              <a:rPr lang="en-US" sz="2800" b="1" dirty="0">
                <a:solidFill>
                  <a:srgbClr val="1A1A17"/>
                </a:solidFill>
                <a:latin typeface="Cambria" pitchFamily="34" charset="0"/>
                <a:ea typeface="Cambria" pitchFamily="34" charset="-122"/>
                <a:cs typeface="Cambria" pitchFamily="34" charset="-120"/>
              </a:rPr>
              <a:t>Das vollständige Papier</a:t>
            </a:r>
            <a:endParaRPr lang="en-US" sz="28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900" dirty="0">
                <a:solidFill>
                  <a:srgbClr val="56534B"/>
                </a:solidFill>
                <a:latin typeface="Calibri" pitchFamily="34" charset="0"/>
                <a:ea typeface="Calibri" pitchFamily="34" charset="-122"/>
                <a:cs typeface="Calibri" pitchFamily="34" charset="-120"/>
              </a:rPr>
              <a:t>WP/FW-Vergleich · BAG Energie · 20. Sept. 2026</a:t>
            </a:r>
            <a:endParaRPr lang="en-US" sz="900" dirty="0"/>
          </a:p>
        </p:txBody>
      </p:sp>
      <p:sp>
        <p:nvSpPr>
          <p:cNvPr id="5" name="Text 3"/>
          <p:cNvSpPr txBox="1"/>
          <p:nvPr/>
        </p:nvSpPr>
        <p:spPr>
          <a:xfrm>
            <a:off x="11155680" y="6400800"/>
            <a:ext cx="457200" cy="228600"/>
          </a:xfrm>
          <a:prstGeom prst="rect">
            <a:avLst/>
          </a:prstGeom>
          <a:noFill/>
          <a:ln/>
        </p:spPr>
        <p:txBody>
          <a:bodyPr wrap="square" lIns="0" tIns="0" rIns="0" bIns="0" rtlCol="0" anchor="ctr"/>
          <a:lstStyle/>
          <a:p>
            <a:pPr algn="r" indent="0" marL="0">
              <a:buNone/>
            </a:pPr>
            <a:r>
              <a:rPr lang="en-US" sz="900" dirty="0">
                <a:solidFill>
                  <a:srgbClr val="56534B"/>
                </a:solidFill>
                <a:latin typeface="Calibri" pitchFamily="34" charset="0"/>
                <a:ea typeface="Calibri" pitchFamily="34" charset="-122"/>
                <a:cs typeface="Calibri" pitchFamily="34" charset="-120"/>
              </a:rPr>
              <a:t>11</a:t>
            </a:r>
            <a:endParaRPr lang="en-US" sz="900" dirty="0"/>
          </a:p>
        </p:txBody>
      </p:sp>
      <p:sp>
        <p:nvSpPr>
          <p:cNvPr id="6" name="Text 4"/>
          <p:cNvSpPr txBox="1"/>
          <p:nvPr/>
        </p:nvSpPr>
        <p:spPr>
          <a:xfrm>
            <a:off x="548640" y="2011680"/>
            <a:ext cx="6035040" cy="1097280"/>
          </a:xfrm>
          <a:prstGeom prst="rect">
            <a:avLst/>
          </a:prstGeom>
          <a:noFill/>
          <a:ln/>
        </p:spPr>
        <p:txBody>
          <a:bodyPr wrap="square" lIns="0" tIns="0" rIns="0" bIns="0" rtlCol="0" anchor="t"/>
          <a:lstStyle/>
          <a:p>
            <a:pPr indent="0" marL="0">
              <a:buNone/>
            </a:pPr>
            <a:r>
              <a:rPr lang="en-US" sz="1500" dirty="0">
                <a:solidFill>
                  <a:srgbClr val="1A1A17"/>
                </a:solidFill>
                <a:latin typeface="Calibri" pitchFamily="34" charset="0"/>
                <a:ea typeface="Calibri" pitchFamily="34" charset="-122"/>
                <a:cs typeface="Calibri" pitchFamily="34" charset="-120"/>
              </a:rPr>
              <a:t>Alle Zahlen dieses Vortrags mit Herleitung, Quellen und Interessenlage,</a:t>
            </a:r>
            <a:endParaRPr lang="en-US" sz="1500" dirty="0"/>
          </a:p>
          <a:p>
            <a:pPr indent="0" marL="0">
              <a:buNone/>
            </a:pPr>
            <a:r>
              <a:rPr lang="en-US" sz="1500" dirty="0">
                <a:solidFill>
                  <a:srgbClr val="1A1A17"/>
                </a:solidFill>
                <a:latin typeface="Calibri" pitchFamily="34" charset="0"/>
                <a:ea typeface="Calibri" pitchFamily="34" charset="-122"/>
                <a:cs typeface="Calibri" pitchFamily="34" charset="-120"/>
              </a:rPr>
              <a:t>elf Anhänge und das vollständige Simulationsskript (MIT-Lizenz).</a:t>
            </a:r>
            <a:endParaRPr lang="en-US" sz="1500" dirty="0"/>
          </a:p>
        </p:txBody>
      </p:sp>
      <p:sp>
        <p:nvSpPr>
          <p:cNvPr id="7" name="Text 5"/>
          <p:cNvSpPr txBox="1"/>
          <p:nvPr/>
        </p:nvSpPr>
        <p:spPr>
          <a:xfrm>
            <a:off x="548640" y="3291840"/>
            <a:ext cx="6035040" cy="548640"/>
          </a:xfrm>
          <a:prstGeom prst="rect">
            <a:avLst/>
          </a:prstGeom>
          <a:noFill/>
          <a:ln/>
        </p:spPr>
        <p:txBody>
          <a:bodyPr wrap="square" lIns="0" tIns="0" rIns="0" bIns="0" rtlCol="0" anchor="ctr"/>
          <a:lstStyle/>
          <a:p>
            <a:pPr indent="0" marL="0">
              <a:buNone/>
            </a:pPr>
            <a:r>
              <a:rPr lang="en-US" sz="2200" b="1" dirty="0">
                <a:solidFill>
                  <a:srgbClr val="0F5257"/>
                </a:solidFill>
                <a:latin typeface="Calibri" pitchFamily="34" charset="0"/>
                <a:ea typeface="Calibri" pitchFamily="34" charset="-122"/>
                <a:cs typeface="Calibri" pitchFamily="34" charset="-120"/>
              </a:rPr>
              <a:t>theflow85.github.io/waermewende</a:t>
            </a:r>
            <a:endParaRPr lang="en-US" sz="2200" dirty="0"/>
          </a:p>
        </p:txBody>
      </p:sp>
      <p:sp>
        <p:nvSpPr>
          <p:cNvPr id="8" name="Shape 6"/>
          <p:cNvSpPr/>
          <p:nvPr/>
        </p:nvSpPr>
        <p:spPr>
          <a:xfrm>
            <a:off x="548640" y="4480560"/>
            <a:ext cx="6035040" cy="1051560"/>
          </a:xfrm>
          <a:prstGeom prst="roundRect">
            <a:avLst>
              <a:gd name="adj" fmla="val 6957"/>
            </a:avLst>
          </a:prstGeom>
          <a:solidFill>
            <a:srgbClr val="EFEBE1"/>
          </a:solidFill>
          <a:ln w="9525">
            <a:solidFill>
              <a:srgbClr val="C9C3B4"/>
            </a:solidFill>
            <a:prstDash val="solid"/>
          </a:ln>
        </p:spPr>
      </p:sp>
      <p:sp>
        <p:nvSpPr>
          <p:cNvPr id="9" name="Text 7"/>
          <p:cNvSpPr txBox="1"/>
          <p:nvPr/>
        </p:nvSpPr>
        <p:spPr>
          <a:xfrm>
            <a:off x="731520" y="4480560"/>
            <a:ext cx="5669280" cy="1051560"/>
          </a:xfrm>
          <a:prstGeom prst="rect">
            <a:avLst/>
          </a:prstGeom>
          <a:noFill/>
          <a:ln/>
        </p:spPr>
        <p:txBody>
          <a:bodyPr wrap="square" lIns="0" tIns="0" rIns="0" bIns="0" rtlCol="0" anchor="ctr"/>
          <a:lstStyle/>
          <a:p>
            <a:pPr indent="0" marL="0">
              <a:buNone/>
            </a:pPr>
            <a:r>
              <a:rPr lang="en-US" sz="1200" b="1" dirty="0">
                <a:solidFill>
                  <a:srgbClr val="9A5B12"/>
                </a:solidFill>
                <a:latin typeface="Calibri" pitchFamily="34" charset="0"/>
                <a:ea typeface="Calibri" pitchFamily="34" charset="-122"/>
                <a:cs typeface="Calibri" pitchFamily="34" charset="-120"/>
              </a:rPr>
              <a:t>Drei Fragen ans Fachreview: </a:t>
            </a:r>
            <a:pPr indent="0" marL="0">
              <a:buNone/>
            </a:pPr>
            <a:r>
              <a:rPr lang="en-US" sz="1200" dirty="0">
                <a:solidFill>
                  <a:srgbClr val="1A1A17"/>
                </a:solidFill>
                <a:latin typeface="Calibri" pitchFamily="34" charset="0"/>
                <a:ea typeface="Calibri" pitchFamily="34" charset="-122"/>
                <a:cs typeface="Calibri" pitchFamily="34" charset="-120"/>
              </a:rPr>
              <a:t>Erzeugungskosten je Wärmequelle, Verlegekosten je Meter, Trassenmeter je Gebäudetyp. Wer dazu etwas sagen kann: gern melden.</a:t>
            </a:r>
            <a:endParaRPr lang="en-US" sz="1200" dirty="0"/>
          </a:p>
        </p:txBody>
      </p:sp>
      <p:pic>
        <p:nvPicPr>
          <p:cNvPr id="10" name="Image 0" descr="/home/claude/qr.png">    </p:cNvPr>
          <p:cNvPicPr>
            <a:picLocks noChangeAspect="1"/>
          </p:cNvPicPr>
          <p:nvPr/>
        </p:nvPicPr>
        <p:blipFill>
          <a:blip r:embed="rId1"/>
          <a:stretch>
            <a:fillRect/>
          </a:stretch>
        </p:blipFill>
        <p:spPr>
          <a:xfrm>
            <a:off x="7589520" y="2011680"/>
            <a:ext cx="3108960" cy="3108960"/>
          </a:xfrm>
          <a:prstGeom prst="rect">
            <a:avLst/>
          </a:prstGeom>
        </p:spPr>
      </p:pic>
      <p:sp>
        <p:nvSpPr>
          <p:cNvPr id="11" name="Text 8"/>
          <p:cNvSpPr txBox="1"/>
          <p:nvPr/>
        </p:nvSpPr>
        <p:spPr>
          <a:xfrm>
            <a:off x="7589520" y="5212080"/>
            <a:ext cx="3108960" cy="274320"/>
          </a:xfrm>
          <a:prstGeom prst="rect">
            <a:avLst/>
          </a:prstGeom>
          <a:noFill/>
          <a:ln/>
        </p:spPr>
        <p:txBody>
          <a:bodyPr wrap="square" lIns="0" tIns="0" rIns="0" bIns="0" rtlCol="0" anchor="ctr"/>
          <a:lstStyle/>
          <a:p>
            <a:pPr algn="ctr" indent="0" marL="0">
              <a:buNone/>
            </a:pPr>
            <a:r>
              <a:rPr lang="en-US" sz="1100" dirty="0">
                <a:solidFill>
                  <a:srgbClr val="56534B"/>
                </a:solidFill>
                <a:latin typeface="Calibri" pitchFamily="34" charset="0"/>
                <a:ea typeface="Calibri" pitchFamily="34" charset="-122"/>
                <a:cs typeface="Calibri" pitchFamily="34" charset="-120"/>
              </a:rPr>
              <a:t>Kamera aufs Bild halten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Wärmepumpen in Deutschland — Kostenproblem, Reformhebel, Systemvergleich</dc:title>
  <dc:subject>PptxGenJS Presentation</dc:subject>
  <dc:creator>Florian Schulte</dc:creator>
  <cp:lastModifiedBy>Florian Schulte</cp:lastModifiedBy>
  <cp:revision>1</cp:revision>
  <dcterms:created xsi:type="dcterms:W3CDTF">2026-09-20T10:56:37Z</dcterms:created>
  <dcterms:modified xsi:type="dcterms:W3CDTF">2026-09-20T10:56:37Z</dcterms:modified>
</cp:coreProperties>
</file>