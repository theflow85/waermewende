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A1A17"/>
                </a:solidFill>
                <a:latin typeface="Calibri"/>
              </a:defRPr>
            </a:pPr>
            <a:r>
              <a:rPr sz="1200" b="0" i="0" u="none" strike="noStrike">
                <a:solidFill>
                  <a:srgbClr val="1A1A17"/>
                </a:solidFill>
                <a:latin typeface="Calibri"/>
              </a:rPr>
              <a:t>Luft-Wasser-Wärmepumpe, komplett installiert (€)</a:t>
            </a:r>
          </a:p>
        </c:rich>
      </c:tx>
      <c:layout/>
      <c:overlay val="0"/>
    </c:title>
    <c:autoTitleDeleted val="0"/>
    <c:plotArea>
      <c:layout/>
      <c:barChart>
        <c:barDir val="bar"/>
        <c:grouping val="clustered"/>
        <c:varyColors val="0"/>
        <c:ser>
          <c:idx val="0"/>
          <c:order val="0"/>
          <c:tx>
            <c:strRef>
              <c:f>Sheet1!$B$1</c:f>
              <c:strCache>
                <c:ptCount val="1"/>
                <c:pt idx="0">
                  <c:v>obere Grenze</c:v>
                </c:pt>
              </c:strCache>
            </c:strRef>
          </c:tx>
          <c:spPr>
            <a:solidFill>
              <a:srgbClr val="8C877A"/>
            </a:solidFill>
            <a:effectLst/>
          </c:spPr>
          <c:invertIfNegative val="0"/>
          <c:dLbls>
            <c:numFmt formatCode="#&quot;'&quot;##0" sourceLinked="0"/>
            <c:txPr>
              <a:bodyPr/>
              <a:lstStyle/>
              <a:p>
                <a:pPr>
                  <a:defRPr b="1" i="0" strike="noStrike" sz="1000" u="none">
                    <a:solidFill>
                      <a:srgbClr val="1A1A17"/>
                    </a:solidFill>
                    <a:latin typeface="Calibri"/>
                  </a:defRPr>
                </a:pPr>
              </a:p>
            </c:txPr>
            <c:dLblPos val="outEnd"/>
            <c:showLegendKey val="0"/>
            <c:showVal val="1"/>
            <c:showCatName val="0"/>
            <c:showSerName val="0"/>
            <c:showPercent val="0"/>
            <c:showBubbleSize val="0"/>
            <c:showLeaderLines val="0"/>
          </c:dLbls>
          <c:cat>
            <c:multiLvlStrRef>
              <c:f>Sheet1!$A$2:$A$5</c:f>
              <c:multiLvlStrCache>
                <c:ptCount val="4"/>
                <c:lvl>
                  <c:pt idx="0">
                    <c:v>UK</c:v>
                  </c:pt>
                  <c:pt idx="1">
                    <c:v>Frankreich</c:v>
                  </c:pt>
                  <c:pt idx="2">
                    <c:v>Österreich</c:v>
                  </c:pt>
                  <c:pt idx="3">
                    <c:v>Deutschland</c:v>
                  </c:pt>
                </c:lvl>
              </c:multiLvlStrCache>
            </c:multiLvlStrRef>
          </c:cat>
          <c:val>
            <c:numRef>
              <c:f>Sheet1!$B$2:$B$5</c:f>
              <c:numCache>
                <c:formatCode>General</c:formatCode>
                <c:ptCount val="4"/>
                <c:pt idx="0">
                  <c:v>14000</c:v>
                </c:pt>
                <c:pt idx="1">
                  <c:v>20000</c:v>
                </c:pt>
                <c:pt idx="2">
                  <c:v>20000</c:v>
                </c:pt>
                <c:pt idx="3">
                  <c:v>63000</c:v>
                </c:pt>
              </c:numCache>
            </c:numRef>
          </c:val>
        </c:ser>
        <c:dLbls>
          <c:numFmt formatCode="#&quot;'&quot;##0" sourceLinked="0"/>
          <c:txPr>
            <a:bodyPr/>
            <a:lstStyle/>
            <a:p>
              <a:pPr>
                <a:defRPr b="1" i="0" strike="noStrike" sz="1000" u="none">
                  <a:solidFill>
                    <a:srgbClr val="1A1A17"/>
                  </a:solidFill>
                  <a:latin typeface="Calibri"/>
                </a:defRPr>
              </a:pPr>
            </a:p>
          </c:txPr>
          <c:dLblPos val="outEnd"/>
          <c:showLegendKey val="0"/>
          <c:showVal val="1"/>
          <c:showCatName val="0"/>
          <c:showSerName val="0"/>
          <c:showPercent val="0"/>
          <c:showBubbleSize val="0"/>
          <c:showLeaderLines val="0"/>
        </c:dLbls>
        <c:gapWidth val="60"/>
        <c:overlap val="100"/>
        <c:axId val="2094734554"/>
        <c:axId val="2094734552"/>
        <c:axId val="2094734556"/>
      </c:barChart>
      <c:barChart>
        <c:barDir val="bar"/>
        <c:grouping val="clustered"/>
        <c:varyColors val="0"/>
        <c:ser>
          <c:idx val="1"/>
          <c:order val="1"/>
          <c:tx>
            <c:strRef>
              <c:f>Sheet1!$C$1</c:f>
              <c:strCache>
                <c:ptCount val="1"/>
                <c:pt idx="0">
                  <c:v>untere Grenze</c:v>
                </c:pt>
              </c:strCache>
            </c:strRef>
          </c:tx>
          <c:spPr>
            <a:solidFill>
              <a:srgbClr val="F7F5EF"/>
            </a:solidFill>
            <a:effectLst/>
          </c:spPr>
          <c:invertIfNegative val="0"/>
          <c:dLbls>
            <c:numFmt formatCode="#&quot;'&quot;##0" sourceLinked="0"/>
            <c:txPr>
              <a:bodyPr/>
              <a:lstStyle/>
              <a:p>
                <a:pPr>
                  <a:defRPr b="1" i="0" strike="noStrike" sz="1000" u="none">
                    <a:solidFill>
                      <a:srgbClr val="1A1A17"/>
                    </a:solidFill>
                    <a:latin typeface="Calibri"/>
                  </a:defRPr>
                </a:pPr>
              </a:p>
            </c:txPr>
            <c:dLblPos val="inEnd"/>
            <c:showLegendKey val="0"/>
            <c:showVal val="1"/>
            <c:showCatName val="0"/>
            <c:showSerName val="0"/>
            <c:showPercent val="0"/>
            <c:showBubbleSize val="0"/>
            <c:showLeaderLines val="0"/>
          </c:dLbls>
          <c:cat>
            <c:multiLvlStrRef>
              <c:f>Sheet1!$A$2:$A$5</c:f>
              <c:multiLvlStrCache>
                <c:ptCount val="4"/>
                <c:lvl>
                  <c:pt idx="0">
                    <c:v>UK</c:v>
                  </c:pt>
                  <c:pt idx="1">
                    <c:v>Frankreich</c:v>
                  </c:pt>
                  <c:pt idx="2">
                    <c:v>Österreich</c:v>
                  </c:pt>
                  <c:pt idx="3">
                    <c:v>Deutschland</c:v>
                  </c:pt>
                </c:lvl>
              </c:multiLvlStrCache>
            </c:multiLvlStrRef>
          </c:cat>
          <c:val>
            <c:numRef>
              <c:f>Sheet1!$C$2:$C$5</c:f>
              <c:numCache>
                <c:formatCode>General</c:formatCode>
                <c:ptCount val="4"/>
                <c:pt idx="0">
                  <c:v>10000</c:v>
                </c:pt>
                <c:pt idx="1">
                  <c:v>12000</c:v>
                </c:pt>
                <c:pt idx="2">
                  <c:v>13500</c:v>
                </c:pt>
                <c:pt idx="3">
                  <c:v>20000</c:v>
                </c:pt>
              </c:numCache>
            </c:numRef>
          </c:val>
        </c:ser>
        <c:dLbls>
          <c:numFmt formatCode="#&quot;'&quot;##0" sourceLinked="0"/>
          <c:txPr>
            <a:bodyPr/>
            <a:lstStyle/>
            <a:p>
              <a:pPr>
                <a:defRPr b="1" i="0" strike="noStrike" sz="1000" u="none">
                  <a:solidFill>
                    <a:srgbClr val="1A1A17"/>
                  </a:solidFill>
                  <a:latin typeface="Calibri"/>
                </a:defRPr>
              </a:pPr>
            </a:p>
          </c:txPr>
          <c:dLblPos val="inEnd"/>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56534B"/>
                </a:solidFill>
                <a:latin typeface="Calibri"/>
              </a:defRPr>
            </a:pPr>
            <a:endParaRPr lang="en-US"/>
          </a:p>
        </c:txPr>
        <c:crossAx val="2094734552"/>
        <c:crosses val="autoZero"/>
        <c:auto val="1"/>
        <c:lblAlgn val="ctr"/>
        <c:noMultiLvlLbl val="1"/>
      </c:catAx>
      <c:valAx>
        <c:axId val="2094734552"/>
        <c:scaling>
          <c:orientation val="minMax"/>
          <c:max val="720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5EF"/>
        </a:solidFill>
        <a:ln>
          <a:noFill/>
        </a:ln>
        <a:effectLst/>
      </c:spPr>
    </c:plotArea>
    <c:plotVisOnly val="1"/>
    <c:dispBlanksAs val="span"/>
  </c:chart>
  <c:spPr>
    <a:solidFill>
      <a:srgbClr val="F7F5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A1A17"/>
                </a:solidFill>
                <a:latin typeface="Calibri"/>
              </a:defRPr>
            </a:pPr>
            <a:r>
              <a:rPr sz="1200" b="0" i="0" u="none" strike="noStrike">
                <a:solidFill>
                  <a:srgbClr val="1A1A17"/>
                </a:solidFill>
                <a:latin typeface="Calibri"/>
              </a:rPr>
              <a:t>Was der Haushalt sieht: Investition (€)</a:t>
            </a:r>
          </a:p>
        </c:rich>
      </c:tx>
      <c:layout/>
      <c:overlay val="0"/>
    </c:title>
    <c:autoTitleDeleted val="0"/>
    <c:plotArea>
      <c:layout/>
      <c:barChart>
        <c:barDir val="col"/>
        <c:grouping val="clustered"/>
        <c:varyColors val="0"/>
        <c:ser>
          <c:idx val="0"/>
          <c:order val="0"/>
          <c:tx>
            <c:strRef>
              <c:f>Sheet1!$B$1</c:f>
              <c:strCache>
                <c:ptCount val="1"/>
                <c:pt idx="0">
                  <c:v>Investition</c:v>
                </c:pt>
              </c:strCache>
            </c:strRef>
          </c:tx>
          <c:spPr>
            <a:solidFill>
              <a:srgbClr val="7A2E2E"/>
            </a:solidFill>
            <a:effectLst/>
          </c:spPr>
          <c:invertIfNegative val="0"/>
          <c:dLbls>
            <c:numFmt formatCode="#&quot;'&quot;##0" sourceLinked="0"/>
            <c:txPr>
              <a:bodyPr/>
              <a:lstStyle/>
              <a:p>
                <a:pPr>
                  <a:defRPr b="1" i="0" strike="noStrike" sz="1100" u="none">
                    <a:solidFill>
                      <a:srgbClr val="1A1A17"/>
                    </a:solidFill>
                    <a:latin typeface="Calibri"/>
                  </a:defRPr>
                </a:pPr>
              </a:p>
            </c:txPr>
            <c:showLegendKey val="0"/>
            <c:showVal val="1"/>
            <c:showCatName val="0"/>
            <c:showSerName val="0"/>
            <c:showPercent val="0"/>
            <c:showBubbleSize val="0"/>
            <c:showLeaderLines val="0"/>
          </c:dLbls>
          <c:dPt>
            <c:idx val="0"/>
            <c:invertIfNegative val="0"/>
            <c:bubble3D val="0"/>
            <c:spPr>
              <a:solidFill>
                <a:srgbClr val="7A2E2E"/>
              </a:solidFill>
              <a:effectLst/>
            </c:spPr>
          </c:dPt>
          <c:dPt>
            <c:idx val="1"/>
            <c:invertIfNegative val="0"/>
            <c:bubble3D val="0"/>
            <c:spPr>
              <a:solidFill>
                <a:srgbClr val="8C877A"/>
              </a:solidFill>
              <a:effectLst/>
            </c:spPr>
          </c:dPt>
          <c:dPt>
            <c:idx val="2"/>
            <c:invertIfNegative val="0"/>
            <c:bubble3D val="0"/>
            <c:spPr>
              <a:solidFill>
                <a:srgbClr val="0F5257"/>
              </a:solidFill>
              <a:effectLst/>
            </c:spPr>
          </c:dPt>
          <c:cat>
            <c:multiLvlStrRef>
              <c:f>Sheet1!$A$2:$A$4</c:f>
              <c:multiLvlStrCache>
                <c:ptCount val="3"/>
                <c:lvl>
                  <c:pt idx="0">
                    <c:v>Gaskessel</c:v>
                  </c:pt>
                  <c:pt idx="1">
                    <c:v>WP heute (DE)</c:v>
                  </c:pt>
                  <c:pt idx="2">
                    <c:v>WP Referenz (EU)</c:v>
                  </c:pt>
                </c:lvl>
              </c:multiLvlStrCache>
            </c:multiLvlStrRef>
          </c:cat>
          <c:val>
            <c:numRef>
              <c:f>Sheet1!$B$2:$B$4</c:f>
              <c:numCache>
                <c:formatCode>General</c:formatCode>
                <c:ptCount val="3"/>
                <c:pt idx="0">
                  <c:v>9000</c:v>
                </c:pt>
                <c:pt idx="1">
                  <c:v>30000</c:v>
                </c:pt>
                <c:pt idx="2">
                  <c:v>16660</c:v>
                </c:pt>
              </c:numCache>
            </c:numRef>
          </c:val>
        </c:ser>
        <c:dLbls>
          <c:numFmt formatCode="#&quot;'&quot;##0" sourceLinked="0"/>
          <c:txPr>
            <a:bodyPr/>
            <a:lstStyle/>
            <a:p>
              <a:pPr>
                <a:defRPr b="1" i="0" strike="noStrike" sz="1100" u="none">
                  <a:solidFill>
                    <a:srgbClr val="1A1A17"/>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56534B"/>
                </a:solidFill>
                <a:latin typeface="Calibri"/>
              </a:defRPr>
            </a:pPr>
            <a:endParaRPr lang="en-US"/>
          </a:p>
        </c:txPr>
        <c:crossAx val="2094734552"/>
        <c:crosses val="autoZero"/>
        <c:auto val="1"/>
        <c:lblAlgn val="ctr"/>
        <c:noMultiLvlLbl val="1"/>
      </c:catAx>
      <c:valAx>
        <c:axId val="2094734552"/>
        <c:scaling>
          <c:orientation val="minMax"/>
          <c:max val="360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5EF"/>
        </a:solidFill>
        <a:ln>
          <a:noFill/>
        </a:ln>
        <a:effectLst/>
      </c:spPr>
    </c:plotArea>
    <c:plotVisOnly val="1"/>
    <c:dispBlanksAs val="span"/>
  </c:chart>
  <c:spPr>
    <a:solidFill>
      <a:srgbClr val="F7F5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A1A17"/>
                </a:solidFill>
                <a:latin typeface="Calibri"/>
              </a:defRPr>
            </a:pPr>
            <a:r>
              <a:rPr sz="1200" b="0" i="0" u="none" strike="noStrike">
                <a:solidFill>
                  <a:srgbClr val="1A1A17"/>
                </a:solidFill>
                <a:latin typeface="Calibri"/>
              </a:rPr>
              <a:t>Was es kostet: Vollkosten (ct/kWh)</a:t>
            </a:r>
          </a:p>
        </c:rich>
      </c:tx>
      <c:layout/>
      <c:overlay val="0"/>
    </c:title>
    <c:autoTitleDeleted val="0"/>
    <c:plotArea>
      <c:layout/>
      <c:barChart>
        <c:barDir val="col"/>
        <c:grouping val="clustered"/>
        <c:varyColors val="0"/>
        <c:ser>
          <c:idx val="0"/>
          <c:order val="0"/>
          <c:tx>
            <c:strRef>
              <c:f>Sheet1!$B$1</c:f>
              <c:strCache>
                <c:ptCount val="1"/>
                <c:pt idx="0">
                  <c:v>Vollkosten</c:v>
                </c:pt>
              </c:strCache>
            </c:strRef>
          </c:tx>
          <c:spPr>
            <a:solidFill>
              <a:srgbClr val="7A2E2E"/>
            </a:solidFill>
            <a:effectLst/>
          </c:spPr>
          <c:invertIfNegative val="0"/>
          <c:dLbls>
            <c:numFmt formatCode="0&quot;.&quot;00" sourceLinked="0"/>
            <c:txPr>
              <a:bodyPr/>
              <a:lstStyle/>
              <a:p>
                <a:pPr>
                  <a:defRPr b="1" i="0" strike="noStrike" sz="1100" u="none">
                    <a:solidFill>
                      <a:srgbClr val="1A1A17"/>
                    </a:solidFill>
                    <a:latin typeface="Calibri"/>
                  </a:defRPr>
                </a:pPr>
              </a:p>
            </c:txPr>
            <c:showLegendKey val="0"/>
            <c:showVal val="1"/>
            <c:showCatName val="0"/>
            <c:showSerName val="0"/>
            <c:showPercent val="0"/>
            <c:showBubbleSize val="0"/>
            <c:showLeaderLines val="0"/>
          </c:dLbls>
          <c:dPt>
            <c:idx val="0"/>
            <c:invertIfNegative val="0"/>
            <c:bubble3D val="0"/>
            <c:spPr>
              <a:solidFill>
                <a:srgbClr val="7A2E2E"/>
              </a:solidFill>
              <a:effectLst/>
            </c:spPr>
          </c:dPt>
          <c:dPt>
            <c:idx val="1"/>
            <c:invertIfNegative val="0"/>
            <c:bubble3D val="0"/>
            <c:spPr>
              <a:solidFill>
                <a:srgbClr val="8C877A"/>
              </a:solidFill>
              <a:effectLst/>
            </c:spPr>
          </c:dPt>
          <c:dPt>
            <c:idx val="2"/>
            <c:invertIfNegative val="0"/>
            <c:bubble3D val="0"/>
            <c:spPr>
              <a:solidFill>
                <a:srgbClr val="0F5257"/>
              </a:solidFill>
              <a:effectLst/>
            </c:spPr>
          </c:dPt>
          <c:cat>
            <c:multiLvlStrRef>
              <c:f>Sheet1!$A$2:$A$4</c:f>
              <c:multiLvlStrCache>
                <c:ptCount val="3"/>
                <c:lvl>
                  <c:pt idx="0">
                    <c:v>Gaskessel</c:v>
                  </c:pt>
                  <c:pt idx="1">
                    <c:v>WP heute (DE)</c:v>
                  </c:pt>
                  <c:pt idx="2">
                    <c:v>WP Referenz (EU)</c:v>
                  </c:pt>
                </c:lvl>
              </c:multiLvlStrCache>
            </c:multiLvlStrRef>
          </c:cat>
          <c:val>
            <c:numRef>
              <c:f>Sheet1!$B$2:$B$4</c:f>
              <c:numCache>
                <c:formatCode>General</c:formatCode>
                <c:ptCount val="3"/>
                <c:pt idx="0">
                  <c:v>2151</c:v>
                </c:pt>
                <c:pt idx="1">
                  <c:v>2373</c:v>
                </c:pt>
                <c:pt idx="2">
                  <c:v>1775</c:v>
                </c:pt>
              </c:numCache>
            </c:numRef>
          </c:val>
        </c:ser>
        <c:dLbls>
          <c:numFmt formatCode="0&quot;.&quot;00" sourceLinked="0"/>
          <c:txPr>
            <a:bodyPr/>
            <a:lstStyle/>
            <a:p>
              <a:pPr>
                <a:defRPr b="1" i="0" strike="noStrike" sz="1100" u="none">
                  <a:solidFill>
                    <a:srgbClr val="1A1A17"/>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56534B"/>
                </a:solidFill>
                <a:latin typeface="Calibri"/>
              </a:defRPr>
            </a:pPr>
            <a:endParaRPr lang="en-US"/>
          </a:p>
        </c:txPr>
        <c:crossAx val="2094734552"/>
        <c:crosses val="autoZero"/>
        <c:auto val="1"/>
        <c:lblAlgn val="ctr"/>
        <c:noMultiLvlLbl val="1"/>
      </c:catAx>
      <c:valAx>
        <c:axId val="2094734552"/>
        <c:scaling>
          <c:orientation val="minMax"/>
          <c:max val="28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5EF"/>
        </a:solidFill>
        <a:ln>
          <a:noFill/>
        </a:ln>
        <a:effectLst/>
      </c:spPr>
    </c:plotArea>
    <c:plotVisOnly val="1"/>
    <c:dispBlanksAs val="span"/>
  </c:chart>
  <c:spPr>
    <a:solidFill>
      <a:srgbClr val="F7F5E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A1A17"/>
                </a:solidFill>
                <a:latin typeface="Calibri"/>
              </a:defRPr>
            </a:pPr>
            <a:r>
              <a:rPr sz="1200" b="0" i="0" u="none" strike="noStrike">
                <a:solidFill>
                  <a:srgbClr val="1A1A17"/>
                </a:solidFill>
                <a:latin typeface="Calibri"/>
              </a:rPr>
              <a:t>Netzausbau, MWh je Trassenmeter und Jahr</a:t>
            </a:r>
          </a:p>
        </c:rich>
      </c:tx>
      <c:layout/>
      <c:overlay val="0"/>
    </c:title>
    <c:autoTitleDeleted val="0"/>
    <c:plotArea>
      <c:layout/>
      <c:barChart>
        <c:barDir val="col"/>
        <c:grouping val="clustered"/>
        <c:varyColors val="0"/>
        <c:ser>
          <c:idx val="0"/>
          <c:order val="0"/>
          <c:tx>
            <c:strRef>
              <c:f>Sheet1!$B$1</c:f>
              <c:strCache>
                <c:ptCount val="1"/>
                <c:pt idx="0">
                  <c:v>erreichte Wärmeliniendichte</c:v>
                </c:pt>
              </c:strCache>
            </c:strRef>
          </c:tx>
          <c:spPr>
            <a:solidFill>
              <a:srgbClr val="1F5673"/>
            </a:solidFill>
            <a:effectLst/>
          </c:spPr>
          <c:invertIfNegative val="0"/>
          <c:dLbls>
            <c:numFmt formatCode="0&quot;.&quot;00" sourceLinked="0"/>
            <c:txPr>
              <a:bodyPr/>
              <a:lstStyle/>
              <a:p>
                <a:pPr>
                  <a:defRPr b="0" i="0" strike="noStrike" sz="950" u="none">
                    <a:solidFill>
                      <a:srgbClr val="1A1A17"/>
                    </a:solidFill>
                    <a:latin typeface="Calibri"/>
                  </a:defRPr>
                </a:pPr>
              </a:p>
            </c:txPr>
            <c:showLegendKey val="0"/>
            <c:showVal val="1"/>
            <c:showCatName val="0"/>
            <c:showSerName val="0"/>
            <c:showPercent val="0"/>
            <c:showBubbleSize val="0"/>
            <c:showLeaderLines val="0"/>
          </c:dLbls>
          <c:cat>
            <c:multiLvlStrRef>
              <c:f>Sheet1!$A$2:$A$6</c:f>
              <c:multiLvlStrCache>
                <c:ptCount val="5"/>
                <c:lvl>
                  <c:pt idx="0">
                    <c:v>EFH-Gebiet</c:v>
                  </c:pt>
                  <c:pt idx="1">
                    <c:v>Reihenhaus</c:v>
                  </c:pt>
                  <c:pt idx="2">
                    <c:v>Kleines MFH</c:v>
                  </c:pt>
                  <c:pt idx="3">
                    <c:v>Gründerzeitblock</c:v>
                  </c:pt>
                  <c:pt idx="4">
                    <c:v>Plattenbau-Zeile</c:v>
                  </c:pt>
                </c:lvl>
              </c:multiLvlStrCache>
            </c:multiLvlStrRef>
          </c:cat>
          <c:val>
            <c:numRef>
              <c:f>Sheet1!$B$2:$B$6</c:f>
              <c:numCache>
                <c:formatCode>General</c:formatCode>
                <c:ptCount val="5"/>
                <c:pt idx="0">
                  <c:v>86</c:v>
                </c:pt>
                <c:pt idx="1">
                  <c:v>214</c:v>
                </c:pt>
                <c:pt idx="2">
                  <c:v>391</c:v>
                </c:pt>
                <c:pt idx="3">
                  <c:v>744</c:v>
                </c:pt>
                <c:pt idx="4">
                  <c:v>423</c:v>
                </c:pt>
              </c:numCache>
            </c:numRef>
          </c:val>
        </c:ser>
        <c:ser>
          <c:idx val="1"/>
          <c:order val="1"/>
          <c:tx>
            <c:strRef>
              <c:f>Sheet1!$C$1</c:f>
              <c:strCache>
                <c:ptCount val="1"/>
                <c:pt idx="0">
                  <c:v>Schwelle für ein Abwärmenetz</c:v>
                </c:pt>
              </c:strCache>
            </c:strRef>
          </c:tx>
          <c:spPr>
            <a:solidFill>
              <a:srgbClr val="D9A441"/>
            </a:solidFill>
            <a:effectLst/>
          </c:spPr>
          <c:invertIfNegative val="0"/>
          <c:dLbls>
            <c:numFmt formatCode="0&quot;.&quot;00" sourceLinked="0"/>
            <c:txPr>
              <a:bodyPr/>
              <a:lstStyle/>
              <a:p>
                <a:pPr>
                  <a:defRPr b="0" i="0" strike="noStrike" sz="950" u="none">
                    <a:solidFill>
                      <a:srgbClr val="1A1A17"/>
                    </a:solidFill>
                    <a:latin typeface="Calibri"/>
                  </a:defRPr>
                </a:pPr>
              </a:p>
            </c:txPr>
            <c:showLegendKey val="0"/>
            <c:showVal val="1"/>
            <c:showCatName val="0"/>
            <c:showSerName val="0"/>
            <c:showPercent val="0"/>
            <c:showBubbleSize val="0"/>
            <c:showLeaderLines val="0"/>
          </c:dLbls>
          <c:cat>
            <c:multiLvlStrRef>
              <c:f>Sheet1!$A$2:$A$6</c:f>
              <c:multiLvlStrCache>
                <c:ptCount val="5"/>
                <c:lvl>
                  <c:pt idx="0">
                    <c:v>EFH-Gebiet</c:v>
                  </c:pt>
                  <c:pt idx="1">
                    <c:v>Reihenhaus</c:v>
                  </c:pt>
                  <c:pt idx="2">
                    <c:v>Kleines MFH</c:v>
                  </c:pt>
                  <c:pt idx="3">
                    <c:v>Gründerzeitblock</c:v>
                  </c:pt>
                  <c:pt idx="4">
                    <c:v>Plattenbau-Zeile</c:v>
                  </c:pt>
                </c:lvl>
              </c:multiLvlStrCache>
            </c:multiLvlStrRef>
          </c:cat>
          <c:val>
            <c:numRef>
              <c:f>Sheet1!$C$2:$C$6</c:f>
              <c:numCache>
                <c:formatCode>General</c:formatCode>
                <c:ptCount val="5"/>
                <c:pt idx="0">
                  <c:v>107</c:v>
                </c:pt>
                <c:pt idx="1">
                  <c:v>108</c:v>
                </c:pt>
                <c:pt idx="2">
                  <c:v>108</c:v>
                </c:pt>
                <c:pt idx="3">
                  <c:v>245</c:v>
                </c:pt>
                <c:pt idx="4">
                  <c:v>133</c:v>
                </c:pt>
              </c:numCache>
            </c:numRef>
          </c:val>
        </c:ser>
        <c:dLbls>
          <c:numFmt formatCode="0&quot;.&quot;00" sourceLinked="0"/>
          <c:txPr>
            <a:bodyPr/>
            <a:lstStyle/>
            <a:p>
              <a:pPr>
                <a:defRPr b="0" i="0" strike="noStrike" sz="950" u="none">
                  <a:solidFill>
                    <a:srgbClr val="1A1A17"/>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56534B"/>
                </a:solidFill>
                <a:latin typeface="Calibri"/>
              </a:defRPr>
            </a:pPr>
            <a:endParaRPr lang="en-US"/>
          </a:p>
        </c:txPr>
        <c:crossAx val="2094734552"/>
        <c:crosses val="autoZero"/>
        <c:auto val="1"/>
        <c:lblAlgn val="ctr"/>
        <c:noMultiLvlLbl val="1"/>
      </c:catAx>
      <c:valAx>
        <c:axId val="2094734552"/>
        <c:scaling>
          <c:orientation val="minMax"/>
          <c:max val="85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5EF"/>
        </a:solidFill>
        <a:ln>
          <a:noFill/>
        </a:ln>
        <a:effectLst/>
      </c:spPr>
    </c:plotArea>
    <c:legend>
      <c:legendPos val="t"/>
      <c:overlay val="0"/>
      <c:txPr>
        <a:bodyPr/>
        <a:lstStyle/>
        <a:p>
          <a:pPr>
            <a:defRPr sz="1000">
              <a:solidFill>
                <a:srgbClr val="56534B"/>
              </a:solidFill>
              <a:latin typeface="Calibri"/>
              <a:cs typeface="Calibri"/>
            </a:defRPr>
          </a:pPr>
          <a:endParaRPr lang="en-US"/>
        </a:p>
      </c:txPr>
    </c:legend>
    <c:plotVisOnly val="1"/>
    <c:dispBlanksAs val="span"/>
  </c:chart>
  <c:spPr>
    <a:solidFill>
      <a:srgbClr val="F7F5E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150" b="0" i="0" u="none" strike="noStrike">
                <a:solidFill>
                  <a:srgbClr val="1A1A17"/>
                </a:solidFill>
                <a:latin typeface="Calibri"/>
              </a:defRPr>
            </a:pPr>
            <a:r>
              <a:rPr sz="1150" b="0" i="0" u="none" strike="noStrike">
                <a:solidFill>
                  <a:srgbClr val="1A1A17"/>
                </a:solidFill>
                <a:latin typeface="Calibri"/>
              </a:rPr>
              <a:t>Dichteschwelle EFH-Referenz, Bestandsstraße – je nach Vergleichsmaßstab (MWh/(m·a))</a:t>
            </a:r>
          </a:p>
        </c:rich>
      </c:tx>
      <c:layout/>
      <c:overlay val="0"/>
    </c:title>
    <c:autoTitleDeleted val="0"/>
    <c:plotArea>
      <c:layout/>
      <c:barChart>
        <c:barDir val="col"/>
        <c:grouping val="clustered"/>
        <c:varyColors val="0"/>
        <c:ser>
          <c:idx val="0"/>
          <c:order val="0"/>
          <c:tx>
            <c:strRef>
              <c:f>Sheet1!$B$1</c:f>
              <c:strCache>
                <c:ptCount val="1"/>
                <c:pt idx="0">
                  <c:v>Abwärmenetz</c:v>
                </c:pt>
              </c:strCache>
            </c:strRef>
          </c:tx>
          <c:spPr>
            <a:solidFill>
              <a:srgbClr val="1F5673"/>
            </a:solidFill>
            <a:effectLst/>
          </c:spPr>
          <c:invertIfNegative val="0"/>
          <c:dLbls>
            <c:numFmt formatCode="0&quot;.&quot;00" sourceLinked="0"/>
            <c:txPr>
              <a:bodyPr/>
              <a:lstStyle/>
              <a:p>
                <a:pPr>
                  <a:defRPr b="0" i="0" strike="noStrike" sz="1000" u="none">
                    <a:solidFill>
                      <a:srgbClr val="1A1A17"/>
                    </a:solidFill>
                    <a:latin typeface="Calibri"/>
                  </a:defRPr>
                </a:pPr>
              </a:p>
            </c:txPr>
            <c:showLegendKey val="0"/>
            <c:showVal val="1"/>
            <c:showCatName val="0"/>
            <c:showSerName val="0"/>
            <c:showPercent val="0"/>
            <c:showBubbleSize val="0"/>
            <c:showLeaderLines val="0"/>
          </c:dLbls>
          <c:cat>
            <c:multiLvlStrRef>
              <c:f>Sheet1!$A$2:$A$4</c:f>
              <c:multiLvlStrCache>
                <c:ptCount val="3"/>
                <c:lvl>
                  <c:pt idx="0">
                    <c:v>gegen WP heute (DE) 23.73 ct</c:v>
                  </c:pt>
                  <c:pt idx="1">
                    <c:v>gegen Gasheizung 21.51 ct</c:v>
                  </c:pt>
                  <c:pt idx="2">
                    <c:v>gegen WP-Referenz 17.75 ct</c:v>
                  </c:pt>
                </c:lvl>
              </c:multiLvlStrCache>
            </c:multiLvlStrRef>
          </c:cat>
          <c:val>
            <c:numRef>
              <c:f>Sheet1!$B$2:$B$4</c:f>
              <c:numCache>
                <c:formatCode>General</c:formatCode>
                <c:ptCount val="3"/>
                <c:pt idx="0">
                  <c:v>60</c:v>
                </c:pt>
                <c:pt idx="1">
                  <c:v>72</c:v>
                </c:pt>
                <c:pt idx="2">
                  <c:v>107</c:v>
                </c:pt>
              </c:numCache>
            </c:numRef>
          </c:val>
        </c:ser>
        <c:ser>
          <c:idx val="1"/>
          <c:order val="1"/>
          <c:tx>
            <c:strRef>
              <c:f>Sheet1!$C$1</c:f>
              <c:strCache>
                <c:ptCount val="1"/>
                <c:pt idx="0">
                  <c:v>Großwärmepumpen-/Geothermienetz</c:v>
                </c:pt>
              </c:strCache>
            </c:strRef>
          </c:tx>
          <c:spPr>
            <a:solidFill>
              <a:srgbClr val="D9A441"/>
            </a:solidFill>
            <a:effectLst/>
          </c:spPr>
          <c:invertIfNegative val="0"/>
          <c:dLbls>
            <c:numFmt formatCode="0&quot;.&quot;00" sourceLinked="0"/>
            <c:txPr>
              <a:bodyPr/>
              <a:lstStyle/>
              <a:p>
                <a:pPr>
                  <a:defRPr b="0" i="0" strike="noStrike" sz="1000" u="none">
                    <a:solidFill>
                      <a:srgbClr val="1A1A17"/>
                    </a:solidFill>
                    <a:latin typeface="Calibri"/>
                  </a:defRPr>
                </a:pPr>
              </a:p>
            </c:txPr>
            <c:showLegendKey val="0"/>
            <c:showVal val="1"/>
            <c:showCatName val="0"/>
            <c:showSerName val="0"/>
            <c:showPercent val="0"/>
            <c:showBubbleSize val="0"/>
            <c:showLeaderLines val="0"/>
          </c:dLbls>
          <c:cat>
            <c:multiLvlStrRef>
              <c:f>Sheet1!$A$2:$A$4</c:f>
              <c:multiLvlStrCache>
                <c:ptCount val="3"/>
                <c:lvl>
                  <c:pt idx="0">
                    <c:v>gegen WP heute (DE) 23.73 ct</c:v>
                  </c:pt>
                  <c:pt idx="1">
                    <c:v>gegen Gasheizung 21.51 ct</c:v>
                  </c:pt>
                  <c:pt idx="2">
                    <c:v>gegen WP-Referenz 17.75 ct</c:v>
                  </c:pt>
                </c:lvl>
              </c:multiLvlStrCache>
            </c:multiLvlStrRef>
          </c:cat>
          <c:val>
            <c:numRef>
              <c:f>Sheet1!$C$2:$C$4</c:f>
              <c:numCache>
                <c:formatCode>General</c:formatCode>
                <c:ptCount val="3"/>
                <c:pt idx="0">
                  <c:v>110</c:v>
                </c:pt>
                <c:pt idx="1">
                  <c:v>157</c:v>
                </c:pt>
                <c:pt idx="2">
                  <c:v>546</c:v>
                </c:pt>
              </c:numCache>
            </c:numRef>
          </c:val>
        </c:ser>
        <c:dLbls>
          <c:numFmt formatCode="0&quot;.&quot;00" sourceLinked="0"/>
          <c:txPr>
            <a:bodyPr/>
            <a:lstStyle/>
            <a:p>
              <a:pPr>
                <a:defRPr b="0" i="0" strike="noStrike" sz="1000" u="none">
                  <a:solidFill>
                    <a:srgbClr val="1A1A17"/>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56534B"/>
                </a:solidFill>
                <a:latin typeface="Calibri"/>
              </a:defRPr>
            </a:pPr>
            <a:endParaRPr lang="en-US"/>
          </a:p>
        </c:txPr>
        <c:crossAx val="2094734552"/>
        <c:crosses val="autoZero"/>
        <c:auto val="1"/>
        <c:lblAlgn val="ctr"/>
        <c:noMultiLvlLbl val="1"/>
      </c:catAx>
      <c:valAx>
        <c:axId val="2094734552"/>
        <c:scaling>
          <c:orientation val="minMax"/>
          <c:max val="62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5EF"/>
        </a:solidFill>
        <a:ln>
          <a:noFill/>
        </a:ln>
        <a:effectLst/>
      </c:spPr>
    </c:plotArea>
    <c:legend>
      <c:legendPos val="t"/>
      <c:overlay val="0"/>
      <c:txPr>
        <a:bodyPr/>
        <a:lstStyle/>
        <a:p>
          <a:pPr>
            <a:defRPr sz="1000">
              <a:solidFill>
                <a:srgbClr val="56534B"/>
              </a:solidFill>
              <a:latin typeface="Calibri"/>
              <a:cs typeface="Calibri"/>
            </a:defRPr>
          </a:pPr>
          <a:endParaRPr lang="en-US"/>
        </a:p>
      </c:txPr>
    </c:legend>
    <c:plotVisOnly val="1"/>
    <c:dispBlanksAs val="span"/>
  </c:chart>
  <c:spPr>
    <a:solidFill>
      <a:srgbClr val="F7F5E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1A1A17"/>
                </a:solidFill>
                <a:latin typeface="Calibri"/>
              </a:defRPr>
            </a:pPr>
            <a:r>
              <a:rPr sz="1200" b="0" i="0" u="none" strike="noStrike">
                <a:solidFill>
                  <a:srgbClr val="1A1A17"/>
                </a:solidFill>
                <a:latin typeface="Calibri"/>
              </a:rPr>
              <a:t>Wohneinheiten, die 1 Mrd. € umstellt</a:t>
            </a:r>
          </a:p>
        </c:rich>
      </c:tx>
      <c:layout/>
      <c:overlay val="0"/>
    </c:title>
    <c:autoTitleDeleted val="0"/>
    <c:plotArea>
      <c:layout/>
      <c:barChart>
        <c:barDir val="bar"/>
        <c:grouping val="clustered"/>
        <c:varyColors val="0"/>
        <c:ser>
          <c:idx val="0"/>
          <c:order val="0"/>
          <c:tx>
            <c:strRef>
              <c:f>Sheet1!$B$1</c:f>
              <c:strCache>
                <c:ptCount val="1"/>
                <c:pt idx="0">
                  <c:v>WE</c:v>
                </c:pt>
              </c:strCache>
            </c:strRef>
          </c:tx>
          <c:spPr>
            <a:solidFill>
              <a:srgbClr val="0F5257"/>
            </a:solidFill>
            <a:effectLst/>
          </c:spPr>
          <c:invertIfNegative val="0"/>
          <c:dLbls>
            <c:numFmt formatCode="#&quot;'&quot;##0" sourceLinked="0"/>
            <c:txPr>
              <a:bodyPr/>
              <a:lstStyle/>
              <a:p>
                <a:pPr>
                  <a:defRPr b="1" i="0" strike="noStrike" sz="1050" u="none">
                    <a:solidFill>
                      <a:srgbClr val="1A1A17"/>
                    </a:solidFill>
                    <a:latin typeface="Calibri"/>
                  </a:defRPr>
                </a:pPr>
              </a:p>
            </c:txPr>
            <c:showLegendKey val="0"/>
            <c:showVal val="1"/>
            <c:showCatName val="0"/>
            <c:showSerName val="0"/>
            <c:showPercent val="0"/>
            <c:showBubbleSize val="0"/>
            <c:showLeaderLines val="0"/>
          </c:dLbls>
          <c:dPt>
            <c:idx val="0"/>
            <c:invertIfNegative val="0"/>
            <c:bubble3D val="0"/>
            <c:spPr>
              <a:solidFill>
                <a:srgbClr val="0F5257"/>
              </a:solidFill>
              <a:effectLst/>
            </c:spPr>
          </c:dPt>
          <c:dPt>
            <c:idx val="1"/>
            <c:invertIfNegative val="0"/>
            <c:bubble3D val="0"/>
            <c:spPr>
              <a:solidFill>
                <a:srgbClr val="1F5673"/>
              </a:solidFill>
              <a:effectLst/>
            </c:spPr>
          </c:dPt>
          <c:dPt>
            <c:idx val="2"/>
            <c:invertIfNegative val="0"/>
            <c:bubble3D val="0"/>
            <c:spPr>
              <a:solidFill>
                <a:srgbClr val="1F5673"/>
              </a:solidFill>
              <a:effectLst/>
            </c:spPr>
          </c:dPt>
          <c:dPt>
            <c:idx val="3"/>
            <c:invertIfNegative val="0"/>
            <c:bubble3D val="0"/>
            <c:spPr>
              <a:solidFill>
                <a:srgbClr val="1F5673"/>
              </a:solidFill>
              <a:effectLst/>
            </c:spPr>
          </c:dPt>
          <c:dPt>
            <c:idx val="4"/>
            <c:invertIfNegative val="0"/>
            <c:bubble3D val="0"/>
            <c:spPr>
              <a:solidFill>
                <a:srgbClr val="1F5673"/>
              </a:solidFill>
              <a:effectLst/>
            </c:spPr>
          </c:dPt>
          <c:dPt>
            <c:idx val="5"/>
            <c:invertIfNegative val="0"/>
            <c:bubble3D val="0"/>
            <c:spPr>
              <a:solidFill>
                <a:srgbClr val="1F5673"/>
              </a:solidFill>
              <a:effectLst/>
            </c:spPr>
          </c:dPt>
          <c:cat>
            <c:multiLvlStrRef>
              <c:f>Sheet1!$A$2:$A$7</c:f>
              <c:multiLvlStrCache>
                <c:ptCount val="6"/>
                <c:lvl>
                  <c:pt idx="0">
                    <c:v>WP-Festbetrag 9'000 €</c:v>
                  </c:pt>
                  <c:pt idx="1">
                    <c:v>EFH-Gebiet</c:v>
                  </c:pt>
                  <c:pt idx="2">
                    <c:v>Reihenhausgebiet</c:v>
                  </c:pt>
                  <c:pt idx="3">
                    <c:v>Kleines MFH, 5 WE</c:v>
                  </c:pt>
                  <c:pt idx="4">
                    <c:v>Gründerzeitblock, 12 WE</c:v>
                  </c:pt>
                  <c:pt idx="5">
                    <c:v>Plattenbau-Zeile, 60 WE</c:v>
                  </c:pt>
                </c:lvl>
              </c:multiLvlStrCache>
            </c:multiLvlStrRef>
          </c:cat>
          <c:val>
            <c:numRef>
              <c:f>Sheet1!$B$2:$B$7</c:f>
              <c:numCache>
                <c:formatCode>General</c:formatCode>
                <c:ptCount val="6"/>
                <c:pt idx="0">
                  <c:v>111000</c:v>
                </c:pt>
                <c:pt idx="1">
                  <c:v>26000</c:v>
                </c:pt>
                <c:pt idx="2">
                  <c:v>54000</c:v>
                </c:pt>
                <c:pt idx="3">
                  <c:v>198000</c:v>
                </c:pt>
                <c:pt idx="4">
                  <c:v>228000</c:v>
                </c:pt>
                <c:pt idx="5">
                  <c:v>413000</c:v>
                </c:pt>
              </c:numCache>
            </c:numRef>
          </c:val>
        </c:ser>
        <c:dLbls>
          <c:numFmt formatCode="#&quot;'&quot;##0" sourceLinked="0"/>
          <c:txPr>
            <a:bodyPr/>
            <a:lstStyle/>
            <a:p>
              <a:pPr>
                <a:defRPr b="1" i="0" strike="noStrike" sz="1050" u="none">
                  <a:solidFill>
                    <a:srgbClr val="1A1A17"/>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1A1A17"/>
                </a:solidFill>
                <a:latin typeface="Calibri"/>
              </a:defRPr>
            </a:pPr>
            <a:endParaRPr lang="en-US"/>
          </a:p>
        </c:txPr>
        <c:crossAx val="2094734552"/>
        <c:crosses val="autoZero"/>
        <c:auto val="1"/>
        <c:lblAlgn val="ctr"/>
        <c:noMultiLvlLbl val="1"/>
      </c:catAx>
      <c:valAx>
        <c:axId val="2094734552"/>
        <c:scaling>
          <c:orientation val="minMax"/>
          <c:max val="4800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5EF"/>
        </a:solidFill>
        <a:ln>
          <a:noFill/>
        </a:ln>
        <a:effectLst/>
      </c:spPr>
    </c:plotArea>
    <c:plotVisOnly val="1"/>
    <c:dispBlanksAs val="span"/>
  </c:chart>
  <c:spPr>
    <a:solidFill>
      <a:srgbClr val="F7F5E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Eigene Einordnung als Newcomer und Nicht-Fachmann offen ansprechen — das ist der Grund, warum es hochgezogene Augenbrauen gibt, skeptische wie beeindruckte, und beides ist gewollt. Kernbotschaft: Die Methodik macht das Papier nicht glaubwürdiger, sondern angreifbarer — und genau das ist der Anspruch. Wer die drei Fragen beantworten kann, sitzt bei Agora, Fraunhofer IEE/ISE, ifeu, in der Kalkulation eines Stadtwerks — oder in der BAG Energie. Quelle: Abschnitt „Zur Entstehung dieses Papiers“ und Abschnitt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Einstieg in Teil I. Kernaussage: Der Preisunterschied ist kein Naturgesetz. Zahlen: DE rund 30'000 € komplett installiert (Verbraucherzentrale RLP 2025, Spanne 20'000–63'000 €, Median 35'000 €), UK 10'000–14'000 €, FR 12'000–20'000 €, AT 13'500–20'000 €. Zwei Erhebungen (HuG, Octopus/RWTH) mit unterschiedlicher Methodik — bewusst als Bandbreiten gezeigt, nicht als Punktwerte. Referenzwert des Papiers: 14'000 € netto, mit 19 % USt 16'660 € (Referenzfall Teil II). Der entscheidende Befund steht rechts: nach Förderung zahlt der britische Haushalt rund 3'200 €, der deutsche bei 50 % BEG rund 14'900 € — fast das Fünffache trotz höherer Förderquote. Fundstelle: Teil I, Ausgangslage und Diagnose.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Tabelle Teil I, Diagnose. Rund 70 % der Preisdifferenz quantifizierbar (Geräte, Fundament, Elektro, Lohn, USt), 30 % schwer greifbar und sich verstärkend. Die prozentuale Förderung ist der stärkste Einzeltreiber, weil sie alle anderen multipliziert – deshalb ist Hebel 1 (Festbetrag) auch der stärkste Einzelhebel. Systemlogik (Teil I, letzter Abschnitt): Prozentuale Förderung bei gleichzeitiger Normenverbindlichkeit nimmt jede Motivation zur Kostendisziplin; der Kunde zahlt 30–70 % weniger, der Rest kommt vom Staat, und der Handwerker haftet, wenn er die günstigere Lösung wählt. Reform muss an drei Punkten gleichzeitig ansetzen: Haftung (Safe Harbour), Förderdesign (Festbetrag), Normenwesen (Entkoppelung von der Fördervoraussetzung). Einzelmaßnahmen verpuffen. Zu Hebel 2: Koalitionsvertrag 2025 kündigt an, die Bindungswirkung von Normsetzungen auf ein sicherheitsrelevantes Maß zurückzuführen – Umsetzung steht aus. Hebel 5 steht nachrangig, behebt aber als einziger die Ungleichbehandlung PV/WP an der Wurzel.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Hintergrund für die Diskussion: Pipeline-Lobby und Fernwärmeseite berichten dasselbe Problem — außer alten Gasheizungen rechnet sich derzeit nichts, weil Haushalte und Planer gegen den aktuellen Fossilgaspreis und die Gastherme rechnen und implizit davon ausgehen, dass 2045 nicht durchgesetzt wird. Den Wandel erzeugt nur die bessere Wirtschaftlichkeit der Erneuerbaren, und die glaubt man nur, wenn die Regulierung nicht wieder kassiert wird. Genau deshalb ist Teil I keine Nebensache: Der Vergleichsmaßstab entscheidet über das Vorzeichen — beim Kessel wie beim Netz. Zahlen: Abschnitt 4.2 und Anhang A.10 (Gasheizung), Abschnitt 7 und Anhang A.7 (Gasvorlauf im Netz). 27 Kombinationen = Investition 6/9/12 T€ × Gaspreis 9/11/13 ct × Nutzungsgrad.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Kern der Methodik, ungewöhnliche Setzung: Statt Dichte als Axiom wird zuerst gerechnet, was die Netzwärme vor dem ersten Meter Trasse kostet (Erzeugung, Speicher, Pumpstrom, Netzverluste, Betrieb – Vollkosten, Annuität), und gegen die preisnormalisierte Wärmepumpe (17.75 ct) gestellt. Die Differenz ist das Budget fürs Verteilnetz (Abschnitt 4.3): Abwärme 10.02 → +7.72; GroßWP/Geothermie 16.23 → +1.51; Gas-KWK fossil 20.30 → −2.55 (negativ: Netz kann bei keiner Dichte gewinnen). Gasvorlauf-Pfade: barwertgewichtet mit der Nachfolgequelle, der Vorlauf kostet stets 56 % der Differenz zwischen Gassockel und Nachfolgesockel – 5.7 ct vor Abwärme, 2.3 ct vor GroßWP; daraus Budget +2.0 bzw. −0.8 (Sockel 15.75 / 18.55 sind aus diesen Papierwerten hergeleitet, nicht als Tabellenzeile im Papier). Nachfolge in grün mit demselben Brennstoff müsste ab 2045 Wärme für 6.4 ct/kWh liefern – weniger als fossiles Gas inkl. CO₂ heute (Befund 2). Nicht auf der Folie: wie gerechnet wird – nächste 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Abschnitt 1, 2, 5.1. Wärmeliniendichte ist die übliche Kenngröße der Netzplanung. Die Formel bewusst groß im Kasten: Sie verbindet die Vorfolie (Budget) mit der nächsten (erreichte Dichte gegen Schwelle). Anschlussquote 100 % in allen Basisrechnungen; bei 60 % steigen sämtliche Schwellen um Faktor 1.67 (Abschnitt 7). Trassenkosten: AGFW-Praxishilfe weist nur Punktwolken aus, Werte sind abgelesene Medianschätzungen für DN 25–100, Preisstand 2021, mit Baupreisindex Ortskanäle ×1.422 auf Mai 2026 hochgerechnet, plus USt. Tiefbau und Oberfläche machen ~60 % der Verlegekosten aus – daher Faktor zwei zwischen unbefestigt und befestigt.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Befund 1 und 3, Tabelle Abschnitt 5.2. Erreichte Dichte aus der Bebauungsgeometrie hergeleitet (nicht gemessen): EFH 17 m Trasse → 0.86; Reihenhaus 5 m → 2.14; kleines MFH 5 WE, 9 m → 3.91; Gründerzeit 12 WE, 12 m → 7.44; Platte 60 WE, 80 m → 4.23. Abwärmeschwellen 1.07 / 1.08 / 1.08 / 2.45 / 1.33; GroßWP-Schwellen 5.43 / 5.61 / 5.82 / 20.05 / unerreichbar. EFH-Kipppunkt: 13.7 Trassenmeter (Spanne 13–30). Robustheit: 36 Kombinationen (A.3), Abwärme-Ergebnis kippt nie. Befund 3 ausführlich auf Reservefolie R2. Im vorhandenen Netz (Trasse bezahlt) dreht sich die EFH-Zeile: Schwelle 0.63 &lt; 0.86 → Anschluss gewinnt (Befund 6, Abschnitt 5.3) – bei Nachfrage.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Befund 4 (Abschnitt 5.4 Punkt 2) und 9.5. Schwellen EFH-Referenz, Bestandsstraße 1'692 €/m: gegen 23.73 ct Abwärme 0.60, GroßWP 1.10; gegen 21.51 ct 0.72 / 1.57; gegen 17.75 ct 1.07 / 5.46 → Faktor 1.8 (Abwärme) bzw. 5 (GroßWP). Hochlauf-Argument: nicht im Modell gerechnet, aber im Papier benannt (Abschnitt 8, Lernkurve WP vs. Baupreisindex +42 %); als qualitative Verschärfung vortragen, nicht als Zahl. Gas-Verknüpfung: Folie 3 – gegen 23.73 gewinnt der Kessel in 22 von 27 Kombinationen. 9.5: Jeder Euro, den die Reformhebel vom Installationspreis abziehen, wirkt als Obergrenze für den Fernwärmepreis; der Einwand „Gas bleibt billig“ ist ein Einwand gegen den deutschen WP-Preis, nicht gegen die Wärmepumpe.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Rasterfolie zu Befund 4 — hier wird sichtbar, was die Balken auf der Vorfolie nur als Faktor behaupten. Drei Kacheln, dasselbe Raster, nur der Vergleichsmaßstab wechselt. Links gegen die europäisch normalisierte Referenz von 17.75 ct: Die Abwärmespalte trägt ab dem Reihenhaus, alle drei anderen Spalten verlieren, Gasvorlauf vor Großwärmepumpe ist durchgängig „nie“. Mitte gegen die dezentrale Gasheizung mit 21.51 ct: Anschluss an die Gas-Folie — solange die Wärmepumpe 30'000 € kostet, ist Gas der billigste dezentrale Pfad, und schon gegen diesen schwächeren Maßstab trägt das Netz in drei von vier Spalten. Rechts gegen die heutigen deutschen 23.73 ct: fast vollständig grün, einschließlich des Pfads, der links gar nicht existiert. Kern: Nicht einzelne Schwellen verschieben sich, sondern ein ganzer Technologiepfad entsteht oder verschwindet mit dem Vergleichsmaßstab. Zum EFH-Gebiet: erreichte Dichte aus der Bebauungsgeometrie hergeleitet — 0.86 aus 17 Trassenmetern, plausibel 13 bis 30 m und damit 0.49 bis 1.13; die EFH-Zeile liegt in allen drei Kacheln nah an der Kippkante. Konsequenz trotzdem eindeutig: keine gesicherte Grundlage heißt kein Netz mit fünfzig Jahren Bindung. Alle Zellen hier gegen die Bestandsstraße gerechnet, daher Gründerzeitblock 6.37 statt 3.04 wie auf Folie 6 (dort Innenstadtstraße). Fundstellen: Abschnitt 5.1, Tabelle in 5.2, Anhang A.11.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Abschnitt 6, Tabelle 5 des Skripts. Alle fünf Netzbalken: Szenario „1 Mrd. € geht als Netzausbau in genau diesen Quartierstyp“, nur die Trasse in der Straße, Anschlussquote 100 %. Je WE: Festbetrag 9'000 (britisches Vorbild) → 111'000 WE; EFH 38'770 → 26'000 (4.3×, 3.6–6.8); Reihenhaus 18'460 → 54'000 (2.1×); kleines MFH 5'050 → 198'000 (0.56×); Gründerzeit 4'390 → 228'000 (0.49×, 0.39–0.68); Platte 2'420 → 413'000 (0.27×). Einordnung: Prognos/VKU 2024 beziffert 74 Mrd. € Investitionsbedarf bis 2045 und 3.4–3.5 Mrd. €/a Förderbedarf – Verbandsgutachten, unabhängige Gegenrechnungen fehlen. Befund 6 bei Nachfrage: rund 6 Mio. angeschlossene WE – dort ist die Trasse bezahlt (58 % des Neubauwerts bei 25 a Restlebensdauer), Frage ist Quellenwechsel, nicht Netzbau; mit Abwärme gewinnt der Anschluss in jedem Gebäudetyp.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Anschlusszwang: 9.7 – Zielkonflikt stranded asset vs. Zwang gegen die erkennbare Präferenz der Bürger; beides wird wahrscheinlicher, je besser die Reformhebel aus Teil I wirken. Preissignal: 9.5, Kartellamt hält Fernwärme für faktisch nicht regulierbar. 2045: Gas-Folie und Hintergrundgespräche mit Pipelinelobby und Fernwärmeseite. Weitere, hier gestrichen: falscher Maßstab in Wärmeplänen (Befund 4), Gasvorlauf als Wette auf Politikversagen (6.4 ct/kWh ab 2045, Befund 2), ein Schwellenwert für die ganze Stadt entscheidet in beide Richtungen falsch (Befund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Abschnitt 9, umsortiert: Preisdisziplin zuerst, weil sie Teil I und Teil II verbindet. Zu 1 (9.5): vierte Wirkung – je weniger Gaskessel neu eingebaut werden, desto kleiner die Gruppe, der ab 2040 60 % Grüngas zuzumuten wäre, desto eher bleibt die Pflicht durchsetzbar. Zu 2 (9.1): bewusst als Frage – die BAG entscheidet, was sie daraus macht; im Papier steht die Forderung hart (Eignungsgebiete nur gegen normalisierte Referenz, nach Gebäudetyp aufgeschlüsselt). Zu 3 (9.2): AVBFernwärmeV-Novelle zur Kostentransparenz steht ebenfalls im Papier, hier nur das Register. Zu 4 (9.3): rund 6 Mio. bereits angeschlossene Wohnungen – Förderfrage dort ist Quellenwechsel. Zu 5 (9.4): Datenlage aus Abschnitt 2.1 und A.4 – AGFW-Praxishilfe weist nur Punktwolken aus, keine Mittelwerte oder Quantile; Werte sind abgelesene Medianschätzungen DN 25–100, Preisstand 2021, Baupreisindex Ortskanäle ×1.422 auf Mai 2026. Was die BAG damit tun könnte: nicht vorgeben – Reservefolie R1 nur bei direkter Frage.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Abschlussfolie. Kurz-URL leitet im Repo-Root auf die aktuelle Hash-Fassung weiter; QR zeigt auf dieselbe Kurz-URL. Mündlich: Kritik zu den drei offenen Punkten ausdrücklich erwünscht – Erzeugungskosten je Wärmequelle, Verlegekosten 677/1'692/3'554 €/m, Trassenmeter je Gebäudetyp (17 m EFH, 12 m Gründerzeitblock).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Bewusst als Fragen, nicht als Forderungen an die BAG – sie weiß selbst, was sie tun kann. Nur zeigen, wenn direkt danach gefragt wird.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Kurzfassung Befund 3, Abschnitt 4.4, 5.2, 5.3, 7, 9.3. Das Unentschieden ist ein Ergebnis: Es widerlegt die Planungsvermutung, nicht die Technologie. Die Kostendegression großer WP ist die eine Größe, die niemand gemessen hat – Frage 1 der drei offenen Fragen ans Fachreview.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Quelle: Deckblatt zum Einzelplan 32, BMF 6.11.2025, Kap. 3208 Bürgschaften, neuer Vermerk 5.19: Ermächtigung zur Übernahme von Gewährleistungen aus KfW-Förderprodukten im Rahmen des Deutschlandfonds; Begünstigter im Dokument geschwärzt. Begründung: Investitionsbedarf dreistelliger Milliardenbereich bis 2045, Stromverteilnetze 190 Mrd. bis 2035, Wärmenetze über 100 Mrd. bis 2045. Zweck: Kapitalaufnahme erleichtern, auch für Förderungen ohne bestehenden Tatbestand. Verbindung zum Papier: Modell rechnet 3 % real – Bürgschaft verschiebt Kapitalkosten, nicht das Vorzeichen des Budgets. Nur zeigen, wenn nach Finanzierung, KfW, Deutschlandfonds oder Ländern gefragt wird. Mündlicher Anker auf der Schlussfolie bei Instrument 1: „Kapital ist übrigens nicht das Problem – der Bund bürgt schon dafür, und niemand ruft es 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7"/>
        </a:solidFill>
      </p:bgPr>
    </p:bg>
    <p:spTree>
      <p:nvGrpSpPr>
        <p:cNvPr id="1" name=""/>
        <p:cNvGrpSpPr/>
        <p:nvPr/>
      </p:nvGrpSpPr>
      <p:grpSpPr>
        <a:xfrm>
          <a:off x="0" y="0"/>
          <a:ext cx="0" cy="0"/>
          <a:chOff x="0" y="0"/>
          <a:chExt cx="0" cy="0"/>
        </a:xfrm>
      </p:grpSpPr>
      <p:sp>
        <p:nvSpPr>
          <p:cNvPr id="2" name="Text 0"/>
          <p:cNvSpPr txBox="1"/>
          <p:nvPr/>
        </p:nvSpPr>
        <p:spPr>
          <a:xfrm>
            <a:off x="731520" y="640080"/>
            <a:ext cx="10058400" cy="274320"/>
          </a:xfrm>
          <a:prstGeom prst="rect">
            <a:avLst/>
          </a:prstGeom>
          <a:noFill/>
          <a:ln/>
        </p:spPr>
        <p:txBody>
          <a:bodyPr wrap="square" lIns="0" tIns="0" rIns="0" bIns="0" rtlCol="0" anchor="ctr"/>
          <a:lstStyle/>
          <a:p>
            <a:pPr indent="0" marL="0">
              <a:buNone/>
            </a:pPr>
            <a:r>
              <a:rPr lang="en-US" sz="1200" spc="200" kern="0" dirty="0">
                <a:solidFill>
                  <a:srgbClr val="B8B3A6"/>
                </a:solidFill>
                <a:latin typeface="Calibri" pitchFamily="34" charset="0"/>
                <a:ea typeface="Calibri" pitchFamily="34" charset="-122"/>
                <a:cs typeface="Calibri" pitchFamily="34" charset="-120"/>
              </a:rPr>
              <a:t>Diskussionspapier · BAG Energie · Stuttgart, 20. September 2026</a:t>
            </a:r>
            <a:endParaRPr lang="en-US" sz="1200" dirty="0"/>
          </a:p>
        </p:txBody>
      </p:sp>
      <p:sp>
        <p:nvSpPr>
          <p:cNvPr id="3" name="Text 1"/>
          <p:cNvSpPr txBox="1"/>
          <p:nvPr/>
        </p:nvSpPr>
        <p:spPr>
          <a:xfrm>
            <a:off x="731520" y="1737360"/>
            <a:ext cx="10698480" cy="1828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Europäische Wärmepumpe und Fernwärme im Kostenvergleich</a:t>
            </a:r>
            <a:endParaRPr lang="en-US" sz="4000" dirty="0"/>
          </a:p>
        </p:txBody>
      </p:sp>
      <p:sp>
        <p:nvSpPr>
          <p:cNvPr id="4" name="Text 2"/>
          <p:cNvSpPr txBox="1"/>
          <p:nvPr/>
        </p:nvSpPr>
        <p:spPr>
          <a:xfrm>
            <a:off x="731520" y="3931920"/>
            <a:ext cx="3383280" cy="960120"/>
          </a:xfrm>
          <a:prstGeom prst="rect">
            <a:avLst/>
          </a:prstGeom>
          <a:noFill/>
          <a:ln/>
        </p:spPr>
        <p:txBody>
          <a:bodyPr wrap="square" lIns="0" tIns="0" rIns="0" bIns="0" rtlCol="0" anchor="b"/>
          <a:lstStyle/>
          <a:p>
            <a:pPr indent="0" marL="0">
              <a:buNone/>
            </a:pPr>
            <a:r>
              <a:rPr lang="en-US" sz="3000" b="1" dirty="0">
                <a:solidFill>
                  <a:srgbClr val="FFFFFF"/>
                </a:solidFill>
                <a:latin typeface="Cambria" pitchFamily="34" charset="0"/>
                <a:ea typeface="Cambria" pitchFamily="34" charset="-122"/>
                <a:cs typeface="Cambria" pitchFamily="34" charset="-120"/>
              </a:rPr>
              <a:t>30'000 €</a:t>
            </a:r>
            <a:endParaRPr lang="en-US" sz="3000" dirty="0"/>
          </a:p>
        </p:txBody>
      </p:sp>
      <p:sp>
        <p:nvSpPr>
          <p:cNvPr id="5" name="Text 3"/>
          <p:cNvSpPr txBox="1"/>
          <p:nvPr/>
        </p:nvSpPr>
        <p:spPr>
          <a:xfrm>
            <a:off x="731520" y="4937760"/>
            <a:ext cx="3200400" cy="640080"/>
          </a:xfrm>
          <a:prstGeom prst="rect">
            <a:avLst/>
          </a:prstGeom>
          <a:noFill/>
          <a:ln/>
        </p:spPr>
        <p:txBody>
          <a:bodyPr wrap="square" lIns="0" tIns="0" rIns="0" bIns="0" rtlCol="0" anchor="t"/>
          <a:lstStyle/>
          <a:p>
            <a:pPr indent="0" marL="0">
              <a:buNone/>
            </a:pPr>
            <a:r>
              <a:rPr lang="en-US" sz="1200" dirty="0">
                <a:solidFill>
                  <a:srgbClr val="B8B3A6"/>
                </a:solidFill>
                <a:latin typeface="Calibri" pitchFamily="34" charset="0"/>
                <a:ea typeface="Calibri" pitchFamily="34" charset="-122"/>
                <a:cs typeface="Calibri" pitchFamily="34" charset="-120"/>
              </a:rPr>
              <a:t>kostet eine Wärmepumpe in Deutschland</a:t>
            </a:r>
            <a:endParaRPr lang="en-US" sz="1200" dirty="0"/>
          </a:p>
        </p:txBody>
      </p:sp>
      <p:sp>
        <p:nvSpPr>
          <p:cNvPr id="6" name="Text 4"/>
          <p:cNvSpPr txBox="1"/>
          <p:nvPr/>
        </p:nvSpPr>
        <p:spPr>
          <a:xfrm>
            <a:off x="4297680" y="3931920"/>
            <a:ext cx="3383280" cy="960120"/>
          </a:xfrm>
          <a:prstGeom prst="rect">
            <a:avLst/>
          </a:prstGeom>
          <a:noFill/>
          <a:ln/>
        </p:spPr>
        <p:txBody>
          <a:bodyPr wrap="square" lIns="0" tIns="0" rIns="0" bIns="0" rtlCol="0" anchor="b"/>
          <a:lstStyle/>
          <a:p>
            <a:pPr indent="0" marL="0">
              <a:buNone/>
            </a:pPr>
            <a:r>
              <a:rPr lang="en-US" sz="3000" b="1" dirty="0">
                <a:solidFill>
                  <a:srgbClr val="FFFFFF"/>
                </a:solidFill>
                <a:latin typeface="Cambria" pitchFamily="34" charset="0"/>
                <a:ea typeface="Cambria" pitchFamily="34" charset="-122"/>
                <a:cs typeface="Cambria" pitchFamily="34" charset="-120"/>
              </a:rPr>
              <a:t>14'000 €</a:t>
            </a:r>
            <a:endParaRPr lang="en-US" sz="3000" dirty="0"/>
          </a:p>
        </p:txBody>
      </p:sp>
      <p:sp>
        <p:nvSpPr>
          <p:cNvPr id="7" name="Text 5"/>
          <p:cNvSpPr txBox="1"/>
          <p:nvPr/>
        </p:nvSpPr>
        <p:spPr>
          <a:xfrm>
            <a:off x="4297680" y="4937760"/>
            <a:ext cx="3200400" cy="640080"/>
          </a:xfrm>
          <a:prstGeom prst="rect">
            <a:avLst/>
          </a:prstGeom>
          <a:noFill/>
          <a:ln/>
        </p:spPr>
        <p:txBody>
          <a:bodyPr wrap="square" lIns="0" tIns="0" rIns="0" bIns="0" rtlCol="0" anchor="t"/>
          <a:lstStyle/>
          <a:p>
            <a:pPr indent="0" marL="0">
              <a:buNone/>
            </a:pPr>
            <a:r>
              <a:rPr lang="en-US" sz="1200" dirty="0">
                <a:solidFill>
                  <a:srgbClr val="B8B3A6"/>
                </a:solidFill>
                <a:latin typeface="Calibri" pitchFamily="34" charset="0"/>
                <a:ea typeface="Calibri" pitchFamily="34" charset="-122"/>
                <a:cs typeface="Calibri" pitchFamily="34" charset="-120"/>
              </a:rPr>
              <a:t>dieselbe Anlage in UK, FR, AT</a:t>
            </a:r>
            <a:endParaRPr lang="en-US" sz="1200" dirty="0"/>
          </a:p>
        </p:txBody>
      </p:sp>
      <p:sp>
        <p:nvSpPr>
          <p:cNvPr id="8" name="Text 6"/>
          <p:cNvSpPr txBox="1"/>
          <p:nvPr/>
        </p:nvSpPr>
        <p:spPr>
          <a:xfrm>
            <a:off x="7863840" y="3931920"/>
            <a:ext cx="3383280" cy="960120"/>
          </a:xfrm>
          <a:prstGeom prst="rect">
            <a:avLst/>
          </a:prstGeom>
          <a:noFill/>
          <a:ln/>
        </p:spPr>
        <p:txBody>
          <a:bodyPr wrap="square" lIns="0" tIns="0" rIns="0" bIns="0" rtlCol="0" anchor="b"/>
          <a:lstStyle/>
          <a:p>
            <a:pPr indent="0" marL="0">
              <a:buNone/>
            </a:pPr>
            <a:r>
              <a:rPr lang="en-US" sz="2200" b="1" dirty="0">
                <a:solidFill>
                  <a:srgbClr val="7FB7B2"/>
                </a:solidFill>
                <a:latin typeface="Cambria" pitchFamily="34" charset="0"/>
                <a:ea typeface="Cambria" pitchFamily="34" charset="-122"/>
                <a:cs typeface="Cambria" pitchFamily="34" charset="-120"/>
              </a:rPr>
              <a:t>Ist Fernwärme wirtschaftlich?</a:t>
            </a:r>
            <a:endParaRPr lang="en-US" sz="2200" dirty="0"/>
          </a:p>
        </p:txBody>
      </p:sp>
      <p:sp>
        <p:nvSpPr>
          <p:cNvPr id="9" name="Text 7"/>
          <p:cNvSpPr txBox="1"/>
          <p:nvPr/>
        </p:nvSpPr>
        <p:spPr>
          <a:xfrm>
            <a:off x="7863840" y="4937760"/>
            <a:ext cx="3200400" cy="640080"/>
          </a:xfrm>
          <a:prstGeom prst="rect">
            <a:avLst/>
          </a:prstGeom>
          <a:noFill/>
          <a:ln/>
        </p:spPr>
        <p:txBody>
          <a:bodyPr wrap="square" lIns="0" tIns="0" rIns="0" bIns="0" rtlCol="0" anchor="t"/>
          <a:lstStyle/>
          <a:p>
            <a:pPr indent="0" marL="0">
              <a:buNone/>
            </a:pPr>
            <a:r>
              <a:rPr lang="en-US" sz="1200" dirty="0">
                <a:solidFill>
                  <a:srgbClr val="B8B3A6"/>
                </a:solidFill>
                <a:latin typeface="Calibri" pitchFamily="34" charset="0"/>
                <a:ea typeface="Calibri" pitchFamily="34" charset="-122"/>
                <a:cs typeface="Calibri" pitchFamily="34" charset="-120"/>
              </a:rPr>
              <a:t>Kommt darauf an.</a:t>
            </a:r>
            <a:endParaRPr lang="en-US" sz="1200" dirty="0"/>
          </a:p>
        </p:txBody>
      </p:sp>
      <p:sp>
        <p:nvSpPr>
          <p:cNvPr id="10" name="Text 8"/>
          <p:cNvSpPr txBox="1"/>
          <p:nvPr/>
        </p:nvSpPr>
        <p:spPr>
          <a:xfrm>
            <a:off x="731520" y="6126480"/>
            <a:ext cx="10058400" cy="274320"/>
          </a:xfrm>
          <a:prstGeom prst="rect">
            <a:avLst/>
          </a:prstGeom>
          <a:noFill/>
          <a:ln/>
        </p:spPr>
        <p:txBody>
          <a:bodyPr wrap="square" lIns="0" tIns="0" rIns="0" bIns="0" rtlCol="0" anchor="ctr"/>
          <a:lstStyle/>
          <a:p>
            <a:pPr indent="0" marL="0">
              <a:buNone/>
            </a:pPr>
            <a:r>
              <a:rPr lang="en-US" sz="1100" dirty="0">
                <a:solidFill>
                  <a:srgbClr val="B8B3A6"/>
                </a:solidFill>
                <a:latin typeface="Calibri" pitchFamily="34" charset="0"/>
                <a:ea typeface="Calibri" pitchFamily="34" charset="-122"/>
                <a:cs typeface="Calibri" pitchFamily="34" charset="-120"/>
              </a:rPr>
              <a:t>Florian Schulte, Gießen · Version 2.11.1 · Papier und Folien CC BY 4.0 · Skript MIT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METHODIK · ZUR ENTSTEHUNG DIESES PAPIERS</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Ein Fachfremder, eine KI und ein offenes Skript</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5" name="Text 3"/>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1</a:t>
            </a:r>
            <a:endParaRPr lang="en-US" sz="900" dirty="0"/>
          </a:p>
        </p:txBody>
      </p:sp>
      <p:sp>
        <p:nvSpPr>
          <p:cNvPr id="6" name="Shape 4"/>
          <p:cNvSpPr/>
          <p:nvPr/>
        </p:nvSpPr>
        <p:spPr>
          <a:xfrm>
            <a:off x="548640" y="1645920"/>
            <a:ext cx="3429000" cy="1645920"/>
          </a:xfrm>
          <a:prstGeom prst="roundRect">
            <a:avLst>
              <a:gd name="adj" fmla="val 4444"/>
            </a:avLst>
          </a:prstGeom>
          <a:solidFill>
            <a:srgbClr val="FFFFFF"/>
          </a:solidFill>
          <a:ln w="9525">
            <a:solidFill>
              <a:srgbClr val="C9C3B4"/>
            </a:solidFill>
            <a:prstDash val="solid"/>
          </a:ln>
        </p:spPr>
      </p:sp>
      <p:pic>
        <p:nvPicPr>
          <p:cNvPr id="7" name="Image 0" descr="preencoded.png">    </p:cNvPr>
          <p:cNvPicPr>
            <a:picLocks noChangeAspect="1"/>
          </p:cNvPicPr>
          <p:nvPr/>
        </p:nvPicPr>
        <p:blipFill>
          <a:blip r:embed="rId1"/>
          <a:stretch>
            <a:fillRect/>
          </a:stretch>
        </p:blipFill>
        <p:spPr>
          <a:xfrm>
            <a:off x="685800" y="1810512"/>
            <a:ext cx="310896" cy="310896"/>
          </a:xfrm>
          <a:prstGeom prst="rect">
            <a:avLst/>
          </a:prstGeom>
        </p:spPr>
      </p:pic>
      <p:sp>
        <p:nvSpPr>
          <p:cNvPr id="8" name="Text 5"/>
          <p:cNvSpPr txBox="1"/>
          <p:nvPr/>
        </p:nvSpPr>
        <p:spPr>
          <a:xfrm>
            <a:off x="1033272" y="1773936"/>
            <a:ext cx="2834640" cy="402336"/>
          </a:xfrm>
          <a:prstGeom prst="rect">
            <a:avLst/>
          </a:prstGeom>
          <a:noFill/>
          <a:ln/>
        </p:spPr>
        <p:txBody>
          <a:bodyPr wrap="square" lIns="0" tIns="0" rIns="0" bIns="0" rtlCol="0" anchor="ctr"/>
          <a:lstStyle/>
          <a:p>
            <a:pPr indent="0" marL="0">
              <a:buNone/>
            </a:pPr>
            <a:r>
              <a:rPr lang="en-US" sz="1150" b="1" dirty="0">
                <a:solidFill>
                  <a:srgbClr val="1F5673"/>
                </a:solidFill>
                <a:latin typeface="Calibri" pitchFamily="34" charset="0"/>
                <a:ea typeface="Calibri" pitchFamily="34" charset="-122"/>
                <a:cs typeface="Calibri" pitchFamily="34" charset="-120"/>
              </a:rPr>
              <a:t>KI-Sprachmodell (Claude)</a:t>
            </a:r>
            <a:endParaRPr lang="en-US" sz="1150" dirty="0"/>
          </a:p>
        </p:txBody>
      </p:sp>
      <p:sp>
        <p:nvSpPr>
          <p:cNvPr id="9" name="Text 6"/>
          <p:cNvSpPr txBox="1"/>
          <p:nvPr/>
        </p:nvSpPr>
        <p:spPr>
          <a:xfrm>
            <a:off x="731520" y="2249424"/>
            <a:ext cx="3108960" cy="96012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rgbClr val="56534B"/>
                </a:solidFill>
                <a:latin typeface="Calibri" pitchFamily="34" charset="0"/>
                <a:ea typeface="Calibri" pitchFamily="34" charset="-122"/>
                <a:cs typeface="Calibri" pitchFamily="34" charset="-120"/>
              </a:rPr>
              <a:t>recherchiert</a:t>
            </a:r>
            <a:endParaRPr lang="en-US" sz="1050" dirty="0"/>
          </a:p>
          <a:p>
            <a:pPr marL="342900" indent="-342900">
              <a:spcAft>
                <a:spcPts val="200"/>
              </a:spcAft>
              <a:buSzPct val="100000"/>
              <a:buChar char="•"/>
            </a:pPr>
            <a:r>
              <a:rPr lang="en-US" sz="1050" dirty="0">
                <a:solidFill>
                  <a:srgbClr val="56534B"/>
                </a:solidFill>
                <a:latin typeface="Calibri" pitchFamily="34" charset="0"/>
                <a:ea typeface="Calibri" pitchFamily="34" charset="-122"/>
                <a:cs typeface="Calibri" pitchFamily="34" charset="-120"/>
              </a:rPr>
              <a:t>Kostenmodelle konstruiert</a:t>
            </a:r>
            <a:endParaRPr lang="en-US" sz="1050" dirty="0"/>
          </a:p>
          <a:p>
            <a:pPr marL="342900" indent="-342900">
              <a:spcAft>
                <a:spcPts val="200"/>
              </a:spcAft>
              <a:buSzPct val="100000"/>
              <a:buChar char="•"/>
            </a:pPr>
            <a:r>
              <a:rPr lang="en-US" sz="1050" dirty="0">
                <a:solidFill>
                  <a:srgbClr val="56534B"/>
                </a:solidFill>
                <a:latin typeface="Calibri" pitchFamily="34" charset="0"/>
                <a:ea typeface="Calibri" pitchFamily="34" charset="-122"/>
                <a:cs typeface="Calibri" pitchFamily="34" charset="-120"/>
              </a:rPr>
              <a:t>Simulation programmiert und gerechnet</a:t>
            </a:r>
            <a:endParaRPr lang="en-US" sz="1050" dirty="0"/>
          </a:p>
          <a:p>
            <a:pPr marL="342900" indent="-342900">
              <a:spcAft>
                <a:spcPts val="200"/>
              </a:spcAft>
              <a:buSzPct val="100000"/>
              <a:buChar char="•"/>
            </a:pPr>
            <a:r>
              <a:rPr lang="en-US" sz="1050" dirty="0">
                <a:solidFill>
                  <a:srgbClr val="56534B"/>
                </a:solidFill>
                <a:latin typeface="Calibri" pitchFamily="34" charset="0"/>
                <a:ea typeface="Calibri" pitchFamily="34" charset="-122"/>
                <a:cs typeface="Calibri" pitchFamily="34" charset="-120"/>
              </a:rPr>
              <a:t>Texte formuliert</a:t>
            </a:r>
            <a:endParaRPr lang="en-US" sz="1050" dirty="0"/>
          </a:p>
        </p:txBody>
      </p:sp>
      <p:sp>
        <p:nvSpPr>
          <p:cNvPr id="10" name="Shape 7"/>
          <p:cNvSpPr/>
          <p:nvPr/>
        </p:nvSpPr>
        <p:spPr>
          <a:xfrm>
            <a:off x="548640" y="3474720"/>
            <a:ext cx="3429000" cy="1645920"/>
          </a:xfrm>
          <a:prstGeom prst="roundRect">
            <a:avLst>
              <a:gd name="adj" fmla="val 4444"/>
            </a:avLst>
          </a:prstGeom>
          <a:solidFill>
            <a:srgbClr val="FFFFFF"/>
          </a:solidFill>
          <a:ln w="9525">
            <a:solidFill>
              <a:srgbClr val="C9C3B4"/>
            </a:solidFill>
            <a:prstDash val="solid"/>
          </a:ln>
        </p:spPr>
      </p:sp>
      <p:pic>
        <p:nvPicPr>
          <p:cNvPr id="11" name="Image 1" descr="preencoded.png">    </p:cNvPr>
          <p:cNvPicPr>
            <a:picLocks noChangeAspect="1"/>
          </p:cNvPicPr>
          <p:nvPr/>
        </p:nvPicPr>
        <p:blipFill>
          <a:blip r:embed="rId2"/>
          <a:stretch>
            <a:fillRect/>
          </a:stretch>
        </p:blipFill>
        <p:spPr>
          <a:xfrm>
            <a:off x="685800" y="3639312"/>
            <a:ext cx="310896" cy="310896"/>
          </a:xfrm>
          <a:prstGeom prst="rect">
            <a:avLst/>
          </a:prstGeom>
        </p:spPr>
      </p:pic>
      <p:sp>
        <p:nvSpPr>
          <p:cNvPr id="12" name="Text 8"/>
          <p:cNvSpPr txBox="1"/>
          <p:nvPr/>
        </p:nvSpPr>
        <p:spPr>
          <a:xfrm>
            <a:off x="1033272" y="3602736"/>
            <a:ext cx="2834640" cy="402336"/>
          </a:xfrm>
          <a:prstGeom prst="rect">
            <a:avLst/>
          </a:prstGeom>
          <a:noFill/>
          <a:ln/>
        </p:spPr>
        <p:txBody>
          <a:bodyPr wrap="square" lIns="0" tIns="0" rIns="0" bIns="0" rtlCol="0" anchor="ctr"/>
          <a:lstStyle/>
          <a:p>
            <a:pPr indent="0" marL="0">
              <a:buNone/>
            </a:pPr>
            <a:r>
              <a:rPr lang="en-US" sz="1150" b="1" dirty="0">
                <a:solidFill>
                  <a:srgbClr val="0F5257"/>
                </a:solidFill>
                <a:latin typeface="Calibri" pitchFamily="34" charset="0"/>
                <a:ea typeface="Calibri" pitchFamily="34" charset="-122"/>
                <a:cs typeface="Calibri" pitchFamily="34" charset="-120"/>
              </a:rPr>
              <a:t>Autor — Arzt mit Modellierungserfahrung</a:t>
            </a:r>
            <a:endParaRPr lang="en-US" sz="1150" dirty="0"/>
          </a:p>
        </p:txBody>
      </p:sp>
      <p:sp>
        <p:nvSpPr>
          <p:cNvPr id="13" name="Text 9"/>
          <p:cNvSpPr txBox="1"/>
          <p:nvPr/>
        </p:nvSpPr>
        <p:spPr>
          <a:xfrm>
            <a:off x="731520" y="4078224"/>
            <a:ext cx="3108960" cy="96012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rgbClr val="56534B"/>
                </a:solidFill>
                <a:latin typeface="Calibri" pitchFamily="34" charset="0"/>
                <a:ea typeface="Calibri" pitchFamily="34" charset="-122"/>
                <a:cs typeface="Calibri" pitchFamily="34" charset="-120"/>
              </a:rPr>
              <a:t>Fragestellung und Analyserichtung gesetzt</a:t>
            </a:r>
            <a:endParaRPr lang="en-US" sz="1050" dirty="0"/>
          </a:p>
          <a:p>
            <a:pPr marL="342900" indent="-342900">
              <a:spcAft>
                <a:spcPts val="200"/>
              </a:spcAft>
              <a:buSzPct val="100000"/>
              <a:buChar char="•"/>
            </a:pPr>
            <a:r>
              <a:rPr lang="en-US" sz="1050" dirty="0">
                <a:solidFill>
                  <a:srgbClr val="56534B"/>
                </a:solidFill>
                <a:latin typeface="Calibri" pitchFamily="34" charset="0"/>
                <a:ea typeface="Calibri" pitchFamily="34" charset="-122"/>
                <a:cs typeface="Calibri" pitchFamily="34" charset="-120"/>
              </a:rPr>
              <a:t>Einwände und Korrekturen eingebracht</a:t>
            </a:r>
            <a:endParaRPr lang="en-US" sz="1050" dirty="0"/>
          </a:p>
          <a:p>
            <a:pPr marL="342900" indent="-342900">
              <a:spcAft>
                <a:spcPts val="200"/>
              </a:spcAft>
              <a:buSzPct val="100000"/>
              <a:buChar char="•"/>
            </a:pPr>
            <a:r>
              <a:rPr lang="en-US" sz="1050" dirty="0">
                <a:solidFill>
                  <a:srgbClr val="56534B"/>
                </a:solidFill>
                <a:latin typeface="Calibri" pitchFamily="34" charset="0"/>
                <a:ea typeface="Calibri" pitchFamily="34" charset="-122"/>
                <a:cs typeface="Calibri" pitchFamily="34" charset="-120"/>
              </a:rPr>
              <a:t>Logik, Konsistenz, Plausibilität geprüft und nachgefragt</a:t>
            </a:r>
            <a:endParaRPr lang="en-US" sz="1050" dirty="0"/>
          </a:p>
          <a:p>
            <a:pPr marL="342900" indent="-342900">
              <a:spcAft>
                <a:spcPts val="200"/>
              </a:spcAft>
              <a:buSzPct val="100000"/>
              <a:buChar char="•"/>
            </a:pPr>
            <a:r>
              <a:rPr lang="en-US" sz="1050" dirty="0">
                <a:solidFill>
                  <a:srgbClr val="56534B"/>
                </a:solidFill>
                <a:latin typeface="Calibri" pitchFamily="34" charset="0"/>
                <a:ea typeface="Calibri" pitchFamily="34" charset="-122"/>
                <a:cs typeface="Calibri" pitchFamily="34" charset="-120"/>
              </a:rPr>
              <a:t>lektoriert</a:t>
            </a:r>
            <a:endParaRPr lang="en-US" sz="1050" dirty="0"/>
          </a:p>
        </p:txBody>
      </p:sp>
      <p:sp>
        <p:nvSpPr>
          <p:cNvPr id="14" name="Text 10"/>
          <p:cNvSpPr txBox="1"/>
          <p:nvPr/>
        </p:nvSpPr>
        <p:spPr>
          <a:xfrm>
            <a:off x="548640" y="5440680"/>
            <a:ext cx="3429000" cy="822960"/>
          </a:xfrm>
          <a:prstGeom prst="rect">
            <a:avLst/>
          </a:prstGeom>
          <a:noFill/>
          <a:ln/>
        </p:spPr>
        <p:txBody>
          <a:bodyPr wrap="square" lIns="0" tIns="0" rIns="0" bIns="0" rtlCol="0" anchor="t"/>
          <a:lstStyle/>
          <a:p>
            <a:pPr indent="0" marL="0">
              <a:buNone/>
            </a:pPr>
            <a:r>
              <a:rPr lang="en-US" sz="1150" i="1" dirty="0">
                <a:solidFill>
                  <a:srgbClr val="1A1A17"/>
                </a:solidFill>
                <a:latin typeface="Cambria" pitchFamily="34" charset="0"/>
                <a:ea typeface="Cambria" pitchFamily="34" charset="-122"/>
                <a:cs typeface="Cambria" pitchFamily="34" charset="-120"/>
              </a:rPr>
              <a:t>Ehrenamtliches Zeitbudget, kein Auftraggeber — eine volkswirtschaftliche Vollkostenrechnung aus Bürgerperspektive, die es so bisher nicht gab.</a:t>
            </a:r>
            <a:endParaRPr lang="en-US" sz="1150" dirty="0"/>
          </a:p>
        </p:txBody>
      </p:sp>
      <p:sp>
        <p:nvSpPr>
          <p:cNvPr id="15" name="Text 11"/>
          <p:cNvSpPr txBox="1"/>
          <p:nvPr/>
        </p:nvSpPr>
        <p:spPr>
          <a:xfrm>
            <a:off x="4343400" y="1645920"/>
            <a:ext cx="3840480" cy="320040"/>
          </a:xfrm>
          <a:prstGeom prst="rect">
            <a:avLst/>
          </a:prstGeom>
          <a:noFill/>
          <a:ln/>
        </p:spPr>
        <p:txBody>
          <a:bodyPr wrap="square" lIns="0" tIns="0" rIns="0" bIns="0" rtlCol="0" anchor="ctr"/>
          <a:lstStyle/>
          <a:p>
            <a:pPr indent="0" marL="0">
              <a:buNone/>
            </a:pPr>
            <a:r>
              <a:rPr lang="en-US" sz="1300" b="1" dirty="0">
                <a:solidFill>
                  <a:srgbClr val="1A1A17"/>
                </a:solidFill>
                <a:latin typeface="Calibri" pitchFamily="34" charset="0"/>
                <a:ea typeface="Calibri" pitchFamily="34" charset="-122"/>
                <a:cs typeface="Calibri" pitchFamily="34" charset="-120"/>
              </a:rPr>
              <a:t>Was es nachprüfbar macht</a:t>
            </a:r>
            <a:endParaRPr lang="en-US" sz="1300" dirty="0"/>
          </a:p>
        </p:txBody>
      </p:sp>
      <p:sp>
        <p:nvSpPr>
          <p:cNvPr id="16" name="Shape 12"/>
          <p:cNvSpPr/>
          <p:nvPr/>
        </p:nvSpPr>
        <p:spPr>
          <a:xfrm>
            <a:off x="4343400" y="2075688"/>
            <a:ext cx="384048" cy="384048"/>
          </a:xfrm>
          <a:prstGeom prst="ellipse">
            <a:avLst/>
          </a:prstGeom>
          <a:solidFill>
            <a:srgbClr val="E4EEE3"/>
          </a:solidFill>
          <a:ln w="12700">
            <a:solidFill>
              <a:srgbClr val="E4EEE3"/>
            </a:solidFill>
            <a:prstDash val="solid"/>
          </a:ln>
        </p:spPr>
      </p:sp>
      <p:pic>
        <p:nvPicPr>
          <p:cNvPr id="17" name="Image 2" descr="preencoded.png">    </p:cNvPr>
          <p:cNvPicPr>
            <a:picLocks noChangeAspect="1"/>
          </p:cNvPicPr>
          <p:nvPr/>
        </p:nvPicPr>
        <p:blipFill>
          <a:blip r:embed="rId3"/>
          <a:stretch>
            <a:fillRect/>
          </a:stretch>
        </p:blipFill>
        <p:spPr>
          <a:xfrm>
            <a:off x="4425696" y="2157984"/>
            <a:ext cx="219456" cy="219456"/>
          </a:xfrm>
          <a:prstGeom prst="rect">
            <a:avLst/>
          </a:prstGeom>
        </p:spPr>
      </p:pic>
      <p:sp>
        <p:nvSpPr>
          <p:cNvPr id="18" name="Text 13"/>
          <p:cNvSpPr txBox="1"/>
          <p:nvPr/>
        </p:nvSpPr>
        <p:spPr>
          <a:xfrm>
            <a:off x="4846320" y="2057400"/>
            <a:ext cx="3337560" cy="457200"/>
          </a:xfrm>
          <a:prstGeom prst="rect">
            <a:avLst/>
          </a:prstGeom>
          <a:noFill/>
          <a:ln/>
        </p:spPr>
        <p:txBody>
          <a:bodyPr wrap="square" lIns="0" tIns="0" rIns="0" bIns="0" rtlCol="0" anchor="ctr"/>
          <a:lstStyle/>
          <a:p>
            <a:pPr indent="0" marL="0">
              <a:buNone/>
            </a:pPr>
            <a:r>
              <a:rPr lang="en-US" sz="1100" dirty="0">
                <a:solidFill>
                  <a:srgbClr val="1A1A17"/>
                </a:solidFill>
                <a:latin typeface="Calibri" pitchFamily="34" charset="0"/>
                <a:ea typeface="Calibri" pitchFamily="34" charset="-122"/>
                <a:cs typeface="Calibri" pitchFamily="34" charset="-120"/>
              </a:rPr>
              <a:t>Jede Modellannahme gekennzeichnet, mit Herkunft und Grundlage</a:t>
            </a:r>
            <a:endParaRPr lang="en-US" sz="1100" dirty="0"/>
          </a:p>
        </p:txBody>
      </p:sp>
      <p:sp>
        <p:nvSpPr>
          <p:cNvPr id="19" name="Shape 14"/>
          <p:cNvSpPr/>
          <p:nvPr/>
        </p:nvSpPr>
        <p:spPr>
          <a:xfrm>
            <a:off x="4343400" y="2679192"/>
            <a:ext cx="384048" cy="384048"/>
          </a:xfrm>
          <a:prstGeom prst="ellipse">
            <a:avLst/>
          </a:prstGeom>
          <a:solidFill>
            <a:srgbClr val="E4EEE3"/>
          </a:solidFill>
          <a:ln w="12700">
            <a:solidFill>
              <a:srgbClr val="E4EEE3"/>
            </a:solidFill>
            <a:prstDash val="solid"/>
          </a:ln>
        </p:spPr>
      </p:sp>
      <p:pic>
        <p:nvPicPr>
          <p:cNvPr id="20" name="Image 3" descr="preencoded.png">    </p:cNvPr>
          <p:cNvPicPr>
            <a:picLocks noChangeAspect="1"/>
          </p:cNvPicPr>
          <p:nvPr/>
        </p:nvPicPr>
        <p:blipFill>
          <a:blip r:embed="rId4"/>
          <a:stretch>
            <a:fillRect/>
          </a:stretch>
        </p:blipFill>
        <p:spPr>
          <a:xfrm>
            <a:off x="4425696" y="2761488"/>
            <a:ext cx="219456" cy="219456"/>
          </a:xfrm>
          <a:prstGeom prst="rect">
            <a:avLst/>
          </a:prstGeom>
        </p:spPr>
      </p:pic>
      <p:sp>
        <p:nvSpPr>
          <p:cNvPr id="21" name="Text 15"/>
          <p:cNvSpPr txBox="1"/>
          <p:nvPr/>
        </p:nvSpPr>
        <p:spPr>
          <a:xfrm>
            <a:off x="4846320" y="2660904"/>
            <a:ext cx="3337560" cy="457200"/>
          </a:xfrm>
          <a:prstGeom prst="rect">
            <a:avLst/>
          </a:prstGeom>
          <a:noFill/>
          <a:ln/>
        </p:spPr>
        <p:txBody>
          <a:bodyPr wrap="square" lIns="0" tIns="0" rIns="0" bIns="0" rtlCol="0" anchor="ctr"/>
          <a:lstStyle/>
          <a:p>
            <a:pPr indent="0" marL="0">
              <a:buNone/>
            </a:pPr>
            <a:r>
              <a:rPr lang="en-US" sz="1100" dirty="0">
                <a:solidFill>
                  <a:srgbClr val="1A1A17"/>
                </a:solidFill>
                <a:latin typeface="Calibri" pitchFamily="34" charset="0"/>
                <a:ea typeface="Calibri" pitchFamily="34" charset="-122"/>
                <a:cs typeface="Calibri" pitchFamily="34" charset="-120"/>
              </a:rPr>
              <a:t>Jede Quelle mit ihrer Interessenlage versehen</a:t>
            </a:r>
            <a:endParaRPr lang="en-US" sz="1100" dirty="0"/>
          </a:p>
        </p:txBody>
      </p:sp>
      <p:sp>
        <p:nvSpPr>
          <p:cNvPr id="22" name="Shape 16"/>
          <p:cNvSpPr/>
          <p:nvPr/>
        </p:nvSpPr>
        <p:spPr>
          <a:xfrm>
            <a:off x="4343400" y="3282696"/>
            <a:ext cx="384048" cy="384048"/>
          </a:xfrm>
          <a:prstGeom prst="ellipse">
            <a:avLst/>
          </a:prstGeom>
          <a:solidFill>
            <a:srgbClr val="E4EEE3"/>
          </a:solidFill>
          <a:ln w="12700">
            <a:solidFill>
              <a:srgbClr val="E4EEE3"/>
            </a:solidFill>
            <a:prstDash val="solid"/>
          </a:ln>
        </p:spPr>
      </p:sp>
      <p:pic>
        <p:nvPicPr>
          <p:cNvPr id="23" name="Image 4" descr="preencoded.png">    </p:cNvPr>
          <p:cNvPicPr>
            <a:picLocks noChangeAspect="1"/>
          </p:cNvPicPr>
          <p:nvPr/>
        </p:nvPicPr>
        <p:blipFill>
          <a:blip r:embed="rId5"/>
          <a:stretch>
            <a:fillRect/>
          </a:stretch>
        </p:blipFill>
        <p:spPr>
          <a:xfrm>
            <a:off x="4425696" y="3364992"/>
            <a:ext cx="219456" cy="219456"/>
          </a:xfrm>
          <a:prstGeom prst="rect">
            <a:avLst/>
          </a:prstGeom>
        </p:spPr>
      </p:pic>
      <p:sp>
        <p:nvSpPr>
          <p:cNvPr id="24" name="Text 17"/>
          <p:cNvSpPr txBox="1"/>
          <p:nvPr/>
        </p:nvSpPr>
        <p:spPr>
          <a:xfrm>
            <a:off x="4846320" y="3264408"/>
            <a:ext cx="3337560" cy="457200"/>
          </a:xfrm>
          <a:prstGeom prst="rect">
            <a:avLst/>
          </a:prstGeom>
          <a:noFill/>
          <a:ln/>
        </p:spPr>
        <p:txBody>
          <a:bodyPr wrap="square" lIns="0" tIns="0" rIns="0" bIns="0" rtlCol="0" anchor="ctr"/>
          <a:lstStyle/>
          <a:p>
            <a:pPr indent="0" marL="0">
              <a:buNone/>
            </a:pPr>
            <a:r>
              <a:rPr lang="en-US" sz="1100" dirty="0">
                <a:solidFill>
                  <a:srgbClr val="1A1A17"/>
                </a:solidFill>
                <a:latin typeface="Calibri" pitchFamily="34" charset="0"/>
                <a:ea typeface="Calibri" pitchFamily="34" charset="-122"/>
                <a:cs typeface="Calibri" pitchFamily="34" charset="-120"/>
              </a:rPr>
              <a:t>Simulation als Python-Skript beigelegt — ohne Abhängigkeiten, MIT-Lizenz, lokal nachrechenbar</a:t>
            </a:r>
            <a:endParaRPr lang="en-US" sz="1100" dirty="0"/>
          </a:p>
        </p:txBody>
      </p:sp>
      <p:sp>
        <p:nvSpPr>
          <p:cNvPr id="25" name="Shape 18"/>
          <p:cNvSpPr/>
          <p:nvPr/>
        </p:nvSpPr>
        <p:spPr>
          <a:xfrm>
            <a:off x="4343400" y="3886200"/>
            <a:ext cx="384048" cy="384048"/>
          </a:xfrm>
          <a:prstGeom prst="ellipse">
            <a:avLst/>
          </a:prstGeom>
          <a:solidFill>
            <a:srgbClr val="E4EEE3"/>
          </a:solidFill>
          <a:ln w="12700">
            <a:solidFill>
              <a:srgbClr val="E4EEE3"/>
            </a:solidFill>
            <a:prstDash val="solid"/>
          </a:ln>
        </p:spPr>
      </p:sp>
      <p:pic>
        <p:nvPicPr>
          <p:cNvPr id="26" name="Image 5" descr="preencoded.png">    </p:cNvPr>
          <p:cNvPicPr>
            <a:picLocks noChangeAspect="1"/>
          </p:cNvPicPr>
          <p:nvPr/>
        </p:nvPicPr>
        <p:blipFill>
          <a:blip r:embed="rId6"/>
          <a:stretch>
            <a:fillRect/>
          </a:stretch>
        </p:blipFill>
        <p:spPr>
          <a:xfrm>
            <a:off x="4425696" y="3968496"/>
            <a:ext cx="219456" cy="219456"/>
          </a:xfrm>
          <a:prstGeom prst="rect">
            <a:avLst/>
          </a:prstGeom>
        </p:spPr>
      </p:pic>
      <p:sp>
        <p:nvSpPr>
          <p:cNvPr id="27" name="Text 19"/>
          <p:cNvSpPr txBox="1"/>
          <p:nvPr/>
        </p:nvSpPr>
        <p:spPr>
          <a:xfrm>
            <a:off x="4846320" y="3867912"/>
            <a:ext cx="3337560" cy="457200"/>
          </a:xfrm>
          <a:prstGeom prst="rect">
            <a:avLst/>
          </a:prstGeom>
          <a:noFill/>
          <a:ln/>
        </p:spPr>
        <p:txBody>
          <a:bodyPr wrap="square" lIns="0" tIns="0" rIns="0" bIns="0" rtlCol="0" anchor="ctr"/>
          <a:lstStyle/>
          <a:p>
            <a:pPr indent="0" marL="0">
              <a:buNone/>
            </a:pPr>
            <a:r>
              <a:rPr lang="en-US" sz="1100" dirty="0">
                <a:solidFill>
                  <a:srgbClr val="1A1A17"/>
                </a:solidFill>
                <a:latin typeface="Calibri" pitchFamily="34" charset="0"/>
                <a:ea typeface="Calibri" pitchFamily="34" charset="-122"/>
                <a:cs typeface="Calibri" pitchFamily="34" charset="-120"/>
              </a:rPr>
              <a:t>Eine Rechnung im Anhang vollständig von Hand durchgerechnet</a:t>
            </a:r>
            <a:endParaRPr lang="en-US" sz="1100" dirty="0"/>
          </a:p>
        </p:txBody>
      </p:sp>
      <p:sp>
        <p:nvSpPr>
          <p:cNvPr id="28" name="Shape 20"/>
          <p:cNvSpPr/>
          <p:nvPr/>
        </p:nvSpPr>
        <p:spPr>
          <a:xfrm>
            <a:off x="4343400" y="4489704"/>
            <a:ext cx="384048" cy="384048"/>
          </a:xfrm>
          <a:prstGeom prst="ellipse">
            <a:avLst/>
          </a:prstGeom>
          <a:solidFill>
            <a:srgbClr val="E4EEE3"/>
          </a:solidFill>
          <a:ln w="12700">
            <a:solidFill>
              <a:srgbClr val="E4EEE3"/>
            </a:solidFill>
            <a:prstDash val="solid"/>
          </a:ln>
        </p:spPr>
      </p:sp>
      <p:pic>
        <p:nvPicPr>
          <p:cNvPr id="29" name="Image 6" descr="preencoded.png">    </p:cNvPr>
          <p:cNvPicPr>
            <a:picLocks noChangeAspect="1"/>
          </p:cNvPicPr>
          <p:nvPr/>
        </p:nvPicPr>
        <p:blipFill>
          <a:blip r:embed="rId7"/>
          <a:stretch>
            <a:fillRect/>
          </a:stretch>
        </p:blipFill>
        <p:spPr>
          <a:xfrm>
            <a:off x="4425696" y="4572000"/>
            <a:ext cx="219456" cy="219456"/>
          </a:xfrm>
          <a:prstGeom prst="rect">
            <a:avLst/>
          </a:prstGeom>
        </p:spPr>
      </p:pic>
      <p:sp>
        <p:nvSpPr>
          <p:cNvPr id="30" name="Text 21"/>
          <p:cNvSpPr txBox="1"/>
          <p:nvPr/>
        </p:nvSpPr>
        <p:spPr>
          <a:xfrm>
            <a:off x="4846320" y="4471416"/>
            <a:ext cx="3337560" cy="457200"/>
          </a:xfrm>
          <a:prstGeom prst="rect">
            <a:avLst/>
          </a:prstGeom>
          <a:noFill/>
          <a:ln/>
        </p:spPr>
        <p:txBody>
          <a:bodyPr wrap="square" lIns="0" tIns="0" rIns="0" bIns="0" rtlCol="0" anchor="ctr"/>
          <a:lstStyle/>
          <a:p>
            <a:pPr indent="0" marL="0">
              <a:buNone/>
            </a:pPr>
            <a:r>
              <a:rPr lang="en-US" sz="1100" dirty="0">
                <a:solidFill>
                  <a:srgbClr val="1A1A17"/>
                </a:solidFill>
                <a:latin typeface="Calibri" pitchFamily="34" charset="0"/>
                <a:ea typeface="Calibri" pitchFamily="34" charset="-122"/>
                <a:cs typeface="Calibri" pitchFamily="34" charset="-120"/>
              </a:rPr>
              <a:t>Robustheit: 36 Parameterkombinationen, Unsicherheitsmarker an jedem der 30 Urteile</a:t>
            </a:r>
            <a:endParaRPr lang="en-US" sz="1100" dirty="0"/>
          </a:p>
        </p:txBody>
      </p:sp>
      <p:sp>
        <p:nvSpPr>
          <p:cNvPr id="31" name="Text 22"/>
          <p:cNvSpPr txBox="1"/>
          <p:nvPr/>
        </p:nvSpPr>
        <p:spPr>
          <a:xfrm>
            <a:off x="4343400" y="5440680"/>
            <a:ext cx="3840480" cy="822960"/>
          </a:xfrm>
          <a:prstGeom prst="rect">
            <a:avLst/>
          </a:prstGeom>
          <a:noFill/>
          <a:ln/>
        </p:spPr>
        <p:txBody>
          <a:bodyPr wrap="square" lIns="0" tIns="0" rIns="0" bIns="0" rtlCol="0" anchor="t"/>
          <a:lstStyle/>
          <a:p>
            <a:pPr indent="0" marL="0">
              <a:buNone/>
            </a:pPr>
            <a:r>
              <a:rPr lang="en-US" sz="1050" dirty="0">
                <a:solidFill>
                  <a:srgbClr val="56534B"/>
                </a:solidFill>
                <a:latin typeface="Calibri" pitchFamily="34" charset="0"/>
                <a:ea typeface="Calibri" pitchFamily="34" charset="-122"/>
                <a:cs typeface="Calibri" pitchFamily="34" charset="-120"/>
              </a:rPr>
              <a:t>Erstfassung Mai 2026 → V2.11.1 (Sept. 2026) · Versionshistorie im Papier dokumentiert · 11 Anhänge · Quellenverzeichnis mit Interessenlage</a:t>
            </a:r>
            <a:endParaRPr lang="en-US" sz="1050" dirty="0"/>
          </a:p>
        </p:txBody>
      </p:sp>
      <p:sp>
        <p:nvSpPr>
          <p:cNvPr id="32" name="Shape 23"/>
          <p:cNvSpPr/>
          <p:nvPr/>
        </p:nvSpPr>
        <p:spPr>
          <a:xfrm>
            <a:off x="8549640" y="1645920"/>
            <a:ext cx="3063240" cy="4617720"/>
          </a:xfrm>
          <a:prstGeom prst="roundRect">
            <a:avLst>
              <a:gd name="adj" fmla="val 2388"/>
            </a:avLst>
          </a:prstGeom>
          <a:solidFill>
            <a:srgbClr val="F4EBD3"/>
          </a:solidFill>
          <a:ln w="12700">
            <a:solidFill>
              <a:srgbClr val="F4EBD3"/>
            </a:solidFill>
            <a:prstDash val="solid"/>
          </a:ln>
        </p:spPr>
      </p:sp>
      <p:sp>
        <p:nvSpPr>
          <p:cNvPr id="33" name="Text 24"/>
          <p:cNvSpPr txBox="1"/>
          <p:nvPr/>
        </p:nvSpPr>
        <p:spPr>
          <a:xfrm>
            <a:off x="8732520" y="1783080"/>
            <a:ext cx="2743200" cy="320040"/>
          </a:xfrm>
          <a:prstGeom prst="rect">
            <a:avLst/>
          </a:prstGeom>
          <a:noFill/>
          <a:ln/>
        </p:spPr>
        <p:txBody>
          <a:bodyPr wrap="square" lIns="0" tIns="0" rIns="0" bIns="0" rtlCol="0" anchor="ctr"/>
          <a:lstStyle/>
          <a:p>
            <a:pPr indent="0" marL="0">
              <a:buNone/>
            </a:pPr>
            <a:r>
              <a:rPr lang="en-US" sz="1300" b="1" dirty="0">
                <a:solidFill>
                  <a:srgbClr val="9A5B12"/>
                </a:solidFill>
                <a:latin typeface="Calibri" pitchFamily="34" charset="0"/>
                <a:ea typeface="Calibri" pitchFamily="34" charset="-122"/>
                <a:cs typeface="Calibri" pitchFamily="34" charset="-120"/>
              </a:rPr>
              <a:t>Die verwundbare Seite</a:t>
            </a:r>
            <a:endParaRPr lang="en-US" sz="1300" dirty="0"/>
          </a:p>
        </p:txBody>
      </p:sp>
      <p:sp>
        <p:nvSpPr>
          <p:cNvPr id="34" name="Text 25"/>
          <p:cNvSpPr txBox="1"/>
          <p:nvPr/>
        </p:nvSpPr>
        <p:spPr>
          <a:xfrm>
            <a:off x="8732520" y="2148840"/>
            <a:ext cx="2743200" cy="914400"/>
          </a:xfrm>
          <a:prstGeom prst="rect">
            <a:avLst/>
          </a:prstGeom>
          <a:noFill/>
          <a:ln/>
        </p:spPr>
        <p:txBody>
          <a:bodyPr wrap="square" lIns="0" tIns="0" rIns="0" bIns="0" rtlCol="0" anchor="t"/>
          <a:lstStyle/>
          <a:p>
            <a:pPr indent="0" marL="0">
              <a:buNone/>
            </a:pPr>
            <a:r>
              <a:rPr lang="en-US" sz="1100" dirty="0">
                <a:solidFill>
                  <a:srgbClr val="1A1A17"/>
                </a:solidFill>
                <a:latin typeface="Calibri" pitchFamily="34" charset="0"/>
                <a:ea typeface="Calibri" pitchFamily="34" charset="-122"/>
                <a:cs typeface="Calibri" pitchFamily="34" charset="-120"/>
              </a:rPr>
              <a:t>Der methodische Ansatz trägt. Die Kalibrierung ist der Angriffspunkt — und im Papier durchgehend so markiert. Drei Fragen ans Fachreview:</a:t>
            </a:r>
            <a:endParaRPr lang="en-US" sz="1100" dirty="0"/>
          </a:p>
        </p:txBody>
      </p:sp>
      <p:sp>
        <p:nvSpPr>
          <p:cNvPr id="35" name="Text 26"/>
          <p:cNvSpPr txBox="1"/>
          <p:nvPr/>
        </p:nvSpPr>
        <p:spPr>
          <a:xfrm>
            <a:off x="8732520" y="3108960"/>
            <a:ext cx="2743200" cy="201168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100" dirty="0">
                <a:solidFill>
                  <a:srgbClr val="1A1A17"/>
                </a:solidFill>
                <a:latin typeface="Calibri" pitchFamily="34" charset="0"/>
                <a:ea typeface="Calibri" pitchFamily="34" charset="-122"/>
                <a:cs typeface="Calibri" pitchFamily="34" charset="-120"/>
              </a:rPr>
              <a:t>Sind die Erzeugungskosten je Wärmequelle plausibel kalibriert?</a:t>
            </a:r>
            <a:endParaRPr lang="en-US" sz="1100" dirty="0"/>
          </a:p>
          <a:p>
            <a:pPr marL="342900" indent="-342900">
              <a:spcAft>
                <a:spcPts val="600"/>
              </a:spcAft>
              <a:buSzPct val="100000"/>
              <a:buFont typeface="+mj-lt"/>
              <a:buAutoNum type="arabicPeriod" startAt="1"/>
            </a:pPr>
            <a:r>
              <a:rPr lang="en-US" sz="1100" dirty="0">
                <a:solidFill>
                  <a:srgbClr val="1A1A17"/>
                </a:solidFill>
                <a:latin typeface="Calibri" pitchFamily="34" charset="0"/>
                <a:ea typeface="Calibri" pitchFamily="34" charset="-122"/>
                <a:cs typeface="Calibri" pitchFamily="34" charset="-120"/>
              </a:rPr>
              <a:t>Sind 677 / 1'692 / 3'554 €/m Verlegekosten realistisch?</a:t>
            </a:r>
            <a:endParaRPr lang="en-US" sz="1100" dirty="0"/>
          </a:p>
          <a:p>
            <a:pPr marL="342900" indent="-342900">
              <a:spcAft>
                <a:spcPts val="600"/>
              </a:spcAft>
              <a:buSzPct val="100000"/>
              <a:buFont typeface="+mj-lt"/>
              <a:buAutoNum type="arabicPeriod" startAt="1"/>
            </a:pPr>
            <a:r>
              <a:rPr lang="en-US" sz="1100" dirty="0">
                <a:solidFill>
                  <a:srgbClr val="1A1A17"/>
                </a:solidFill>
                <a:latin typeface="Calibri" pitchFamily="34" charset="0"/>
                <a:ea typeface="Calibri" pitchFamily="34" charset="-122"/>
                <a:cs typeface="Calibri" pitchFamily="34" charset="-120"/>
              </a:rPr>
              <a:t>Sind 17 Trassenmeter je Einfamilienhaus und 12 je Gründerzeitblock realistisch?</a:t>
            </a:r>
            <a:endParaRPr lang="en-US" sz="1100" dirty="0"/>
          </a:p>
        </p:txBody>
      </p:sp>
      <p:sp>
        <p:nvSpPr>
          <p:cNvPr id="36" name="Text 27"/>
          <p:cNvSpPr txBox="1"/>
          <p:nvPr/>
        </p:nvSpPr>
        <p:spPr>
          <a:xfrm>
            <a:off x="8732520" y="5257800"/>
            <a:ext cx="2743200" cy="914400"/>
          </a:xfrm>
          <a:prstGeom prst="rect">
            <a:avLst/>
          </a:prstGeom>
          <a:noFill/>
          <a:ln/>
        </p:spPr>
        <p:txBody>
          <a:bodyPr wrap="square" lIns="0" tIns="0" rIns="0" bIns="0" rtlCol="0" anchor="t"/>
          <a:lstStyle/>
          <a:p>
            <a:pPr indent="0" marL="0">
              <a:buNone/>
            </a:pPr>
            <a:r>
              <a:rPr lang="en-US" sz="1150" i="1" dirty="0">
                <a:solidFill>
                  <a:srgbClr val="9A5B12"/>
                </a:solidFill>
                <a:latin typeface="Cambria" pitchFamily="34" charset="0"/>
                <a:ea typeface="Cambria" pitchFamily="34" charset="-122"/>
                <a:cs typeface="Cambria" pitchFamily="34" charset="-120"/>
              </a:rPr>
              <a:t>Ob eine KI-gestützte Analyse taugt, entscheidet sich nicht an ihrer Entstehung, sondern daran, ob die Zahlen halten.</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TEIL I · AUSGANGSLAGE</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Deutschland zahlt das Doppelte — für dieselbe Anlage</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5" name="Text 3"/>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2</a:t>
            </a:r>
            <a:endParaRPr lang="en-US" sz="900" dirty="0"/>
          </a:p>
        </p:txBody>
      </p:sp>
      <p:graphicFrame>
        <p:nvGraphicFramePr>
          <p:cNvPr id="6" name="Chart 0" descr=""/>
          <p:cNvGraphicFramePr/>
          <p:nvPr/>
        </p:nvGraphicFramePr>
        <p:xfrm>
          <a:off x="548640" y="1783080"/>
          <a:ext cx="7040880" cy="26974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48640" y="4526280"/>
            <a:ext cx="7040880" cy="320040"/>
          </a:xfrm>
          <a:prstGeom prst="rect">
            <a:avLst/>
          </a:prstGeom>
          <a:noFill/>
          <a:ln/>
        </p:spPr>
        <p:txBody>
          <a:bodyPr wrap="square" lIns="0" tIns="0" rIns="0" bIns="0" rtlCol="0" anchor="t"/>
          <a:lstStyle/>
          <a:p>
            <a:pPr indent="0" marL="0">
              <a:buNone/>
            </a:pPr>
            <a:r>
              <a:rPr lang="en-US" sz="950" dirty="0">
                <a:solidFill>
                  <a:srgbClr val="56534B"/>
                </a:solidFill>
                <a:latin typeface="Calibri" pitchFamily="34" charset="0"/>
                <a:ea typeface="Calibri" pitchFamily="34" charset="-122"/>
                <a:cs typeface="Calibri" pitchFamily="34" charset="-120"/>
              </a:rPr>
              <a:t>DE: Verbraucherzentrale RLP 2025, Median 35'000 € · UK, FR, AT: HuG und Octopus/RWTH — zwei Erhebungen mit unterschiedlicher Methodik, als Bandbreiten lesen.</a:t>
            </a:r>
            <a:endParaRPr lang="en-US" sz="950" dirty="0"/>
          </a:p>
        </p:txBody>
      </p:sp>
      <p:sp>
        <p:nvSpPr>
          <p:cNvPr id="8" name="Text 5"/>
          <p:cNvSpPr txBox="1"/>
          <p:nvPr/>
        </p:nvSpPr>
        <p:spPr>
          <a:xfrm>
            <a:off x="548640" y="4892040"/>
            <a:ext cx="7040880" cy="365760"/>
          </a:xfrm>
          <a:prstGeom prst="rect">
            <a:avLst/>
          </a:prstGeom>
          <a:noFill/>
          <a:ln/>
        </p:spPr>
        <p:txBody>
          <a:bodyPr wrap="square" lIns="0" tIns="0" rIns="0" bIns="0" rtlCol="0" anchor="t"/>
          <a:lstStyle/>
          <a:p>
            <a:pPr indent="0" marL="0">
              <a:buNone/>
            </a:pPr>
            <a:r>
              <a:rPr lang="en-US" sz="1100" b="1" dirty="0">
                <a:solidFill>
                  <a:srgbClr val="0F5257"/>
                </a:solidFill>
                <a:latin typeface="Calibri" pitchFamily="34" charset="0"/>
                <a:ea typeface="Calibri" pitchFamily="34" charset="-122"/>
                <a:cs typeface="Calibri" pitchFamily="34" charset="-120"/>
              </a:rPr>
              <a:t>Referenzfall des Papiers: </a:t>
            </a:r>
            <a:pPr indent="0" marL="0">
              <a:buNone/>
            </a:pPr>
            <a:r>
              <a:rPr lang="en-US" sz="1100" dirty="0">
                <a:solidFill>
                  <a:srgbClr val="0F5257"/>
                </a:solidFill>
                <a:latin typeface="Calibri" pitchFamily="34" charset="0"/>
                <a:ea typeface="Calibri" pitchFamily="34" charset="-122"/>
                <a:cs typeface="Calibri" pitchFamily="34" charset="-120"/>
              </a:rPr>
              <a:t>14'000 € netto, die Mitte des UK/AT-Korridors — mit 19 % USt 16'660 €. Abstand zu Deutschland: Faktor 2 bis 2.5.</a:t>
            </a:r>
            <a:endParaRPr lang="en-US" sz="1100" dirty="0"/>
          </a:p>
        </p:txBody>
      </p:sp>
      <p:sp>
        <p:nvSpPr>
          <p:cNvPr id="9" name="Text 6"/>
          <p:cNvSpPr txBox="1"/>
          <p:nvPr/>
        </p:nvSpPr>
        <p:spPr>
          <a:xfrm>
            <a:off x="7909560" y="1783080"/>
            <a:ext cx="3703320" cy="320040"/>
          </a:xfrm>
          <a:prstGeom prst="rect">
            <a:avLst/>
          </a:prstGeom>
          <a:noFill/>
          <a:ln/>
        </p:spPr>
        <p:txBody>
          <a:bodyPr wrap="square" lIns="0" tIns="0" rIns="0" bIns="0" rtlCol="0" anchor="ctr"/>
          <a:lstStyle/>
          <a:p>
            <a:pPr indent="0" marL="0">
              <a:buNone/>
            </a:pPr>
            <a:r>
              <a:rPr lang="en-US" sz="1300" b="1" dirty="0">
                <a:solidFill>
                  <a:srgbClr val="1A1A17"/>
                </a:solidFill>
                <a:latin typeface="Calibri" pitchFamily="34" charset="0"/>
                <a:ea typeface="Calibri" pitchFamily="34" charset="-122"/>
                <a:cs typeface="Calibri" pitchFamily="34" charset="-120"/>
              </a:rPr>
              <a:t>Nach Förderung wird der Abstand größer</a:t>
            </a:r>
            <a:endParaRPr lang="en-US" sz="1300" dirty="0"/>
          </a:p>
        </p:txBody>
      </p:sp>
      <p:sp>
        <p:nvSpPr>
          <p:cNvPr id="10" name="Text 7"/>
          <p:cNvSpPr txBox="1"/>
          <p:nvPr/>
        </p:nvSpPr>
        <p:spPr>
          <a:xfrm>
            <a:off x="7909560" y="2240280"/>
            <a:ext cx="3703320" cy="502920"/>
          </a:xfrm>
          <a:prstGeom prst="rect">
            <a:avLst/>
          </a:prstGeom>
          <a:noFill/>
          <a:ln/>
        </p:spPr>
        <p:txBody>
          <a:bodyPr wrap="square" lIns="0" tIns="0" rIns="0" bIns="0" rtlCol="0" anchor="b"/>
          <a:lstStyle/>
          <a:p>
            <a:pPr indent="0" marL="0">
              <a:buNone/>
            </a:pPr>
            <a:r>
              <a:rPr lang="en-US" sz="3000" b="1" dirty="0">
                <a:solidFill>
                  <a:srgbClr val="0F5257"/>
                </a:solidFill>
                <a:latin typeface="Cambria" pitchFamily="34" charset="0"/>
                <a:ea typeface="Cambria" pitchFamily="34" charset="-122"/>
                <a:cs typeface="Cambria" pitchFamily="34" charset="-120"/>
              </a:rPr>
              <a:t>rund 3'200 €</a:t>
            </a:r>
            <a:endParaRPr lang="en-US" sz="3000" dirty="0"/>
          </a:p>
        </p:txBody>
      </p:sp>
      <p:sp>
        <p:nvSpPr>
          <p:cNvPr id="11" name="Text 8"/>
          <p:cNvSpPr txBox="1"/>
          <p:nvPr/>
        </p:nvSpPr>
        <p:spPr>
          <a:xfrm>
            <a:off x="7909560" y="2770632"/>
            <a:ext cx="3703320" cy="365760"/>
          </a:xfrm>
          <a:prstGeom prst="rect">
            <a:avLst/>
          </a:prstGeom>
          <a:noFill/>
          <a:ln/>
        </p:spPr>
        <p:txBody>
          <a:bodyPr wrap="square" lIns="0" tIns="0" rIns="0" bIns="0" rtlCol="0" anchor="t"/>
          <a:lstStyle/>
          <a:p>
            <a:pPr indent="0" marL="0">
              <a:buNone/>
            </a:pPr>
            <a:r>
              <a:rPr lang="en-US" sz="1100" dirty="0">
                <a:solidFill>
                  <a:srgbClr val="56534B"/>
                </a:solidFill>
                <a:latin typeface="Calibri" pitchFamily="34" charset="0"/>
                <a:ea typeface="Calibri" pitchFamily="34" charset="-122"/>
                <a:cs typeface="Calibri" pitchFamily="34" charset="-120"/>
              </a:rPr>
              <a:t>Eigenanteil eines britischen Haushalts</a:t>
            </a:r>
            <a:endParaRPr lang="en-US" sz="1100" dirty="0"/>
          </a:p>
        </p:txBody>
      </p:sp>
      <p:sp>
        <p:nvSpPr>
          <p:cNvPr id="12" name="Text 9"/>
          <p:cNvSpPr txBox="1"/>
          <p:nvPr/>
        </p:nvSpPr>
        <p:spPr>
          <a:xfrm>
            <a:off x="7909560" y="3291840"/>
            <a:ext cx="3703320" cy="502920"/>
          </a:xfrm>
          <a:prstGeom prst="rect">
            <a:avLst/>
          </a:prstGeom>
          <a:noFill/>
          <a:ln/>
        </p:spPr>
        <p:txBody>
          <a:bodyPr wrap="square" lIns="0" tIns="0" rIns="0" bIns="0" rtlCol="0" anchor="b"/>
          <a:lstStyle/>
          <a:p>
            <a:pPr indent="0" marL="0">
              <a:buNone/>
            </a:pPr>
            <a:r>
              <a:rPr lang="en-US" sz="3000" b="1" dirty="0">
                <a:solidFill>
                  <a:srgbClr val="7A2E2E"/>
                </a:solidFill>
                <a:latin typeface="Cambria" pitchFamily="34" charset="0"/>
                <a:ea typeface="Cambria" pitchFamily="34" charset="-122"/>
                <a:cs typeface="Cambria" pitchFamily="34" charset="-120"/>
              </a:rPr>
              <a:t>rund 14'900 €</a:t>
            </a:r>
            <a:endParaRPr lang="en-US" sz="3000" dirty="0"/>
          </a:p>
        </p:txBody>
      </p:sp>
      <p:sp>
        <p:nvSpPr>
          <p:cNvPr id="13" name="Text 10"/>
          <p:cNvSpPr txBox="1"/>
          <p:nvPr/>
        </p:nvSpPr>
        <p:spPr>
          <a:xfrm>
            <a:off x="7909560" y="3822192"/>
            <a:ext cx="3703320" cy="365760"/>
          </a:xfrm>
          <a:prstGeom prst="rect">
            <a:avLst/>
          </a:prstGeom>
          <a:noFill/>
          <a:ln/>
        </p:spPr>
        <p:txBody>
          <a:bodyPr wrap="square" lIns="0" tIns="0" rIns="0" bIns="0" rtlCol="0" anchor="t"/>
          <a:lstStyle/>
          <a:p>
            <a:pPr indent="0" marL="0">
              <a:buNone/>
            </a:pPr>
            <a:r>
              <a:rPr lang="en-US" sz="1100" dirty="0">
                <a:solidFill>
                  <a:srgbClr val="56534B"/>
                </a:solidFill>
                <a:latin typeface="Calibri" pitchFamily="34" charset="0"/>
                <a:ea typeface="Calibri" pitchFamily="34" charset="-122"/>
                <a:cs typeface="Calibri" pitchFamily="34" charset="-120"/>
              </a:rPr>
              <a:t>Eigenanteil in Deutschland bei 50 % BEG</a:t>
            </a:r>
            <a:endParaRPr lang="en-US" sz="1100" dirty="0"/>
          </a:p>
        </p:txBody>
      </p:sp>
      <p:sp>
        <p:nvSpPr>
          <p:cNvPr id="14" name="Text 11"/>
          <p:cNvSpPr txBox="1"/>
          <p:nvPr/>
        </p:nvSpPr>
        <p:spPr>
          <a:xfrm>
            <a:off x="7909560" y="4434840"/>
            <a:ext cx="3703320" cy="548640"/>
          </a:xfrm>
          <a:prstGeom prst="rect">
            <a:avLst/>
          </a:prstGeom>
          <a:noFill/>
          <a:ln/>
        </p:spPr>
        <p:txBody>
          <a:bodyPr wrap="square" lIns="0" tIns="0" rIns="0" bIns="0" rtlCol="0" anchor="t"/>
          <a:lstStyle/>
          <a:p>
            <a:pPr indent="0" marL="0">
              <a:buNone/>
            </a:pPr>
            <a:r>
              <a:rPr lang="en-US" sz="1300" i="1" dirty="0">
                <a:solidFill>
                  <a:srgbClr val="1A1A17"/>
                </a:solidFill>
                <a:latin typeface="Cambria" pitchFamily="34" charset="0"/>
                <a:ea typeface="Cambria" pitchFamily="34" charset="-122"/>
                <a:cs typeface="Cambria" pitchFamily="34" charset="-120"/>
              </a:rPr>
              <a:t>Fast fünfmal so viel — trotz der höheren deutschen Förderquote.</a:t>
            </a:r>
            <a:endParaRPr lang="en-US" sz="1300" dirty="0"/>
          </a:p>
        </p:txBody>
      </p:sp>
      <p:sp>
        <p:nvSpPr>
          <p:cNvPr id="15" name="Shape 12"/>
          <p:cNvSpPr/>
          <p:nvPr/>
        </p:nvSpPr>
        <p:spPr>
          <a:xfrm>
            <a:off x="548640" y="5440680"/>
            <a:ext cx="11064240" cy="822960"/>
          </a:xfrm>
          <a:prstGeom prst="roundRect">
            <a:avLst>
              <a:gd name="adj" fmla="val 8889"/>
            </a:avLst>
          </a:prstGeom>
          <a:solidFill>
            <a:srgbClr val="EFEBE1"/>
          </a:solidFill>
          <a:ln w="9525">
            <a:solidFill>
              <a:srgbClr val="C9C3B4"/>
            </a:solidFill>
            <a:prstDash val="solid"/>
          </a:ln>
        </p:spPr>
      </p:sp>
      <p:sp>
        <p:nvSpPr>
          <p:cNvPr id="16" name="Text 13"/>
          <p:cNvSpPr txBox="1"/>
          <p:nvPr/>
        </p:nvSpPr>
        <p:spPr>
          <a:xfrm>
            <a:off x="731520" y="5440680"/>
            <a:ext cx="10698480" cy="822960"/>
          </a:xfrm>
          <a:prstGeom prst="rect">
            <a:avLst/>
          </a:prstGeom>
          <a:noFill/>
          <a:ln/>
        </p:spPr>
        <p:txBody>
          <a:bodyPr wrap="square" lIns="0" tIns="0" rIns="0" bIns="0" rtlCol="0" anchor="ctr"/>
          <a:lstStyle/>
          <a:p>
            <a:pPr indent="0" marL="0">
              <a:buNone/>
            </a:pPr>
            <a:r>
              <a:rPr lang="en-US" sz="1250" b="1" dirty="0">
                <a:solidFill>
                  <a:srgbClr val="0F5257"/>
                </a:solidFill>
                <a:latin typeface="Calibri" pitchFamily="34" charset="0"/>
                <a:ea typeface="Calibri" pitchFamily="34" charset="-122"/>
                <a:cs typeface="Calibri" pitchFamily="34" charset="-120"/>
              </a:rPr>
              <a:t>Was das heißt: </a:t>
            </a:r>
            <a:pPr indent="0" marL="0">
              <a:buNone/>
            </a:pPr>
            <a:r>
              <a:rPr lang="en-US" sz="1250" dirty="0">
                <a:solidFill>
                  <a:srgbClr val="1A1A17"/>
                </a:solidFill>
                <a:latin typeface="Calibri" pitchFamily="34" charset="0"/>
                <a:ea typeface="Calibri" pitchFamily="34" charset="-122"/>
                <a:cs typeface="Calibri" pitchFamily="34" charset="-120"/>
              </a:rPr>
              <a:t>Gleiche Technik, gleicher Gebäudebestand, doppelter Preis — und nach Förderung fünffacher Eigenanteil. Der Preisunterschied ist kein Naturgesetz, sondern gemacht.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TEIL I · DIAGNOSE UND REFORM</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Vier Kostentreiber, fünf Hebel, ein Systemfehler</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5" name="Text 3"/>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3</a:t>
            </a:r>
            <a:endParaRPr lang="en-US" sz="900" dirty="0"/>
          </a:p>
        </p:txBody>
      </p:sp>
      <p:sp>
        <p:nvSpPr>
          <p:cNvPr id="6" name="Text 4"/>
          <p:cNvSpPr txBox="1"/>
          <p:nvPr/>
        </p:nvSpPr>
        <p:spPr>
          <a:xfrm>
            <a:off x="548640" y="1645920"/>
            <a:ext cx="5120640" cy="274320"/>
          </a:xfrm>
          <a:prstGeom prst="rect">
            <a:avLst/>
          </a:prstGeom>
          <a:noFill/>
          <a:ln/>
        </p:spPr>
        <p:txBody>
          <a:bodyPr wrap="square" lIns="0" tIns="0" rIns="0" bIns="0" rtlCol="0" anchor="ctr"/>
          <a:lstStyle/>
          <a:p>
            <a:pPr indent="0" marL="0">
              <a:buNone/>
            </a:pPr>
            <a:r>
              <a:rPr lang="en-US" sz="1200" b="1" dirty="0">
                <a:solidFill>
                  <a:srgbClr val="1A1A17"/>
                </a:solidFill>
                <a:latin typeface="Calibri" pitchFamily="34" charset="0"/>
                <a:ea typeface="Calibri" pitchFamily="34" charset="-122"/>
                <a:cs typeface="Calibri" pitchFamily="34" charset="-120"/>
              </a:rPr>
              <a:t>Mehrkosten gegenüber Großbritannien</a:t>
            </a:r>
            <a:endParaRPr lang="en-US" sz="1200" dirty="0"/>
          </a:p>
        </p:txBody>
      </p:sp>
      <p:sp>
        <p:nvSpPr>
          <p:cNvPr id="7" name="Shape 5"/>
          <p:cNvSpPr/>
          <p:nvPr/>
        </p:nvSpPr>
        <p:spPr>
          <a:xfrm>
            <a:off x="594360" y="2057400"/>
            <a:ext cx="384048" cy="384048"/>
          </a:xfrm>
          <a:prstGeom prst="ellipse">
            <a:avLst/>
          </a:prstGeom>
          <a:solidFill>
            <a:srgbClr val="EFEBE1"/>
          </a:solidFill>
          <a:ln w="12700">
            <a:solidFill>
              <a:srgbClr val="EFEBE1"/>
            </a:solidFill>
            <a:prstDash val="solid"/>
          </a:ln>
        </p:spPr>
      </p:sp>
      <p:pic>
        <p:nvPicPr>
          <p:cNvPr id="8" name="Image 0" descr="preencoded.png">    </p:cNvPr>
          <p:cNvPicPr>
            <a:picLocks noChangeAspect="1"/>
          </p:cNvPicPr>
          <p:nvPr/>
        </p:nvPicPr>
        <p:blipFill>
          <a:blip r:embed="rId1"/>
          <a:stretch>
            <a:fillRect/>
          </a:stretch>
        </p:blipFill>
        <p:spPr>
          <a:xfrm>
            <a:off x="676656" y="2139696"/>
            <a:ext cx="219456" cy="219456"/>
          </a:xfrm>
          <a:prstGeom prst="rect">
            <a:avLst/>
          </a:prstGeom>
        </p:spPr>
      </p:pic>
      <p:sp>
        <p:nvSpPr>
          <p:cNvPr id="9" name="Text 6"/>
          <p:cNvSpPr txBox="1"/>
          <p:nvPr/>
        </p:nvSpPr>
        <p:spPr>
          <a:xfrm>
            <a:off x="1097280" y="2011680"/>
            <a:ext cx="1920240" cy="256032"/>
          </a:xfrm>
          <a:prstGeom prst="rect">
            <a:avLst/>
          </a:prstGeom>
          <a:noFill/>
          <a:ln/>
        </p:spPr>
        <p:txBody>
          <a:bodyPr wrap="square" lIns="0" tIns="0" rIns="0" bIns="0" rtlCol="0" anchor="ctr"/>
          <a:lstStyle/>
          <a:p>
            <a:pPr indent="0" marL="0">
              <a:buNone/>
            </a:pPr>
            <a:r>
              <a:rPr lang="en-US" sz="1150" b="1" dirty="0">
                <a:solidFill>
                  <a:srgbClr val="1A1A17"/>
                </a:solidFill>
                <a:latin typeface="Calibri" pitchFamily="34" charset="0"/>
                <a:ea typeface="Calibri" pitchFamily="34" charset="-122"/>
                <a:cs typeface="Calibri" pitchFamily="34" charset="-120"/>
              </a:rPr>
              <a:t>Geräte &amp; Markt</a:t>
            </a:r>
            <a:endParaRPr lang="en-US" sz="1150" dirty="0"/>
          </a:p>
        </p:txBody>
      </p:sp>
      <p:sp>
        <p:nvSpPr>
          <p:cNvPr id="10" name="Text 7"/>
          <p:cNvSpPr txBox="1"/>
          <p:nvPr/>
        </p:nvSpPr>
        <p:spPr>
          <a:xfrm>
            <a:off x="3017520" y="2011680"/>
            <a:ext cx="1188720" cy="256032"/>
          </a:xfrm>
          <a:prstGeom prst="rect">
            <a:avLst/>
          </a:prstGeom>
          <a:noFill/>
          <a:ln/>
        </p:spPr>
        <p:txBody>
          <a:bodyPr wrap="square" lIns="0" tIns="0" rIns="0" bIns="0" rtlCol="0" anchor="ctr"/>
          <a:lstStyle/>
          <a:p>
            <a:pPr algn="r" indent="0" marL="0">
              <a:buNone/>
            </a:pPr>
            <a:r>
              <a:rPr lang="en-US" sz="1150" b="1" dirty="0">
                <a:solidFill>
                  <a:srgbClr val="1A1A17"/>
                </a:solidFill>
                <a:latin typeface="Calibri" pitchFamily="34" charset="0"/>
                <a:ea typeface="Calibri" pitchFamily="34" charset="-122"/>
                <a:cs typeface="Calibri" pitchFamily="34" charset="-120"/>
              </a:rPr>
              <a:t>+2'000–4'000 €</a:t>
            </a:r>
            <a:endParaRPr lang="en-US" sz="1150" dirty="0"/>
          </a:p>
        </p:txBody>
      </p:sp>
      <p:sp>
        <p:nvSpPr>
          <p:cNvPr id="11" name="Text 8"/>
          <p:cNvSpPr txBox="1"/>
          <p:nvPr/>
        </p:nvSpPr>
        <p:spPr>
          <a:xfrm>
            <a:off x="1097280" y="2258568"/>
            <a:ext cx="4572000" cy="256032"/>
          </a:xfrm>
          <a:prstGeom prst="rect">
            <a:avLst/>
          </a:prstGeom>
          <a:noFill/>
          <a:ln/>
        </p:spPr>
        <p:txBody>
          <a:bodyPr wrap="square" lIns="0" tIns="0" rIns="0" bIns="0" rtlCol="0" anchor="t"/>
          <a:lstStyle/>
          <a:p>
            <a:pPr indent="0" marL="0">
              <a:buNone/>
            </a:pPr>
            <a:r>
              <a:rPr lang="en-US" sz="950" dirty="0">
                <a:solidFill>
                  <a:srgbClr val="56534B"/>
                </a:solidFill>
                <a:latin typeface="Calibri" pitchFamily="34" charset="0"/>
                <a:ea typeface="Calibri" pitchFamily="34" charset="-122"/>
                <a:cs typeface="Calibri" pitchFamily="34" charset="-120"/>
              </a:rPr>
              <a:t>Premium-Bias; günstige Varianten werden in DE nicht angeboten</a:t>
            </a:r>
            <a:endParaRPr lang="en-US" sz="950" dirty="0"/>
          </a:p>
        </p:txBody>
      </p:sp>
      <p:sp>
        <p:nvSpPr>
          <p:cNvPr id="12" name="Shape 9"/>
          <p:cNvSpPr/>
          <p:nvPr/>
        </p:nvSpPr>
        <p:spPr>
          <a:xfrm>
            <a:off x="594360" y="2624328"/>
            <a:ext cx="384048" cy="384048"/>
          </a:xfrm>
          <a:prstGeom prst="ellipse">
            <a:avLst/>
          </a:prstGeom>
          <a:solidFill>
            <a:srgbClr val="EFEBE1"/>
          </a:solidFill>
          <a:ln w="12700">
            <a:solidFill>
              <a:srgbClr val="EFEBE1"/>
            </a:solidFill>
            <a:prstDash val="solid"/>
          </a:ln>
        </p:spPr>
      </p:sp>
      <p:pic>
        <p:nvPicPr>
          <p:cNvPr id="13" name="Image 1" descr="preencoded.png">    </p:cNvPr>
          <p:cNvPicPr>
            <a:picLocks noChangeAspect="1"/>
          </p:cNvPicPr>
          <p:nvPr/>
        </p:nvPicPr>
        <p:blipFill>
          <a:blip r:embed="rId2"/>
          <a:stretch>
            <a:fillRect/>
          </a:stretch>
        </p:blipFill>
        <p:spPr>
          <a:xfrm>
            <a:off x="676656" y="2706624"/>
            <a:ext cx="219456" cy="219456"/>
          </a:xfrm>
          <a:prstGeom prst="rect">
            <a:avLst/>
          </a:prstGeom>
        </p:spPr>
      </p:pic>
      <p:sp>
        <p:nvSpPr>
          <p:cNvPr id="14" name="Text 10"/>
          <p:cNvSpPr txBox="1"/>
          <p:nvPr/>
        </p:nvSpPr>
        <p:spPr>
          <a:xfrm>
            <a:off x="1097280" y="2578608"/>
            <a:ext cx="1920240" cy="256032"/>
          </a:xfrm>
          <a:prstGeom prst="rect">
            <a:avLst/>
          </a:prstGeom>
          <a:noFill/>
          <a:ln/>
        </p:spPr>
        <p:txBody>
          <a:bodyPr wrap="square" lIns="0" tIns="0" rIns="0" bIns="0" rtlCol="0" anchor="ctr"/>
          <a:lstStyle/>
          <a:p>
            <a:pPr indent="0" marL="0">
              <a:buNone/>
            </a:pPr>
            <a:r>
              <a:rPr lang="en-US" sz="1150" b="1" dirty="0">
                <a:solidFill>
                  <a:srgbClr val="1A1A17"/>
                </a:solidFill>
                <a:latin typeface="Calibri" pitchFamily="34" charset="0"/>
                <a:ea typeface="Calibri" pitchFamily="34" charset="-122"/>
                <a:cs typeface="Calibri" pitchFamily="34" charset="-120"/>
              </a:rPr>
              <a:t>Fundament / Aufstellung</a:t>
            </a:r>
            <a:endParaRPr lang="en-US" sz="1150" dirty="0"/>
          </a:p>
        </p:txBody>
      </p:sp>
      <p:sp>
        <p:nvSpPr>
          <p:cNvPr id="15" name="Text 11"/>
          <p:cNvSpPr txBox="1"/>
          <p:nvPr/>
        </p:nvSpPr>
        <p:spPr>
          <a:xfrm>
            <a:off x="3017520" y="2578608"/>
            <a:ext cx="1188720" cy="256032"/>
          </a:xfrm>
          <a:prstGeom prst="rect">
            <a:avLst/>
          </a:prstGeom>
          <a:noFill/>
          <a:ln/>
        </p:spPr>
        <p:txBody>
          <a:bodyPr wrap="square" lIns="0" tIns="0" rIns="0" bIns="0" rtlCol="0" anchor="ctr"/>
          <a:lstStyle/>
          <a:p>
            <a:pPr algn="r" indent="0" marL="0">
              <a:buNone/>
            </a:pPr>
            <a:r>
              <a:rPr lang="en-US" sz="1150" b="1" dirty="0">
                <a:solidFill>
                  <a:srgbClr val="1A1A17"/>
                </a:solidFill>
                <a:latin typeface="Calibri" pitchFamily="34" charset="0"/>
                <a:ea typeface="Calibri" pitchFamily="34" charset="-122"/>
                <a:cs typeface="Calibri" pitchFamily="34" charset="-120"/>
              </a:rPr>
              <a:t>+1'000–2'200 €</a:t>
            </a:r>
            <a:endParaRPr lang="en-US" sz="1150" dirty="0"/>
          </a:p>
        </p:txBody>
      </p:sp>
      <p:sp>
        <p:nvSpPr>
          <p:cNvPr id="16" name="Text 12"/>
          <p:cNvSpPr txBox="1"/>
          <p:nvPr/>
        </p:nvSpPr>
        <p:spPr>
          <a:xfrm>
            <a:off x="1097280" y="2825496"/>
            <a:ext cx="4572000" cy="256032"/>
          </a:xfrm>
          <a:prstGeom prst="rect">
            <a:avLst/>
          </a:prstGeom>
          <a:noFill/>
          <a:ln/>
        </p:spPr>
        <p:txBody>
          <a:bodyPr wrap="square" lIns="0" tIns="0" rIns="0" bIns="0" rtlCol="0" anchor="t"/>
          <a:lstStyle/>
          <a:p>
            <a:pPr indent="0" marL="0">
              <a:buNone/>
            </a:pPr>
            <a:r>
              <a:rPr lang="en-US" sz="950" dirty="0">
                <a:solidFill>
                  <a:srgbClr val="56534B"/>
                </a:solidFill>
                <a:latin typeface="Calibri" pitchFamily="34" charset="0"/>
                <a:ea typeface="Calibri" pitchFamily="34" charset="-122"/>
                <a:cs typeface="Calibri" pitchFamily="34" charset="-120"/>
              </a:rPr>
              <a:t>VDI 4645 faktisch verbindlich, technisch oft übertrieben</a:t>
            </a:r>
            <a:endParaRPr lang="en-US" sz="950" dirty="0"/>
          </a:p>
        </p:txBody>
      </p:sp>
      <p:sp>
        <p:nvSpPr>
          <p:cNvPr id="17" name="Shape 13"/>
          <p:cNvSpPr/>
          <p:nvPr/>
        </p:nvSpPr>
        <p:spPr>
          <a:xfrm>
            <a:off x="594360" y="3191256"/>
            <a:ext cx="384048" cy="384048"/>
          </a:xfrm>
          <a:prstGeom prst="ellipse">
            <a:avLst/>
          </a:prstGeom>
          <a:solidFill>
            <a:srgbClr val="EFEBE1"/>
          </a:solidFill>
          <a:ln w="12700">
            <a:solidFill>
              <a:srgbClr val="EFEBE1"/>
            </a:solidFill>
            <a:prstDash val="solid"/>
          </a:ln>
        </p:spPr>
      </p:sp>
      <p:pic>
        <p:nvPicPr>
          <p:cNvPr id="18" name="Image 2" descr="preencoded.png">    </p:cNvPr>
          <p:cNvPicPr>
            <a:picLocks noChangeAspect="1"/>
          </p:cNvPicPr>
          <p:nvPr/>
        </p:nvPicPr>
        <p:blipFill>
          <a:blip r:embed="rId3"/>
          <a:stretch>
            <a:fillRect/>
          </a:stretch>
        </p:blipFill>
        <p:spPr>
          <a:xfrm>
            <a:off x="676656" y="3273552"/>
            <a:ext cx="219456" cy="219456"/>
          </a:xfrm>
          <a:prstGeom prst="rect">
            <a:avLst/>
          </a:prstGeom>
        </p:spPr>
      </p:pic>
      <p:sp>
        <p:nvSpPr>
          <p:cNvPr id="19" name="Text 14"/>
          <p:cNvSpPr txBox="1"/>
          <p:nvPr/>
        </p:nvSpPr>
        <p:spPr>
          <a:xfrm>
            <a:off x="1097280" y="3145536"/>
            <a:ext cx="1920240" cy="256032"/>
          </a:xfrm>
          <a:prstGeom prst="rect">
            <a:avLst/>
          </a:prstGeom>
          <a:noFill/>
          <a:ln/>
        </p:spPr>
        <p:txBody>
          <a:bodyPr wrap="square" lIns="0" tIns="0" rIns="0" bIns="0" rtlCol="0" anchor="ctr"/>
          <a:lstStyle/>
          <a:p>
            <a:pPr indent="0" marL="0">
              <a:buNone/>
            </a:pPr>
            <a:r>
              <a:rPr lang="en-US" sz="1150" b="1" dirty="0">
                <a:solidFill>
                  <a:srgbClr val="1A1A17"/>
                </a:solidFill>
                <a:latin typeface="Calibri" pitchFamily="34" charset="0"/>
                <a:ea typeface="Calibri" pitchFamily="34" charset="-122"/>
                <a:cs typeface="Calibri" pitchFamily="34" charset="-120"/>
              </a:rPr>
              <a:t>Elektroanschluss / § 14a</a:t>
            </a:r>
            <a:endParaRPr lang="en-US" sz="1150" dirty="0"/>
          </a:p>
        </p:txBody>
      </p:sp>
      <p:sp>
        <p:nvSpPr>
          <p:cNvPr id="20" name="Text 15"/>
          <p:cNvSpPr txBox="1"/>
          <p:nvPr/>
        </p:nvSpPr>
        <p:spPr>
          <a:xfrm>
            <a:off x="3017520" y="3145536"/>
            <a:ext cx="1188720" cy="256032"/>
          </a:xfrm>
          <a:prstGeom prst="rect">
            <a:avLst/>
          </a:prstGeom>
          <a:noFill/>
          <a:ln/>
        </p:spPr>
        <p:txBody>
          <a:bodyPr wrap="square" lIns="0" tIns="0" rIns="0" bIns="0" rtlCol="0" anchor="ctr"/>
          <a:lstStyle/>
          <a:p>
            <a:pPr algn="r" indent="0" marL="0">
              <a:buNone/>
            </a:pPr>
            <a:r>
              <a:rPr lang="en-US" sz="1150" b="1" dirty="0">
                <a:solidFill>
                  <a:srgbClr val="1A1A17"/>
                </a:solidFill>
                <a:latin typeface="Calibri" pitchFamily="34" charset="0"/>
                <a:ea typeface="Calibri" pitchFamily="34" charset="-122"/>
                <a:cs typeface="Calibri" pitchFamily="34" charset="-120"/>
              </a:rPr>
              <a:t>+1'500–2'500 €</a:t>
            </a:r>
            <a:endParaRPr lang="en-US" sz="1150" dirty="0"/>
          </a:p>
        </p:txBody>
      </p:sp>
      <p:sp>
        <p:nvSpPr>
          <p:cNvPr id="21" name="Text 16"/>
          <p:cNvSpPr txBox="1"/>
          <p:nvPr/>
        </p:nvSpPr>
        <p:spPr>
          <a:xfrm>
            <a:off x="1097280" y="3392424"/>
            <a:ext cx="4572000" cy="256032"/>
          </a:xfrm>
          <a:prstGeom prst="rect">
            <a:avLst/>
          </a:prstGeom>
          <a:noFill/>
          <a:ln/>
        </p:spPr>
        <p:txBody>
          <a:bodyPr wrap="square" lIns="0" tIns="0" rIns="0" bIns="0" rtlCol="0" anchor="t"/>
          <a:lstStyle/>
          <a:p>
            <a:pPr indent="0" marL="0">
              <a:buNone/>
            </a:pPr>
            <a:r>
              <a:rPr lang="en-US" sz="950" dirty="0">
                <a:solidFill>
                  <a:srgbClr val="56534B"/>
                </a:solidFill>
                <a:latin typeface="Calibri" pitchFamily="34" charset="0"/>
                <a:ea typeface="Calibri" pitchFamily="34" charset="-122"/>
                <a:cs typeface="Calibri" pitchFamily="34" charset="-120"/>
              </a:rPr>
              <a:t>400 V wegen überdimensionierter Heizstäbe; DSR-Hardwarepflicht</a:t>
            </a:r>
            <a:endParaRPr lang="en-US" sz="950" dirty="0"/>
          </a:p>
        </p:txBody>
      </p:sp>
      <p:sp>
        <p:nvSpPr>
          <p:cNvPr id="22" name="Shape 17"/>
          <p:cNvSpPr/>
          <p:nvPr/>
        </p:nvSpPr>
        <p:spPr>
          <a:xfrm>
            <a:off x="594360" y="3758184"/>
            <a:ext cx="384048" cy="384048"/>
          </a:xfrm>
          <a:prstGeom prst="ellipse">
            <a:avLst/>
          </a:prstGeom>
          <a:solidFill>
            <a:srgbClr val="EFEBE1"/>
          </a:solidFill>
          <a:ln w="12700">
            <a:solidFill>
              <a:srgbClr val="EFEBE1"/>
            </a:solidFill>
            <a:prstDash val="solid"/>
          </a:ln>
        </p:spPr>
      </p:sp>
      <p:pic>
        <p:nvPicPr>
          <p:cNvPr id="23" name="Image 3" descr="preencoded.png">    </p:cNvPr>
          <p:cNvPicPr>
            <a:picLocks noChangeAspect="1"/>
          </p:cNvPicPr>
          <p:nvPr/>
        </p:nvPicPr>
        <p:blipFill>
          <a:blip r:embed="rId4"/>
          <a:stretch>
            <a:fillRect/>
          </a:stretch>
        </p:blipFill>
        <p:spPr>
          <a:xfrm>
            <a:off x="676656" y="3840480"/>
            <a:ext cx="219456" cy="219456"/>
          </a:xfrm>
          <a:prstGeom prst="rect">
            <a:avLst/>
          </a:prstGeom>
        </p:spPr>
      </p:pic>
      <p:sp>
        <p:nvSpPr>
          <p:cNvPr id="24" name="Text 18"/>
          <p:cNvSpPr txBox="1"/>
          <p:nvPr/>
        </p:nvSpPr>
        <p:spPr>
          <a:xfrm>
            <a:off x="1097280" y="3712464"/>
            <a:ext cx="1920240" cy="256032"/>
          </a:xfrm>
          <a:prstGeom prst="rect">
            <a:avLst/>
          </a:prstGeom>
          <a:noFill/>
          <a:ln/>
        </p:spPr>
        <p:txBody>
          <a:bodyPr wrap="square" lIns="0" tIns="0" rIns="0" bIns="0" rtlCol="0" anchor="ctr"/>
          <a:lstStyle/>
          <a:p>
            <a:pPr indent="0" marL="0">
              <a:buNone/>
            </a:pPr>
            <a:r>
              <a:rPr lang="en-US" sz="1150" b="1" dirty="0">
                <a:solidFill>
                  <a:srgbClr val="1A1A17"/>
                </a:solidFill>
                <a:latin typeface="Calibri" pitchFamily="34" charset="0"/>
                <a:ea typeface="Calibri" pitchFamily="34" charset="-122"/>
                <a:cs typeface="Calibri" pitchFamily="34" charset="-120"/>
              </a:rPr>
              <a:t>Lohn &amp; Arbeitszeit</a:t>
            </a:r>
            <a:endParaRPr lang="en-US" sz="1150" dirty="0"/>
          </a:p>
        </p:txBody>
      </p:sp>
      <p:sp>
        <p:nvSpPr>
          <p:cNvPr id="25" name="Text 19"/>
          <p:cNvSpPr txBox="1"/>
          <p:nvPr/>
        </p:nvSpPr>
        <p:spPr>
          <a:xfrm>
            <a:off x="3017520" y="3712464"/>
            <a:ext cx="1188720" cy="256032"/>
          </a:xfrm>
          <a:prstGeom prst="rect">
            <a:avLst/>
          </a:prstGeom>
          <a:noFill/>
          <a:ln/>
        </p:spPr>
        <p:txBody>
          <a:bodyPr wrap="square" lIns="0" tIns="0" rIns="0" bIns="0" rtlCol="0" anchor="ctr"/>
          <a:lstStyle/>
          <a:p>
            <a:pPr algn="r" indent="0" marL="0">
              <a:buNone/>
            </a:pPr>
            <a:r>
              <a:rPr lang="en-US" sz="1150" b="1" dirty="0">
                <a:solidFill>
                  <a:srgbClr val="1A1A17"/>
                </a:solidFill>
                <a:latin typeface="Calibri" pitchFamily="34" charset="0"/>
                <a:ea typeface="Calibri" pitchFamily="34" charset="-122"/>
                <a:cs typeface="Calibri" pitchFamily="34" charset="-120"/>
              </a:rPr>
              <a:t>+1'000–2'000 €</a:t>
            </a:r>
            <a:endParaRPr lang="en-US" sz="1150" dirty="0"/>
          </a:p>
        </p:txBody>
      </p:sp>
      <p:sp>
        <p:nvSpPr>
          <p:cNvPr id="26" name="Text 20"/>
          <p:cNvSpPr txBox="1"/>
          <p:nvPr/>
        </p:nvSpPr>
        <p:spPr>
          <a:xfrm>
            <a:off x="1097280" y="3959352"/>
            <a:ext cx="4572000" cy="256032"/>
          </a:xfrm>
          <a:prstGeom prst="rect">
            <a:avLst/>
          </a:prstGeom>
          <a:noFill/>
          <a:ln/>
        </p:spPr>
        <p:txBody>
          <a:bodyPr wrap="square" lIns="0" tIns="0" rIns="0" bIns="0" rtlCol="0" anchor="t"/>
          <a:lstStyle/>
          <a:p>
            <a:pPr indent="0" marL="0">
              <a:buNone/>
            </a:pPr>
            <a:r>
              <a:rPr lang="en-US" sz="950" dirty="0">
                <a:solidFill>
                  <a:srgbClr val="56534B"/>
                </a:solidFill>
                <a:latin typeface="Calibri" pitchFamily="34" charset="0"/>
                <a:ea typeface="Calibri" pitchFamily="34" charset="-122"/>
                <a:cs typeface="Calibri" pitchFamily="34" charset="-120"/>
              </a:rPr>
              <a:t>110 Monteurstunden (DE) gegen ~40 (UK): Bürokratie-Overhead</a:t>
            </a:r>
            <a:endParaRPr lang="en-US" sz="950" dirty="0"/>
          </a:p>
        </p:txBody>
      </p:sp>
      <p:sp>
        <p:nvSpPr>
          <p:cNvPr id="27" name="Shape 21"/>
          <p:cNvSpPr/>
          <p:nvPr/>
        </p:nvSpPr>
        <p:spPr>
          <a:xfrm>
            <a:off x="457200" y="4233672"/>
            <a:ext cx="5303520" cy="548640"/>
          </a:xfrm>
          <a:prstGeom prst="roundRect">
            <a:avLst>
              <a:gd name="adj" fmla="val 10000"/>
            </a:avLst>
          </a:prstGeom>
          <a:solidFill>
            <a:srgbClr val="F5E4E0"/>
          </a:solidFill>
          <a:ln w="12700">
            <a:solidFill>
              <a:srgbClr val="7A2E2E"/>
            </a:solidFill>
            <a:prstDash val="solid"/>
          </a:ln>
        </p:spPr>
      </p:sp>
      <p:sp>
        <p:nvSpPr>
          <p:cNvPr id="28" name="Shape 22"/>
          <p:cNvSpPr/>
          <p:nvPr/>
        </p:nvSpPr>
        <p:spPr>
          <a:xfrm>
            <a:off x="594360" y="4325112"/>
            <a:ext cx="384048" cy="384048"/>
          </a:xfrm>
          <a:prstGeom prst="ellipse">
            <a:avLst/>
          </a:prstGeom>
          <a:solidFill>
            <a:srgbClr val="7A2E2E"/>
          </a:solidFill>
          <a:ln w="12700">
            <a:solidFill>
              <a:srgbClr val="7A2E2E"/>
            </a:solidFill>
            <a:prstDash val="solid"/>
          </a:ln>
        </p:spPr>
      </p:sp>
      <p:pic>
        <p:nvPicPr>
          <p:cNvPr id="29" name="Image 4" descr="preencoded.png">    </p:cNvPr>
          <p:cNvPicPr>
            <a:picLocks noChangeAspect="1"/>
          </p:cNvPicPr>
          <p:nvPr/>
        </p:nvPicPr>
        <p:blipFill>
          <a:blip r:embed="rId5"/>
          <a:stretch>
            <a:fillRect/>
          </a:stretch>
        </p:blipFill>
        <p:spPr>
          <a:xfrm>
            <a:off x="676656" y="4407408"/>
            <a:ext cx="219456" cy="219456"/>
          </a:xfrm>
          <a:prstGeom prst="rect">
            <a:avLst/>
          </a:prstGeom>
        </p:spPr>
      </p:pic>
      <p:sp>
        <p:nvSpPr>
          <p:cNvPr id="30" name="Text 23"/>
          <p:cNvSpPr txBox="1"/>
          <p:nvPr/>
        </p:nvSpPr>
        <p:spPr>
          <a:xfrm>
            <a:off x="1097280" y="4279392"/>
            <a:ext cx="1920240" cy="256032"/>
          </a:xfrm>
          <a:prstGeom prst="rect">
            <a:avLst/>
          </a:prstGeom>
          <a:noFill/>
          <a:ln/>
        </p:spPr>
        <p:txBody>
          <a:bodyPr wrap="square" lIns="0" tIns="0" rIns="0" bIns="0" rtlCol="0" anchor="ctr"/>
          <a:lstStyle/>
          <a:p>
            <a:pPr indent="0" marL="0">
              <a:buNone/>
            </a:pPr>
            <a:r>
              <a:rPr lang="en-US" sz="1150" b="1" dirty="0">
                <a:solidFill>
                  <a:srgbClr val="7A2E2E"/>
                </a:solidFill>
                <a:latin typeface="Calibri" pitchFamily="34" charset="0"/>
                <a:ea typeface="Calibri" pitchFamily="34" charset="-122"/>
                <a:cs typeface="Calibri" pitchFamily="34" charset="-120"/>
              </a:rPr>
              <a:t>Prozentuale Förderung</a:t>
            </a:r>
            <a:endParaRPr lang="en-US" sz="1150" dirty="0"/>
          </a:p>
        </p:txBody>
      </p:sp>
      <p:sp>
        <p:nvSpPr>
          <p:cNvPr id="31" name="Text 24"/>
          <p:cNvSpPr txBox="1"/>
          <p:nvPr/>
        </p:nvSpPr>
        <p:spPr>
          <a:xfrm>
            <a:off x="3017520" y="4279392"/>
            <a:ext cx="1188720" cy="256032"/>
          </a:xfrm>
          <a:prstGeom prst="rect">
            <a:avLst/>
          </a:prstGeom>
          <a:noFill/>
          <a:ln/>
        </p:spPr>
        <p:txBody>
          <a:bodyPr wrap="square" lIns="0" tIns="0" rIns="0" bIns="0" rtlCol="0" anchor="ctr"/>
          <a:lstStyle/>
          <a:p>
            <a:pPr algn="r" indent="0" marL="0">
              <a:buNone/>
            </a:pPr>
            <a:r>
              <a:rPr lang="en-US" sz="1150" b="1" dirty="0">
                <a:solidFill>
                  <a:srgbClr val="7A2E2E"/>
                </a:solidFill>
                <a:latin typeface="Calibri" pitchFamily="34" charset="0"/>
                <a:ea typeface="Calibri" pitchFamily="34" charset="-122"/>
                <a:cs typeface="Calibri" pitchFamily="34" charset="-120"/>
              </a:rPr>
              <a:t>× alle obigen</a:t>
            </a:r>
            <a:endParaRPr lang="en-US" sz="1150" dirty="0"/>
          </a:p>
        </p:txBody>
      </p:sp>
      <p:sp>
        <p:nvSpPr>
          <p:cNvPr id="32" name="Text 25"/>
          <p:cNvSpPr txBox="1"/>
          <p:nvPr/>
        </p:nvSpPr>
        <p:spPr>
          <a:xfrm>
            <a:off x="1097280" y="4526280"/>
            <a:ext cx="4572000" cy="256032"/>
          </a:xfrm>
          <a:prstGeom prst="rect">
            <a:avLst/>
          </a:prstGeom>
          <a:noFill/>
          <a:ln/>
        </p:spPr>
        <p:txBody>
          <a:bodyPr wrap="square" lIns="0" tIns="0" rIns="0" bIns="0" rtlCol="0" anchor="t"/>
          <a:lstStyle/>
          <a:p>
            <a:pPr indent="0" marL="0">
              <a:buNone/>
            </a:pPr>
            <a:r>
              <a:rPr lang="en-US" sz="950" dirty="0">
                <a:solidFill>
                  <a:srgbClr val="56534B"/>
                </a:solidFill>
                <a:latin typeface="Calibri" pitchFamily="34" charset="0"/>
                <a:ea typeface="Calibri" pitchFamily="34" charset="-122"/>
                <a:cs typeface="Calibri" pitchFamily="34" charset="-120"/>
              </a:rPr>
              <a:t>Moral Hazard: der Endkunde vergleicht nicht, der Betrieb rechnet an die Förderobergrenze</a:t>
            </a:r>
            <a:endParaRPr lang="en-US" sz="950" dirty="0"/>
          </a:p>
        </p:txBody>
      </p:sp>
      <p:sp>
        <p:nvSpPr>
          <p:cNvPr id="33" name="Shape 26"/>
          <p:cNvSpPr/>
          <p:nvPr/>
        </p:nvSpPr>
        <p:spPr>
          <a:xfrm>
            <a:off x="594360" y="4892040"/>
            <a:ext cx="384048" cy="384048"/>
          </a:xfrm>
          <a:prstGeom prst="ellipse">
            <a:avLst/>
          </a:prstGeom>
          <a:solidFill>
            <a:srgbClr val="EFEBE1"/>
          </a:solidFill>
          <a:ln w="12700">
            <a:solidFill>
              <a:srgbClr val="EFEBE1"/>
            </a:solidFill>
            <a:prstDash val="solid"/>
          </a:ln>
        </p:spPr>
      </p:sp>
      <p:pic>
        <p:nvPicPr>
          <p:cNvPr id="34" name="Image 5" descr="preencoded.png">    </p:cNvPr>
          <p:cNvPicPr>
            <a:picLocks noChangeAspect="1"/>
          </p:cNvPicPr>
          <p:nvPr/>
        </p:nvPicPr>
        <p:blipFill>
          <a:blip r:embed="rId6"/>
          <a:stretch>
            <a:fillRect/>
          </a:stretch>
        </p:blipFill>
        <p:spPr>
          <a:xfrm>
            <a:off x="676656" y="4974336"/>
            <a:ext cx="219456" cy="219456"/>
          </a:xfrm>
          <a:prstGeom prst="rect">
            <a:avLst/>
          </a:prstGeom>
        </p:spPr>
      </p:pic>
      <p:sp>
        <p:nvSpPr>
          <p:cNvPr id="35" name="Text 27"/>
          <p:cNvSpPr txBox="1"/>
          <p:nvPr/>
        </p:nvSpPr>
        <p:spPr>
          <a:xfrm>
            <a:off x="1097280" y="4846320"/>
            <a:ext cx="1920240" cy="256032"/>
          </a:xfrm>
          <a:prstGeom prst="rect">
            <a:avLst/>
          </a:prstGeom>
          <a:noFill/>
          <a:ln/>
        </p:spPr>
        <p:txBody>
          <a:bodyPr wrap="square" lIns="0" tIns="0" rIns="0" bIns="0" rtlCol="0" anchor="ctr"/>
          <a:lstStyle/>
          <a:p>
            <a:pPr indent="0" marL="0">
              <a:buNone/>
            </a:pPr>
            <a:r>
              <a:rPr lang="en-US" sz="1150" b="1" dirty="0">
                <a:solidFill>
                  <a:srgbClr val="1A1A17"/>
                </a:solidFill>
                <a:latin typeface="Calibri" pitchFamily="34" charset="0"/>
                <a:ea typeface="Calibri" pitchFamily="34" charset="-122"/>
                <a:cs typeface="Calibri" pitchFamily="34" charset="-120"/>
              </a:rPr>
              <a:t>Mehrwertsteuer</a:t>
            </a:r>
            <a:endParaRPr lang="en-US" sz="1150" dirty="0"/>
          </a:p>
        </p:txBody>
      </p:sp>
      <p:sp>
        <p:nvSpPr>
          <p:cNvPr id="36" name="Text 28"/>
          <p:cNvSpPr txBox="1"/>
          <p:nvPr/>
        </p:nvSpPr>
        <p:spPr>
          <a:xfrm>
            <a:off x="3017520" y="4846320"/>
            <a:ext cx="1188720" cy="256032"/>
          </a:xfrm>
          <a:prstGeom prst="rect">
            <a:avLst/>
          </a:prstGeom>
          <a:noFill/>
          <a:ln/>
        </p:spPr>
        <p:txBody>
          <a:bodyPr wrap="square" lIns="0" tIns="0" rIns="0" bIns="0" rtlCol="0" anchor="ctr"/>
          <a:lstStyle/>
          <a:p>
            <a:pPr algn="r" indent="0" marL="0">
              <a:buNone/>
            </a:pPr>
            <a:r>
              <a:rPr lang="en-US" sz="1150" b="1" dirty="0">
                <a:solidFill>
                  <a:srgbClr val="1A1A17"/>
                </a:solidFill>
                <a:latin typeface="Calibri" pitchFamily="34" charset="0"/>
                <a:ea typeface="Calibri" pitchFamily="34" charset="-122"/>
                <a:cs typeface="Calibri" pitchFamily="34" charset="-120"/>
              </a:rPr>
              <a:t>+5'700 €</a:t>
            </a:r>
            <a:endParaRPr lang="en-US" sz="1150" dirty="0"/>
          </a:p>
        </p:txBody>
      </p:sp>
      <p:sp>
        <p:nvSpPr>
          <p:cNvPr id="37" name="Text 29"/>
          <p:cNvSpPr txBox="1"/>
          <p:nvPr/>
        </p:nvSpPr>
        <p:spPr>
          <a:xfrm>
            <a:off x="1097280" y="5093208"/>
            <a:ext cx="4572000" cy="256032"/>
          </a:xfrm>
          <a:prstGeom prst="rect">
            <a:avLst/>
          </a:prstGeom>
          <a:noFill/>
          <a:ln/>
        </p:spPr>
        <p:txBody>
          <a:bodyPr wrap="square" lIns="0" tIns="0" rIns="0" bIns="0" rtlCol="0" anchor="t"/>
          <a:lstStyle/>
          <a:p>
            <a:pPr indent="0" marL="0">
              <a:buNone/>
            </a:pPr>
            <a:r>
              <a:rPr lang="en-US" sz="950" dirty="0">
                <a:solidFill>
                  <a:srgbClr val="56534B"/>
                </a:solidFill>
                <a:latin typeface="Calibri" pitchFamily="34" charset="0"/>
                <a:ea typeface="Calibri" pitchFamily="34" charset="-122"/>
                <a:cs typeface="Calibri" pitchFamily="34" charset="-120"/>
              </a:rPr>
              <a:t>gegenüber UK (0 %); gering gegenüber FR, NL, AT</a:t>
            </a:r>
            <a:endParaRPr lang="en-US" sz="950" dirty="0"/>
          </a:p>
        </p:txBody>
      </p:sp>
      <p:sp>
        <p:nvSpPr>
          <p:cNvPr id="38" name="Text 30"/>
          <p:cNvSpPr txBox="1"/>
          <p:nvPr/>
        </p:nvSpPr>
        <p:spPr>
          <a:xfrm>
            <a:off x="548640" y="5468112"/>
            <a:ext cx="5212080" cy="274320"/>
          </a:xfrm>
          <a:prstGeom prst="rect">
            <a:avLst/>
          </a:prstGeom>
          <a:noFill/>
          <a:ln/>
        </p:spPr>
        <p:txBody>
          <a:bodyPr wrap="square" lIns="0" tIns="0" rIns="0" bIns="0" rtlCol="0" anchor="ctr"/>
          <a:lstStyle/>
          <a:p>
            <a:pPr indent="0" marL="0">
              <a:buNone/>
            </a:pPr>
            <a:r>
              <a:rPr lang="en-US" sz="950" dirty="0">
                <a:solidFill>
                  <a:srgbClr val="56534B"/>
                </a:solidFill>
                <a:latin typeface="Calibri" pitchFamily="34" charset="0"/>
                <a:ea typeface="Calibri" pitchFamily="34" charset="-122"/>
                <a:cs typeface="Calibri" pitchFamily="34" charset="-120"/>
              </a:rPr>
              <a:t>~70 % der Differenz quantifizierbar, ~30 % aus sich verstärkenden Faktoren.</a:t>
            </a:r>
            <a:endParaRPr lang="en-US" sz="950" dirty="0"/>
          </a:p>
        </p:txBody>
      </p:sp>
      <p:sp>
        <p:nvSpPr>
          <p:cNvPr id="39" name="Shape 31"/>
          <p:cNvSpPr/>
          <p:nvPr/>
        </p:nvSpPr>
        <p:spPr>
          <a:xfrm>
            <a:off x="6172200" y="1920240"/>
            <a:ext cx="5486400" cy="1417320"/>
          </a:xfrm>
          <a:prstGeom prst="roundRect">
            <a:avLst>
              <a:gd name="adj" fmla="val 3871"/>
            </a:avLst>
          </a:prstGeom>
          <a:solidFill>
            <a:srgbClr val="F4EBD3"/>
          </a:solidFill>
          <a:ln w="12700">
            <a:solidFill>
              <a:srgbClr val="F4EBD3"/>
            </a:solidFill>
            <a:prstDash val="solid"/>
          </a:ln>
        </p:spPr>
      </p:sp>
      <p:sp>
        <p:nvSpPr>
          <p:cNvPr id="40" name="Shape 32"/>
          <p:cNvSpPr/>
          <p:nvPr/>
        </p:nvSpPr>
        <p:spPr>
          <a:xfrm>
            <a:off x="6108192" y="1920240"/>
            <a:ext cx="54864" cy="1417320"/>
          </a:xfrm>
          <a:prstGeom prst="rect">
            <a:avLst/>
          </a:prstGeom>
          <a:solidFill>
            <a:srgbClr val="9A5B12"/>
          </a:solidFill>
          <a:ln w="12700">
            <a:solidFill>
              <a:srgbClr val="9A5B12"/>
            </a:solidFill>
            <a:prstDash val="solid"/>
          </a:ln>
        </p:spPr>
      </p:sp>
      <p:sp>
        <p:nvSpPr>
          <p:cNvPr id="41" name="Text 33"/>
          <p:cNvSpPr txBox="1"/>
          <p:nvPr/>
        </p:nvSpPr>
        <p:spPr>
          <a:xfrm rot="16200000">
            <a:off x="4526280" y="2487168"/>
            <a:ext cx="2926080" cy="274320"/>
          </a:xfrm>
          <a:prstGeom prst="rect">
            <a:avLst/>
          </a:prstGeom>
          <a:noFill/>
          <a:ln/>
        </p:spPr>
        <p:txBody>
          <a:bodyPr wrap="square" lIns="0" tIns="0" rIns="0" bIns="0" rtlCol="0" anchor="ctr"/>
          <a:lstStyle/>
          <a:p>
            <a:pPr algn="ctr" indent="0" marL="0">
              <a:buNone/>
            </a:pPr>
            <a:r>
              <a:rPr lang="en-US" sz="800" b="1" dirty="0">
                <a:solidFill>
                  <a:srgbClr val="9A5B12"/>
                </a:solidFill>
                <a:latin typeface="Calibri" pitchFamily="34" charset="0"/>
                <a:ea typeface="Calibri" pitchFamily="34" charset="-122"/>
                <a:cs typeface="Calibri" pitchFamily="34" charset="-120"/>
              </a:rPr>
              <a:t>gleichzeitig drehen: Förderdesign · Haftung · Normenwesen</a:t>
            </a:r>
            <a:endParaRPr lang="en-US" sz="800" dirty="0"/>
          </a:p>
        </p:txBody>
      </p:sp>
      <p:sp>
        <p:nvSpPr>
          <p:cNvPr id="42" name="Text 34"/>
          <p:cNvSpPr txBox="1"/>
          <p:nvPr/>
        </p:nvSpPr>
        <p:spPr>
          <a:xfrm>
            <a:off x="6309360" y="1645920"/>
            <a:ext cx="5303520" cy="274320"/>
          </a:xfrm>
          <a:prstGeom prst="rect">
            <a:avLst/>
          </a:prstGeom>
          <a:noFill/>
          <a:ln/>
        </p:spPr>
        <p:txBody>
          <a:bodyPr wrap="square" lIns="0" tIns="0" rIns="0" bIns="0" rtlCol="0" anchor="ctr"/>
          <a:lstStyle/>
          <a:p>
            <a:pPr indent="0" marL="0">
              <a:buNone/>
            </a:pPr>
            <a:r>
              <a:rPr lang="en-US" sz="1200" b="1" dirty="0">
                <a:solidFill>
                  <a:srgbClr val="1A1A17"/>
                </a:solidFill>
                <a:latin typeface="Calibri" pitchFamily="34" charset="0"/>
                <a:ea typeface="Calibri" pitchFamily="34" charset="-122"/>
                <a:cs typeface="Calibri" pitchFamily="34" charset="-120"/>
              </a:rPr>
              <a:t>Fünf Reformhebel</a:t>
            </a:r>
            <a:endParaRPr lang="en-US" sz="1200" dirty="0"/>
          </a:p>
        </p:txBody>
      </p:sp>
      <p:sp>
        <p:nvSpPr>
          <p:cNvPr id="43" name="Text 35"/>
          <p:cNvSpPr txBox="1"/>
          <p:nvPr/>
        </p:nvSpPr>
        <p:spPr>
          <a:xfrm>
            <a:off x="6309360" y="2011680"/>
            <a:ext cx="274320" cy="274320"/>
          </a:xfrm>
          <a:prstGeom prst="rect">
            <a:avLst/>
          </a:prstGeom>
          <a:noFill/>
          <a:ln/>
        </p:spPr>
        <p:txBody>
          <a:bodyPr wrap="square" lIns="0" tIns="0" rIns="0" bIns="0" rtlCol="0" anchor="t"/>
          <a:lstStyle/>
          <a:p>
            <a:pPr indent="0" marL="0">
              <a:buNone/>
            </a:pPr>
            <a:r>
              <a:rPr lang="en-US" sz="1600" b="1" dirty="0">
                <a:solidFill>
                  <a:srgbClr val="0F5257"/>
                </a:solidFill>
                <a:latin typeface="Cambria" pitchFamily="34" charset="0"/>
                <a:ea typeface="Cambria" pitchFamily="34" charset="-122"/>
                <a:cs typeface="Cambria" pitchFamily="34" charset="-120"/>
              </a:rPr>
              <a:t>1</a:t>
            </a:r>
            <a:endParaRPr lang="en-US" sz="1600" dirty="0"/>
          </a:p>
        </p:txBody>
      </p:sp>
      <p:sp>
        <p:nvSpPr>
          <p:cNvPr id="44" name="Text 36"/>
          <p:cNvSpPr txBox="1"/>
          <p:nvPr/>
        </p:nvSpPr>
        <p:spPr>
          <a:xfrm>
            <a:off x="6629400" y="2011680"/>
            <a:ext cx="4572000" cy="274320"/>
          </a:xfrm>
          <a:prstGeom prst="rect">
            <a:avLst/>
          </a:prstGeom>
          <a:noFill/>
          <a:ln/>
        </p:spPr>
        <p:txBody>
          <a:bodyPr wrap="square" lIns="0" tIns="0" rIns="0" bIns="0" rtlCol="0" anchor="t"/>
          <a:lstStyle/>
          <a:p>
            <a:pPr indent="0" marL="0">
              <a:buNone/>
            </a:pPr>
            <a:r>
              <a:rPr lang="en-US" sz="1100" b="1" dirty="0">
                <a:solidFill>
                  <a:srgbClr val="1A1A17"/>
                </a:solidFill>
                <a:latin typeface="Calibri" pitchFamily="34" charset="0"/>
                <a:ea typeface="Calibri" pitchFamily="34" charset="-122"/>
                <a:cs typeface="Calibri" pitchFamily="34" charset="-120"/>
              </a:rPr>
              <a:t>BEG: Prozentuale Förderung auf Festbeträge umstellen  </a:t>
            </a:r>
            <a:pPr indent="0" marL="0">
              <a:buNone/>
            </a:pPr>
            <a:r>
              <a:rPr lang="en-US" sz="900" dirty="0">
                <a:solidFill>
                  <a:srgbClr val="9A5B12"/>
                </a:solidFill>
                <a:latin typeface="Calibri" pitchFamily="34" charset="0"/>
                <a:ea typeface="Calibri" pitchFamily="34" charset="-122"/>
                <a:cs typeface="Calibri" pitchFamily="34" charset="-120"/>
              </a:rPr>
              <a:t>★★★</a:t>
            </a:r>
            <a:endParaRPr lang="en-US" sz="1100" dirty="0"/>
          </a:p>
        </p:txBody>
      </p:sp>
      <p:sp>
        <p:nvSpPr>
          <p:cNvPr id="45" name="Text 37"/>
          <p:cNvSpPr txBox="1"/>
          <p:nvPr/>
        </p:nvSpPr>
        <p:spPr>
          <a:xfrm>
            <a:off x="6629400" y="2286000"/>
            <a:ext cx="4572000" cy="402336"/>
          </a:xfrm>
          <a:prstGeom prst="rect">
            <a:avLst/>
          </a:prstGeom>
          <a:noFill/>
          <a:ln/>
        </p:spPr>
        <p:txBody>
          <a:bodyPr wrap="square" lIns="0" tIns="0" rIns="0" bIns="0" rtlCol="0" anchor="t"/>
          <a:lstStyle/>
          <a:p>
            <a:pPr indent="0" marL="0">
              <a:buNone/>
            </a:pPr>
            <a:r>
              <a:rPr lang="en-US" sz="950" dirty="0">
                <a:solidFill>
                  <a:srgbClr val="56534B"/>
                </a:solidFill>
                <a:latin typeface="Calibri" pitchFamily="34" charset="0"/>
                <a:ea typeface="Calibri" pitchFamily="34" charset="-122"/>
                <a:cs typeface="Calibri" pitchFamily="34" charset="-120"/>
              </a:rPr>
              <a:t>8'000–10'000 €, einkommensgestaffelt (FR); Vorbild UK Boiler Upgrade Scheme · Gesetz, kurzfristig</a:t>
            </a:r>
            <a:endParaRPr lang="en-US" sz="950" dirty="0"/>
          </a:p>
        </p:txBody>
      </p:sp>
      <p:sp>
        <p:nvSpPr>
          <p:cNvPr id="46" name="Text 38"/>
          <p:cNvSpPr txBox="1"/>
          <p:nvPr/>
        </p:nvSpPr>
        <p:spPr>
          <a:xfrm>
            <a:off x="6309360" y="2706624"/>
            <a:ext cx="274320" cy="274320"/>
          </a:xfrm>
          <a:prstGeom prst="rect">
            <a:avLst/>
          </a:prstGeom>
          <a:noFill/>
          <a:ln/>
        </p:spPr>
        <p:txBody>
          <a:bodyPr wrap="square" lIns="0" tIns="0" rIns="0" bIns="0" rtlCol="0" anchor="t"/>
          <a:lstStyle/>
          <a:p>
            <a:pPr indent="0" marL="0">
              <a:buNone/>
            </a:pPr>
            <a:r>
              <a:rPr lang="en-US" sz="1600" b="1" dirty="0">
                <a:solidFill>
                  <a:srgbClr val="0F5257"/>
                </a:solidFill>
                <a:latin typeface="Cambria" pitchFamily="34" charset="0"/>
                <a:ea typeface="Cambria" pitchFamily="34" charset="-122"/>
                <a:cs typeface="Cambria" pitchFamily="34" charset="-120"/>
              </a:rPr>
              <a:t>2</a:t>
            </a:r>
            <a:endParaRPr lang="en-US" sz="1600" dirty="0"/>
          </a:p>
        </p:txBody>
      </p:sp>
      <p:sp>
        <p:nvSpPr>
          <p:cNvPr id="47" name="Text 39"/>
          <p:cNvSpPr txBox="1"/>
          <p:nvPr/>
        </p:nvSpPr>
        <p:spPr>
          <a:xfrm>
            <a:off x="6629400" y="2706624"/>
            <a:ext cx="4572000" cy="274320"/>
          </a:xfrm>
          <a:prstGeom prst="rect">
            <a:avLst/>
          </a:prstGeom>
          <a:noFill/>
          <a:ln/>
        </p:spPr>
        <p:txBody>
          <a:bodyPr wrap="square" lIns="0" tIns="0" rIns="0" bIns="0" rtlCol="0" anchor="t"/>
          <a:lstStyle/>
          <a:p>
            <a:pPr indent="0" marL="0">
              <a:buNone/>
            </a:pPr>
            <a:r>
              <a:rPr lang="en-US" sz="1100" b="1" dirty="0">
                <a:solidFill>
                  <a:srgbClr val="1A1A17"/>
                </a:solidFill>
                <a:latin typeface="Calibri" pitchFamily="34" charset="0"/>
                <a:ea typeface="Calibri" pitchFamily="34" charset="-122"/>
                <a:cs typeface="Calibri" pitchFamily="34" charset="-120"/>
              </a:rPr>
              <a:t>Safe Harbour für Komfort-Normen, BEG von VDI-Zertifikaten entkoppeln  </a:t>
            </a:r>
            <a:pPr indent="0" marL="0">
              <a:buNone/>
            </a:pPr>
            <a:r>
              <a:rPr lang="en-US" sz="900" dirty="0">
                <a:solidFill>
                  <a:srgbClr val="9A5B12"/>
                </a:solidFill>
                <a:latin typeface="Calibri" pitchFamily="34" charset="0"/>
                <a:ea typeface="Calibri" pitchFamily="34" charset="-122"/>
                <a:cs typeface="Calibri" pitchFamily="34" charset="-120"/>
              </a:rPr>
              <a:t>★★★</a:t>
            </a:r>
            <a:endParaRPr lang="en-US" sz="1100" dirty="0"/>
          </a:p>
        </p:txBody>
      </p:sp>
      <p:sp>
        <p:nvSpPr>
          <p:cNvPr id="48" name="Text 40"/>
          <p:cNvSpPr txBox="1"/>
          <p:nvPr/>
        </p:nvSpPr>
        <p:spPr>
          <a:xfrm>
            <a:off x="6629400" y="2980944"/>
            <a:ext cx="4572000" cy="402336"/>
          </a:xfrm>
          <a:prstGeom prst="rect">
            <a:avLst/>
          </a:prstGeom>
          <a:noFill/>
          <a:ln/>
        </p:spPr>
        <p:txBody>
          <a:bodyPr wrap="square" lIns="0" tIns="0" rIns="0" bIns="0" rtlCol="0" anchor="t"/>
          <a:lstStyle/>
          <a:p>
            <a:pPr indent="0" marL="0">
              <a:buNone/>
            </a:pPr>
            <a:r>
              <a:rPr lang="en-US" sz="950" dirty="0">
                <a:solidFill>
                  <a:srgbClr val="56534B"/>
                </a:solidFill>
                <a:latin typeface="Calibri" pitchFamily="34" charset="0"/>
                <a:ea typeface="Calibri" pitchFamily="34" charset="-122"/>
                <a:cs typeface="Calibri" pitchFamily="34" charset="-120"/>
              </a:rPr>
              <a:t>Normen sind formal freiwillig, über Haftung, BAFA und Versicherung faktisch bindend; DIN finanziert ~59 % aus Normenverkauf · mittelfristig</a:t>
            </a:r>
            <a:endParaRPr lang="en-US" sz="950" dirty="0"/>
          </a:p>
        </p:txBody>
      </p:sp>
      <p:sp>
        <p:nvSpPr>
          <p:cNvPr id="49" name="Text 41"/>
          <p:cNvSpPr txBox="1"/>
          <p:nvPr/>
        </p:nvSpPr>
        <p:spPr>
          <a:xfrm>
            <a:off x="6309360" y="3401568"/>
            <a:ext cx="274320" cy="274320"/>
          </a:xfrm>
          <a:prstGeom prst="rect">
            <a:avLst/>
          </a:prstGeom>
          <a:noFill/>
          <a:ln/>
        </p:spPr>
        <p:txBody>
          <a:bodyPr wrap="square" lIns="0" tIns="0" rIns="0" bIns="0" rtlCol="0" anchor="t"/>
          <a:lstStyle/>
          <a:p>
            <a:pPr indent="0" marL="0">
              <a:buNone/>
            </a:pPr>
            <a:r>
              <a:rPr lang="en-US" sz="1600" b="1" dirty="0">
                <a:solidFill>
                  <a:srgbClr val="0F5257"/>
                </a:solidFill>
                <a:latin typeface="Cambria" pitchFamily="34" charset="0"/>
                <a:ea typeface="Cambria" pitchFamily="34" charset="-122"/>
                <a:cs typeface="Cambria" pitchFamily="34" charset="-120"/>
              </a:rPr>
              <a:t>3</a:t>
            </a:r>
            <a:endParaRPr lang="en-US" sz="1600" dirty="0"/>
          </a:p>
        </p:txBody>
      </p:sp>
      <p:sp>
        <p:nvSpPr>
          <p:cNvPr id="50" name="Text 42"/>
          <p:cNvSpPr txBox="1"/>
          <p:nvPr/>
        </p:nvSpPr>
        <p:spPr>
          <a:xfrm>
            <a:off x="6629400" y="3401568"/>
            <a:ext cx="4572000" cy="274320"/>
          </a:xfrm>
          <a:prstGeom prst="rect">
            <a:avLst/>
          </a:prstGeom>
          <a:noFill/>
          <a:ln/>
        </p:spPr>
        <p:txBody>
          <a:bodyPr wrap="square" lIns="0" tIns="0" rIns="0" bIns="0" rtlCol="0" anchor="t"/>
          <a:lstStyle/>
          <a:p>
            <a:pPr indent="0" marL="0">
              <a:buNone/>
            </a:pPr>
            <a:r>
              <a:rPr lang="en-US" sz="1100" b="1" dirty="0">
                <a:solidFill>
                  <a:srgbClr val="1A1A17"/>
                </a:solidFill>
                <a:latin typeface="Calibri" pitchFamily="34" charset="0"/>
                <a:ea typeface="Calibri" pitchFamily="34" charset="-122"/>
                <a:cs typeface="Calibri" pitchFamily="34" charset="-120"/>
              </a:rPr>
              <a:t>Heizstab ≤ 3 kW als Förderstandard  </a:t>
            </a:r>
            <a:pPr indent="0" marL="0">
              <a:buNone/>
            </a:pPr>
            <a:r>
              <a:rPr lang="en-US" sz="900" dirty="0">
                <a:solidFill>
                  <a:srgbClr val="9A5B12"/>
                </a:solidFill>
                <a:latin typeface="Calibri" pitchFamily="34" charset="0"/>
                <a:ea typeface="Calibri" pitchFamily="34" charset="-122"/>
                <a:cs typeface="Calibri" pitchFamily="34" charset="-120"/>
              </a:rPr>
              <a:t>★★</a:t>
            </a:r>
            <a:endParaRPr lang="en-US" sz="1100" dirty="0"/>
          </a:p>
        </p:txBody>
      </p:sp>
      <p:sp>
        <p:nvSpPr>
          <p:cNvPr id="51" name="Text 43"/>
          <p:cNvSpPr txBox="1"/>
          <p:nvPr/>
        </p:nvSpPr>
        <p:spPr>
          <a:xfrm>
            <a:off x="6629400" y="3675888"/>
            <a:ext cx="4572000" cy="402336"/>
          </a:xfrm>
          <a:prstGeom prst="rect">
            <a:avLst/>
          </a:prstGeom>
          <a:noFill/>
          <a:ln/>
        </p:spPr>
        <p:txBody>
          <a:bodyPr wrap="square" lIns="0" tIns="0" rIns="0" bIns="0" rtlCol="0" anchor="t"/>
          <a:lstStyle/>
          <a:p>
            <a:pPr indent="0" marL="0">
              <a:buNone/>
            </a:pPr>
            <a:r>
              <a:rPr lang="en-US" sz="950" dirty="0">
                <a:solidFill>
                  <a:srgbClr val="56534B"/>
                </a:solidFill>
                <a:latin typeface="Calibri" pitchFamily="34" charset="0"/>
                <a:ea typeface="Calibri" pitchFamily="34" charset="-122"/>
                <a:cs typeface="Calibri" pitchFamily="34" charset="-120"/>
              </a:rPr>
              <a:t>Läuft bei korrekter Auslegung in 1.9 % der Heizarbeit (Fraunhofer ISE); unterschreitet die § 14a-Schwelle von 4.2 kW · kurzfristig</a:t>
            </a:r>
            <a:endParaRPr lang="en-US" sz="950" dirty="0"/>
          </a:p>
        </p:txBody>
      </p:sp>
      <p:sp>
        <p:nvSpPr>
          <p:cNvPr id="52" name="Text 44"/>
          <p:cNvSpPr txBox="1"/>
          <p:nvPr/>
        </p:nvSpPr>
        <p:spPr>
          <a:xfrm>
            <a:off x="6309360" y="4096512"/>
            <a:ext cx="274320" cy="274320"/>
          </a:xfrm>
          <a:prstGeom prst="rect">
            <a:avLst/>
          </a:prstGeom>
          <a:noFill/>
          <a:ln/>
        </p:spPr>
        <p:txBody>
          <a:bodyPr wrap="square" lIns="0" tIns="0" rIns="0" bIns="0" rtlCol="0" anchor="t"/>
          <a:lstStyle/>
          <a:p>
            <a:pPr indent="0" marL="0">
              <a:buNone/>
            </a:pPr>
            <a:r>
              <a:rPr lang="en-US" sz="1600" b="1" dirty="0">
                <a:solidFill>
                  <a:srgbClr val="0F5257"/>
                </a:solidFill>
                <a:latin typeface="Cambria" pitchFamily="34" charset="0"/>
                <a:ea typeface="Cambria" pitchFamily="34" charset="-122"/>
                <a:cs typeface="Cambria" pitchFamily="34" charset="-120"/>
              </a:rPr>
              <a:t>4</a:t>
            </a:r>
            <a:endParaRPr lang="en-US" sz="1600" dirty="0"/>
          </a:p>
        </p:txBody>
      </p:sp>
      <p:sp>
        <p:nvSpPr>
          <p:cNvPr id="53" name="Text 45"/>
          <p:cNvSpPr txBox="1"/>
          <p:nvPr/>
        </p:nvSpPr>
        <p:spPr>
          <a:xfrm>
            <a:off x="6629400" y="4096512"/>
            <a:ext cx="4572000" cy="274320"/>
          </a:xfrm>
          <a:prstGeom prst="rect">
            <a:avLst/>
          </a:prstGeom>
          <a:noFill/>
          <a:ln/>
        </p:spPr>
        <p:txBody>
          <a:bodyPr wrap="square" lIns="0" tIns="0" rIns="0" bIns="0" rtlCol="0" anchor="t"/>
          <a:lstStyle/>
          <a:p>
            <a:pPr indent="0" marL="0">
              <a:buNone/>
            </a:pPr>
            <a:r>
              <a:rPr lang="en-US" sz="1100" b="1" dirty="0">
                <a:solidFill>
                  <a:srgbClr val="1A1A17"/>
                </a:solidFill>
                <a:latin typeface="Calibri" pitchFamily="34" charset="0"/>
                <a:ea typeface="Calibri" pitchFamily="34" charset="-122"/>
                <a:cs typeface="Calibri" pitchFamily="34" charset="-120"/>
              </a:rPr>
              <a:t>§ 14a: Tarifanreize statt Hardware-Pflichten  </a:t>
            </a:r>
            <a:pPr indent="0" marL="0">
              <a:buNone/>
            </a:pPr>
            <a:r>
              <a:rPr lang="en-US" sz="900" dirty="0">
                <a:solidFill>
                  <a:srgbClr val="9A5B12"/>
                </a:solidFill>
                <a:latin typeface="Calibri" pitchFamily="34" charset="0"/>
                <a:ea typeface="Calibri" pitchFamily="34" charset="-122"/>
                <a:cs typeface="Calibri" pitchFamily="34" charset="-120"/>
              </a:rPr>
              <a:t>★★</a:t>
            </a:r>
            <a:endParaRPr lang="en-US" sz="1100" dirty="0"/>
          </a:p>
        </p:txBody>
      </p:sp>
      <p:sp>
        <p:nvSpPr>
          <p:cNvPr id="54" name="Text 46"/>
          <p:cNvSpPr txBox="1"/>
          <p:nvPr/>
        </p:nvSpPr>
        <p:spPr>
          <a:xfrm>
            <a:off x="6629400" y="4370832"/>
            <a:ext cx="4572000" cy="402336"/>
          </a:xfrm>
          <a:prstGeom prst="rect">
            <a:avLst/>
          </a:prstGeom>
          <a:noFill/>
          <a:ln/>
        </p:spPr>
        <p:txBody>
          <a:bodyPr wrap="square" lIns="0" tIns="0" rIns="0" bIns="0" rtlCol="0" anchor="t"/>
          <a:lstStyle/>
          <a:p>
            <a:pPr indent="0" marL="0">
              <a:buNone/>
            </a:pPr>
            <a:r>
              <a:rPr lang="en-US" sz="950" dirty="0">
                <a:solidFill>
                  <a:srgbClr val="56534B"/>
                </a:solidFill>
                <a:latin typeface="Calibri" pitchFamily="34" charset="0"/>
                <a:ea typeface="Calibri" pitchFamily="34" charset="-122"/>
                <a:cs typeface="Calibri" pitchFamily="34" charset="-120"/>
              </a:rPr>
              <a:t>Steuerbox/SMGW/EEBus je 1'500–2'500 €; Vorbild PAS 1878/1879, OpenADR · EnWG-Novelle, mittelfristig</a:t>
            </a:r>
            <a:endParaRPr lang="en-US" sz="950" dirty="0"/>
          </a:p>
        </p:txBody>
      </p:sp>
      <p:sp>
        <p:nvSpPr>
          <p:cNvPr id="55" name="Text 47"/>
          <p:cNvSpPr txBox="1"/>
          <p:nvPr/>
        </p:nvSpPr>
        <p:spPr>
          <a:xfrm>
            <a:off x="6309360" y="4791456"/>
            <a:ext cx="274320" cy="274320"/>
          </a:xfrm>
          <a:prstGeom prst="rect">
            <a:avLst/>
          </a:prstGeom>
          <a:noFill/>
          <a:ln/>
        </p:spPr>
        <p:txBody>
          <a:bodyPr wrap="square" lIns="0" tIns="0" rIns="0" bIns="0" rtlCol="0" anchor="t"/>
          <a:lstStyle/>
          <a:p>
            <a:pPr indent="0" marL="0">
              <a:buNone/>
            </a:pPr>
            <a:r>
              <a:rPr lang="en-US" sz="1600" b="1" dirty="0">
                <a:solidFill>
                  <a:srgbClr val="0F5257"/>
                </a:solidFill>
                <a:latin typeface="Cambria" pitchFamily="34" charset="0"/>
                <a:ea typeface="Cambria" pitchFamily="34" charset="-122"/>
                <a:cs typeface="Cambria" pitchFamily="34" charset="-120"/>
              </a:rPr>
              <a:t>5</a:t>
            </a:r>
            <a:endParaRPr lang="en-US" sz="1600" dirty="0"/>
          </a:p>
        </p:txBody>
      </p:sp>
      <p:sp>
        <p:nvSpPr>
          <p:cNvPr id="56" name="Text 48"/>
          <p:cNvSpPr txBox="1"/>
          <p:nvPr/>
        </p:nvSpPr>
        <p:spPr>
          <a:xfrm>
            <a:off x="6629400" y="4791456"/>
            <a:ext cx="4572000" cy="274320"/>
          </a:xfrm>
          <a:prstGeom prst="rect">
            <a:avLst/>
          </a:prstGeom>
          <a:noFill/>
          <a:ln/>
        </p:spPr>
        <p:txBody>
          <a:bodyPr wrap="square" lIns="0" tIns="0" rIns="0" bIns="0" rtlCol="0" anchor="t"/>
          <a:lstStyle/>
          <a:p>
            <a:pPr indent="0" marL="0">
              <a:buNone/>
            </a:pPr>
            <a:r>
              <a:rPr lang="en-US" sz="1100" b="1" dirty="0">
                <a:solidFill>
                  <a:srgbClr val="1A1A17"/>
                </a:solidFill>
                <a:latin typeface="Calibri" pitchFamily="34" charset="0"/>
                <a:ea typeface="Calibri" pitchFamily="34" charset="-122"/>
                <a:cs typeface="Calibri" pitchFamily="34" charset="-120"/>
              </a:rPr>
              <a:t>EU: Nullsatz auch für dezentrale Heiztechnik  </a:t>
            </a:r>
            <a:pPr indent="0" marL="0">
              <a:buNone/>
            </a:pPr>
            <a:r>
              <a:rPr lang="en-US" sz="900" dirty="0">
                <a:solidFill>
                  <a:srgbClr val="9A5B12"/>
                </a:solidFill>
                <a:latin typeface="Calibri" pitchFamily="34" charset="0"/>
                <a:ea typeface="Calibri" pitchFamily="34" charset="-122"/>
                <a:cs typeface="Calibri" pitchFamily="34" charset="-120"/>
              </a:rPr>
              <a:t>★★</a:t>
            </a:r>
            <a:endParaRPr lang="en-US" sz="1100" dirty="0"/>
          </a:p>
        </p:txBody>
      </p:sp>
      <p:sp>
        <p:nvSpPr>
          <p:cNvPr id="57" name="Text 49"/>
          <p:cNvSpPr txBox="1"/>
          <p:nvPr/>
        </p:nvSpPr>
        <p:spPr>
          <a:xfrm>
            <a:off x="6629400" y="5065776"/>
            <a:ext cx="4572000" cy="402336"/>
          </a:xfrm>
          <a:prstGeom prst="rect">
            <a:avLst/>
          </a:prstGeom>
          <a:noFill/>
          <a:ln/>
        </p:spPr>
        <p:txBody>
          <a:bodyPr wrap="square" lIns="0" tIns="0" rIns="0" bIns="0" rtlCol="0" anchor="t"/>
          <a:lstStyle/>
          <a:p>
            <a:pPr indent="0" marL="0">
              <a:buNone/>
            </a:pPr>
            <a:r>
              <a:rPr lang="en-US" sz="950" dirty="0">
                <a:solidFill>
                  <a:srgbClr val="56534B"/>
                </a:solidFill>
                <a:latin typeface="Calibri" pitchFamily="34" charset="0"/>
                <a:ea typeface="Calibri" pitchFamily="34" charset="-122"/>
                <a:cs typeface="Calibri" pitchFamily="34" charset="-120"/>
              </a:rPr>
              <a:t>Anhang III Nr. 22 MwSt-Systemrichtlinie; Einstimmigkeit nach Art. 113 AEUV · langfristig</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WARNUNG · WARUM TEIL I DRINGEND IST</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Solange die Wärmepumpe 30'000 € kostet, rechnet sich nur Gas*</a:t>
            </a:r>
            <a:endParaRPr lang="en-US" sz="2800" dirty="0"/>
          </a:p>
        </p:txBody>
      </p:sp>
      <p:sp>
        <p:nvSpPr>
          <p:cNvPr id="4" name="Text 2"/>
          <p:cNvSpPr txBox="1"/>
          <p:nvPr/>
        </p:nvSpPr>
        <p:spPr>
          <a:xfrm>
            <a:off x="548640" y="1234440"/>
            <a:ext cx="11064240" cy="502920"/>
          </a:xfrm>
          <a:prstGeom prst="rect">
            <a:avLst/>
          </a:prstGeom>
          <a:noFill/>
          <a:ln/>
        </p:spPr>
        <p:txBody>
          <a:bodyPr wrap="square" lIns="0" tIns="0" rIns="0" bIns="0" rtlCol="0" anchor="t"/>
          <a:lstStyle/>
          <a:p>
            <a:pPr indent="0" marL="0">
              <a:buNone/>
            </a:pPr>
            <a:r>
              <a:rPr lang="en-US" sz="900" dirty="0">
                <a:solidFill>
                  <a:srgbClr val="56534B"/>
                </a:solidFill>
                <a:latin typeface="Calibri" pitchFamily="34" charset="0"/>
                <a:ea typeface="Calibri" pitchFamily="34" charset="-122"/>
                <a:cs typeface="Calibri" pitchFamily="34" charset="-120"/>
              </a:rPr>
              <a:t>* Genauer: Vollfaktoriell über 27 Kombinationen (Kesseltausch 6'000/9'000/12'000 € · Gas 9/11/13 ct/kWh · Nutzungsgrad 85/88/92 %) liegt der Kessel in 22 von 27 unter dem heutigen deutschen WP-Preis von 23.73 ct und in 1 von 27 unter der EU-Referenz von 17.75 ct — bei 6'000 €, 9 ct und 92 % mit 17.35 ct/kWh. Grüngaspflicht nach § 43 GModG barwertgewichtet enthalten (2.31 ct); ohne sie 19.20 ct, gegen die Referenz weiterhin teurer. Spannweite 17.35–25.73 ct/kWh; Abschnitt 4.2, Anhang A.10.</a:t>
            </a:r>
            <a:endParaRPr lang="en-US" sz="900" dirty="0"/>
          </a:p>
        </p:txBody>
      </p:sp>
      <p:sp>
        <p:nvSpPr>
          <p:cNvPr id="5" name="Text 3"/>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6" name="Text 4"/>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4</a:t>
            </a:r>
            <a:endParaRPr lang="en-US" sz="900" dirty="0"/>
          </a:p>
        </p:txBody>
      </p:sp>
      <p:graphicFrame>
        <p:nvGraphicFramePr>
          <p:cNvPr id="7" name="Chart 0" descr=""/>
          <p:cNvGraphicFramePr/>
          <p:nvPr/>
        </p:nvGraphicFramePr>
        <p:xfrm>
          <a:off x="548640" y="1828800"/>
          <a:ext cx="3383280" cy="2743200"/>
        </p:xfrm>
        <a:graphic xmlns:a="http://schemas.openxmlformats.org/drawingml/2006/main">
          <a:graphicData uri="http://schemas.openxmlformats.org/drawingml/2006/chart">
            <c:chart xmlns:c="http://schemas.openxmlformats.org/drawingml/2006/chart" r:id="rId1"/>
          </a:graphicData>
        </a:graphic>
      </p:graphicFrame>
      <p:graphicFrame>
        <p:nvGraphicFramePr>
          <p:cNvPr id="8" name="Chart 1" descr=""/>
          <p:cNvGraphicFramePr/>
          <p:nvPr/>
        </p:nvGraphicFramePr>
        <p:xfrm>
          <a:off x="4114800" y="1828800"/>
          <a:ext cx="3383280" cy="2743200"/>
        </p:xfrm>
        <a:graphic xmlns:a="http://schemas.openxmlformats.org/drawingml/2006/main">
          <a:graphicData uri="http://schemas.openxmlformats.org/drawingml/2006/chart">
            <c:chart xmlns:c="http://schemas.openxmlformats.org/drawingml/2006/chart" r:id="rId2"/>
          </a:graphicData>
        </a:graphic>
      </p:graphicFrame>
      <p:sp>
        <p:nvSpPr>
          <p:cNvPr id="9" name="Text 5"/>
          <p:cNvSpPr txBox="1"/>
          <p:nvPr/>
        </p:nvSpPr>
        <p:spPr>
          <a:xfrm>
            <a:off x="548640" y="4663440"/>
            <a:ext cx="6949440" cy="685800"/>
          </a:xfrm>
          <a:prstGeom prst="rect">
            <a:avLst/>
          </a:prstGeom>
          <a:noFill/>
          <a:ln/>
        </p:spPr>
        <p:txBody>
          <a:bodyPr wrap="square" lIns="0" tIns="0" rIns="0" bIns="0" rtlCol="0" anchor="t"/>
          <a:lstStyle/>
          <a:p>
            <a:pPr indent="0" marL="0">
              <a:buNone/>
            </a:pPr>
            <a:r>
              <a:rPr lang="en-US" sz="1100" b="1" dirty="0">
                <a:solidFill>
                  <a:srgbClr val="56534B"/>
                </a:solidFill>
                <a:latin typeface="Calibri" pitchFamily="34" charset="0"/>
                <a:ea typeface="Calibri" pitchFamily="34" charset="-122"/>
                <a:cs typeface="Calibri" pitchFamily="34" charset="-120"/>
              </a:rPr>
              <a:t>Lesart: </a:t>
            </a:r>
            <a:pPr indent="0" marL="0">
              <a:buNone/>
            </a:pPr>
            <a:r>
              <a:rPr lang="en-US" sz="1100" dirty="0">
                <a:solidFill>
                  <a:srgbClr val="56534B"/>
                </a:solidFill>
                <a:latin typeface="Calibri" pitchFamily="34" charset="0"/>
                <a:ea typeface="Calibri" pitchFamily="34" charset="-122"/>
                <a:cs typeface="Calibri" pitchFamily="34" charset="-120"/>
              </a:rPr>
              <a:t>In der Investition gewinnt der Kessel immer. In den Vollkosten verliert er — aber nur gegen die europäische Referenz. Wer heute Gas einbaut, rechnet nicht falsch, sondern gegen die Zahl, die sichtbar und sofort fällig ist.</a:t>
            </a:r>
            <a:endParaRPr lang="en-US" sz="1100" dirty="0"/>
          </a:p>
        </p:txBody>
      </p:sp>
      <p:sp>
        <p:nvSpPr>
          <p:cNvPr id="10" name="Shape 6"/>
          <p:cNvSpPr/>
          <p:nvPr/>
        </p:nvSpPr>
        <p:spPr>
          <a:xfrm>
            <a:off x="7909560" y="1847088"/>
            <a:ext cx="457200" cy="457200"/>
          </a:xfrm>
          <a:prstGeom prst="ellipse">
            <a:avLst/>
          </a:prstGeom>
          <a:solidFill>
            <a:srgbClr val="F5E4E0"/>
          </a:solidFill>
          <a:ln w="12700">
            <a:solidFill>
              <a:srgbClr val="F5E4E0"/>
            </a:solidFill>
            <a:prstDash val="solid"/>
          </a:ln>
        </p:spPr>
      </p:sp>
      <p:pic>
        <p:nvPicPr>
          <p:cNvPr id="11" name="Image 0" descr="preencoded.png">    </p:cNvPr>
          <p:cNvPicPr>
            <a:picLocks noChangeAspect="1"/>
          </p:cNvPicPr>
          <p:nvPr/>
        </p:nvPicPr>
        <p:blipFill>
          <a:blip r:embed="rId3"/>
          <a:stretch>
            <a:fillRect/>
          </a:stretch>
        </p:blipFill>
        <p:spPr>
          <a:xfrm>
            <a:off x="8001000" y="1938528"/>
            <a:ext cx="274320" cy="274320"/>
          </a:xfrm>
          <a:prstGeom prst="rect">
            <a:avLst/>
          </a:prstGeom>
        </p:spPr>
      </p:pic>
      <p:sp>
        <p:nvSpPr>
          <p:cNvPr id="12" name="Text 7"/>
          <p:cNvSpPr txBox="1"/>
          <p:nvPr/>
        </p:nvSpPr>
        <p:spPr>
          <a:xfrm>
            <a:off x="8549640" y="1828800"/>
            <a:ext cx="3108960" cy="292608"/>
          </a:xfrm>
          <a:prstGeom prst="rect">
            <a:avLst/>
          </a:prstGeom>
          <a:noFill/>
          <a:ln/>
        </p:spPr>
        <p:txBody>
          <a:bodyPr wrap="square" lIns="0" tIns="0" rIns="0" bIns="0" rtlCol="0" anchor="ctr"/>
          <a:lstStyle/>
          <a:p>
            <a:pPr indent="0" marL="0">
              <a:buNone/>
            </a:pPr>
            <a:r>
              <a:rPr lang="en-US" sz="1300" b="1" dirty="0">
                <a:solidFill>
                  <a:srgbClr val="1A1A17"/>
                </a:solidFill>
                <a:latin typeface="Calibri" pitchFamily="34" charset="0"/>
                <a:ea typeface="Calibri" pitchFamily="34" charset="-122"/>
                <a:cs typeface="Calibri" pitchFamily="34" charset="-120"/>
              </a:rPr>
              <a:t>Das Ordnungsrecht ist weg.</a:t>
            </a:r>
            <a:endParaRPr lang="en-US" sz="1300" dirty="0"/>
          </a:p>
        </p:txBody>
      </p:sp>
      <p:sp>
        <p:nvSpPr>
          <p:cNvPr id="13" name="Text 8"/>
          <p:cNvSpPr txBox="1"/>
          <p:nvPr/>
        </p:nvSpPr>
        <p:spPr>
          <a:xfrm>
            <a:off x="8549640" y="2121408"/>
            <a:ext cx="3108960" cy="822960"/>
          </a:xfrm>
          <a:prstGeom prst="rect">
            <a:avLst/>
          </a:prstGeom>
          <a:noFill/>
          <a:ln/>
        </p:spPr>
        <p:txBody>
          <a:bodyPr wrap="square" lIns="0" tIns="0" rIns="0" bIns="0" rtlCol="0" anchor="t"/>
          <a:lstStyle/>
          <a:p>
            <a:pPr indent="0" marL="0">
              <a:buNone/>
            </a:pPr>
            <a:r>
              <a:rPr lang="en-US" sz="1100" dirty="0">
                <a:solidFill>
                  <a:srgbClr val="56534B"/>
                </a:solidFill>
                <a:latin typeface="Calibri" pitchFamily="34" charset="0"/>
                <a:ea typeface="Calibri" pitchFamily="34" charset="-122"/>
                <a:cs typeface="Calibri" pitchFamily="34" charset="-120"/>
              </a:rPr>
              <a:t>GModG 2026: keine 65-%-Regel, kein Betriebsverbot 2045. Gegen den Kessel bleibt nur das ökonomische Argument.</a:t>
            </a:r>
            <a:endParaRPr lang="en-US" sz="1100" dirty="0"/>
          </a:p>
        </p:txBody>
      </p:sp>
      <p:sp>
        <p:nvSpPr>
          <p:cNvPr id="14" name="Shape 9"/>
          <p:cNvSpPr/>
          <p:nvPr/>
        </p:nvSpPr>
        <p:spPr>
          <a:xfrm>
            <a:off x="7909560" y="3017520"/>
            <a:ext cx="457200" cy="457200"/>
          </a:xfrm>
          <a:prstGeom prst="ellipse">
            <a:avLst/>
          </a:prstGeom>
          <a:solidFill>
            <a:srgbClr val="F5E4E0"/>
          </a:solidFill>
          <a:ln w="12700">
            <a:solidFill>
              <a:srgbClr val="F5E4E0"/>
            </a:solidFill>
            <a:prstDash val="solid"/>
          </a:ln>
        </p:spPr>
      </p:sp>
      <p:pic>
        <p:nvPicPr>
          <p:cNvPr id="15" name="Image 1" descr="preencoded.png">    </p:cNvPr>
          <p:cNvPicPr>
            <a:picLocks noChangeAspect="1"/>
          </p:cNvPicPr>
          <p:nvPr/>
        </p:nvPicPr>
        <p:blipFill>
          <a:blip r:embed="rId4"/>
          <a:stretch>
            <a:fillRect/>
          </a:stretch>
        </p:blipFill>
        <p:spPr>
          <a:xfrm>
            <a:off x="8001000" y="3108960"/>
            <a:ext cx="274320" cy="274320"/>
          </a:xfrm>
          <a:prstGeom prst="rect">
            <a:avLst/>
          </a:prstGeom>
        </p:spPr>
      </p:pic>
      <p:sp>
        <p:nvSpPr>
          <p:cNvPr id="16" name="Text 10"/>
          <p:cNvSpPr txBox="1"/>
          <p:nvPr/>
        </p:nvSpPr>
        <p:spPr>
          <a:xfrm>
            <a:off x="8549640" y="2999232"/>
            <a:ext cx="3108960" cy="292608"/>
          </a:xfrm>
          <a:prstGeom prst="rect">
            <a:avLst/>
          </a:prstGeom>
          <a:noFill/>
          <a:ln/>
        </p:spPr>
        <p:txBody>
          <a:bodyPr wrap="square" lIns="0" tIns="0" rIns="0" bIns="0" rtlCol="0" anchor="ctr"/>
          <a:lstStyle/>
          <a:p>
            <a:pPr indent="0" marL="0">
              <a:buNone/>
            </a:pPr>
            <a:r>
              <a:rPr lang="en-US" sz="1300" b="1" dirty="0">
                <a:solidFill>
                  <a:srgbClr val="1A1A17"/>
                </a:solidFill>
                <a:latin typeface="Calibri" pitchFamily="34" charset="0"/>
                <a:ea typeface="Calibri" pitchFamily="34" charset="-122"/>
                <a:cs typeface="Calibri" pitchFamily="34" charset="-120"/>
              </a:rPr>
              <a:t>Alle rechnen gegen „Gastherme forever“.</a:t>
            </a:r>
            <a:endParaRPr lang="en-US" sz="1300" dirty="0"/>
          </a:p>
        </p:txBody>
      </p:sp>
      <p:sp>
        <p:nvSpPr>
          <p:cNvPr id="17" name="Text 11"/>
          <p:cNvSpPr txBox="1"/>
          <p:nvPr/>
        </p:nvSpPr>
        <p:spPr>
          <a:xfrm>
            <a:off x="8549640" y="3291840"/>
            <a:ext cx="3108960" cy="822960"/>
          </a:xfrm>
          <a:prstGeom prst="rect">
            <a:avLst/>
          </a:prstGeom>
          <a:noFill/>
          <a:ln/>
        </p:spPr>
        <p:txBody>
          <a:bodyPr wrap="square" lIns="0" tIns="0" rIns="0" bIns="0" rtlCol="0" anchor="t"/>
          <a:lstStyle/>
          <a:p>
            <a:pPr indent="0" marL="0">
              <a:buNone/>
            </a:pPr>
            <a:r>
              <a:rPr lang="en-US" sz="1100" dirty="0">
                <a:solidFill>
                  <a:srgbClr val="56534B"/>
                </a:solidFill>
                <a:latin typeface="Calibri" pitchFamily="34" charset="0"/>
                <a:ea typeface="Calibri" pitchFamily="34" charset="-122"/>
                <a:cs typeface="Calibri" pitchFamily="34" charset="-120"/>
              </a:rPr>
              <a:t>Haushalte wie Planer setzen auf den heutigen Fossilgaspreis — und darauf, dass 2045 verschoben wird. Das ferne Netto-Null-Ziel erzeugt vielleicht Unbehagen, aber keinen Wandel.</a:t>
            </a:r>
            <a:endParaRPr lang="en-US" sz="1100" dirty="0"/>
          </a:p>
        </p:txBody>
      </p:sp>
      <p:sp>
        <p:nvSpPr>
          <p:cNvPr id="18" name="Shape 12"/>
          <p:cNvSpPr/>
          <p:nvPr/>
        </p:nvSpPr>
        <p:spPr>
          <a:xfrm>
            <a:off x="7909560" y="4187952"/>
            <a:ext cx="457200" cy="457200"/>
          </a:xfrm>
          <a:prstGeom prst="ellipse">
            <a:avLst/>
          </a:prstGeom>
          <a:solidFill>
            <a:srgbClr val="F5E4E0"/>
          </a:solidFill>
          <a:ln w="12700">
            <a:solidFill>
              <a:srgbClr val="F5E4E0"/>
            </a:solidFill>
            <a:prstDash val="solid"/>
          </a:ln>
        </p:spPr>
      </p:sp>
      <p:pic>
        <p:nvPicPr>
          <p:cNvPr id="19" name="Image 2" descr="preencoded.png">    </p:cNvPr>
          <p:cNvPicPr>
            <a:picLocks noChangeAspect="1"/>
          </p:cNvPicPr>
          <p:nvPr/>
        </p:nvPicPr>
        <p:blipFill>
          <a:blip r:embed="rId5"/>
          <a:stretch>
            <a:fillRect/>
          </a:stretch>
        </p:blipFill>
        <p:spPr>
          <a:xfrm>
            <a:off x="8001000" y="4279392"/>
            <a:ext cx="274320" cy="274320"/>
          </a:xfrm>
          <a:prstGeom prst="rect">
            <a:avLst/>
          </a:prstGeom>
        </p:spPr>
      </p:pic>
      <p:sp>
        <p:nvSpPr>
          <p:cNvPr id="20" name="Text 13"/>
          <p:cNvSpPr txBox="1"/>
          <p:nvPr/>
        </p:nvSpPr>
        <p:spPr>
          <a:xfrm>
            <a:off x="8549640" y="4169664"/>
            <a:ext cx="3108960" cy="292608"/>
          </a:xfrm>
          <a:prstGeom prst="rect">
            <a:avLst/>
          </a:prstGeom>
          <a:noFill/>
          <a:ln/>
        </p:spPr>
        <p:txBody>
          <a:bodyPr wrap="square" lIns="0" tIns="0" rIns="0" bIns="0" rtlCol="0" anchor="ctr"/>
          <a:lstStyle/>
          <a:p>
            <a:pPr indent="0" marL="0">
              <a:buNone/>
            </a:pPr>
            <a:r>
              <a:rPr lang="en-US" sz="1300" b="1" dirty="0">
                <a:solidFill>
                  <a:srgbClr val="1A1A17"/>
                </a:solidFill>
                <a:latin typeface="Calibri" pitchFamily="34" charset="0"/>
                <a:ea typeface="Calibri" pitchFamily="34" charset="-122"/>
                <a:cs typeface="Calibri" pitchFamily="34" charset="-120"/>
              </a:rPr>
              <a:t>Und im Netz dasselbe Muster.</a:t>
            </a:r>
            <a:endParaRPr lang="en-US" sz="1300" dirty="0"/>
          </a:p>
        </p:txBody>
      </p:sp>
      <p:sp>
        <p:nvSpPr>
          <p:cNvPr id="21" name="Text 14"/>
          <p:cNvSpPr txBox="1"/>
          <p:nvPr/>
        </p:nvSpPr>
        <p:spPr>
          <a:xfrm>
            <a:off x="8549640" y="4462272"/>
            <a:ext cx="3108960" cy="822960"/>
          </a:xfrm>
          <a:prstGeom prst="rect">
            <a:avLst/>
          </a:prstGeom>
          <a:noFill/>
          <a:ln/>
        </p:spPr>
        <p:txBody>
          <a:bodyPr wrap="square" lIns="0" tIns="0" rIns="0" bIns="0" rtlCol="0" anchor="t"/>
          <a:lstStyle/>
          <a:p>
            <a:pPr indent="0" marL="0">
              <a:buNone/>
            </a:pPr>
            <a:r>
              <a:rPr lang="en-US" sz="1100" dirty="0">
                <a:solidFill>
                  <a:srgbClr val="56534B"/>
                </a:solidFill>
                <a:latin typeface="Calibri" pitchFamily="34" charset="0"/>
                <a:ea typeface="Calibri" pitchFamily="34" charset="-122"/>
                <a:cs typeface="Calibri" pitchFamily="34" charset="-120"/>
              </a:rPr>
              <a:t>Ein Gasvorlauf trägt fast kein Wärmenetz: Er kostet 56 % der Differenz zum Nachfolgesockel und verbraucht dessen Reserve.</a:t>
            </a:r>
            <a:endParaRPr lang="en-US" sz="1100" dirty="0"/>
          </a:p>
        </p:txBody>
      </p:sp>
      <p:sp>
        <p:nvSpPr>
          <p:cNvPr id="22" name="Shape 15"/>
          <p:cNvSpPr/>
          <p:nvPr/>
        </p:nvSpPr>
        <p:spPr>
          <a:xfrm>
            <a:off x="548640" y="5440680"/>
            <a:ext cx="11064240" cy="822960"/>
          </a:xfrm>
          <a:prstGeom prst="roundRect">
            <a:avLst>
              <a:gd name="adj" fmla="val 8889"/>
            </a:avLst>
          </a:prstGeom>
          <a:solidFill>
            <a:srgbClr val="EFEBE1"/>
          </a:solidFill>
          <a:ln w="9525">
            <a:solidFill>
              <a:srgbClr val="C9C3B4"/>
            </a:solidFill>
            <a:prstDash val="solid"/>
          </a:ln>
        </p:spPr>
      </p:sp>
      <p:sp>
        <p:nvSpPr>
          <p:cNvPr id="23" name="Text 16"/>
          <p:cNvSpPr txBox="1"/>
          <p:nvPr/>
        </p:nvSpPr>
        <p:spPr>
          <a:xfrm>
            <a:off x="731520" y="5440680"/>
            <a:ext cx="10698480" cy="822960"/>
          </a:xfrm>
          <a:prstGeom prst="rect">
            <a:avLst/>
          </a:prstGeom>
          <a:noFill/>
          <a:ln/>
        </p:spPr>
        <p:txBody>
          <a:bodyPr wrap="square" lIns="0" tIns="0" rIns="0" bIns="0" rtlCol="0" anchor="ctr"/>
          <a:lstStyle/>
          <a:p>
            <a:pPr indent="0" marL="0">
              <a:buNone/>
            </a:pPr>
            <a:r>
              <a:rPr lang="en-US" sz="1250" b="1" dirty="0">
                <a:solidFill>
                  <a:srgbClr val="7A2E2E"/>
                </a:solidFill>
                <a:latin typeface="Calibri" pitchFamily="34" charset="0"/>
                <a:ea typeface="Calibri" pitchFamily="34" charset="-122"/>
                <a:cs typeface="Calibri" pitchFamily="34" charset="-120"/>
              </a:rPr>
              <a:t>Was das heißt: </a:t>
            </a:r>
            <a:pPr indent="0" marL="0">
              <a:buNone/>
            </a:pPr>
            <a:r>
              <a:rPr lang="en-US" sz="1250" dirty="0">
                <a:solidFill>
                  <a:srgbClr val="1A1A17"/>
                </a:solidFill>
                <a:latin typeface="Calibri" pitchFamily="34" charset="0"/>
                <a:ea typeface="Calibri" pitchFamily="34" charset="-122"/>
                <a:cs typeface="Calibri" pitchFamily="34" charset="-120"/>
              </a:rPr>
              <a:t>Die Reformhebel aus Teil I sind keine Wärmepumpen-Nische. Sie entscheiden, ob sich überhaupt etwas anderes als Gas rechnet — die Wärmepumpe wie die Fernwärme. Nur Wirtschaftlichkeit heute erzeugt Markthochlauf und politisches Momentum.</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TEIL II · DIE SYSTEMFRAGE</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Wenn der WP-Preis fällt – was trägt dann noch ein Netz?</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5" name="Text 3"/>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5</a:t>
            </a:r>
            <a:endParaRPr lang="en-US" sz="900" dirty="0"/>
          </a:p>
        </p:txBody>
      </p:sp>
      <p:sp>
        <p:nvSpPr>
          <p:cNvPr id="6" name="Text 4"/>
          <p:cNvSpPr txBox="1"/>
          <p:nvPr/>
        </p:nvSpPr>
        <p:spPr>
          <a:xfrm>
            <a:off x="548640" y="1645920"/>
            <a:ext cx="7680960" cy="274320"/>
          </a:xfrm>
          <a:prstGeom prst="rect">
            <a:avLst/>
          </a:prstGeom>
          <a:noFill/>
          <a:ln/>
        </p:spPr>
        <p:txBody>
          <a:bodyPr wrap="square" lIns="0" tIns="0" rIns="0" bIns="0" rtlCol="0" anchor="ctr"/>
          <a:lstStyle/>
          <a:p>
            <a:pPr indent="0" marL="0">
              <a:buNone/>
            </a:pPr>
            <a:r>
              <a:rPr lang="en-US" sz="1200" b="1" dirty="0">
                <a:solidFill>
                  <a:srgbClr val="1A1A17"/>
                </a:solidFill>
                <a:latin typeface="Calibri" pitchFamily="34" charset="0"/>
                <a:ea typeface="Calibri" pitchFamily="34" charset="-122"/>
                <a:cs typeface="Calibri" pitchFamily="34" charset="-120"/>
              </a:rPr>
              <a:t>Schritt 1: Wärmegestehungskosten je Quelle – der Sockel vor dem ersten Meter Netz (ct/kWh, Vollkosten)</a:t>
            </a:r>
            <a:endParaRPr lang="en-US" sz="1200" dirty="0"/>
          </a:p>
        </p:txBody>
      </p:sp>
      <p:sp>
        <p:nvSpPr>
          <p:cNvPr id="7" name="Text 5"/>
          <p:cNvSpPr txBox="1"/>
          <p:nvPr/>
        </p:nvSpPr>
        <p:spPr>
          <a:xfrm>
            <a:off x="548640" y="2057400"/>
            <a:ext cx="2651760" cy="347472"/>
          </a:xfrm>
          <a:prstGeom prst="rect">
            <a:avLst/>
          </a:prstGeom>
          <a:noFill/>
          <a:ln/>
        </p:spPr>
        <p:txBody>
          <a:bodyPr wrap="square" lIns="0" tIns="0" rIns="0" bIns="0" rtlCol="0" anchor="ctr"/>
          <a:lstStyle/>
          <a:p>
            <a:pPr algn="r" indent="0" marL="0">
              <a:buNone/>
            </a:pPr>
            <a:r>
              <a:rPr lang="en-US" sz="1050" dirty="0">
                <a:solidFill>
                  <a:srgbClr val="1A1A17"/>
                </a:solidFill>
                <a:latin typeface="Calibri" pitchFamily="34" charset="0"/>
                <a:ea typeface="Calibri" pitchFamily="34" charset="-122"/>
                <a:cs typeface="Calibri" pitchFamily="34" charset="-120"/>
              </a:rPr>
              <a:t>Abwärme / Müllverbrennung</a:t>
            </a:r>
            <a:endParaRPr lang="en-US" sz="1050" dirty="0"/>
          </a:p>
        </p:txBody>
      </p:sp>
      <p:sp>
        <p:nvSpPr>
          <p:cNvPr id="8" name="Shape 6"/>
          <p:cNvSpPr/>
          <p:nvPr/>
        </p:nvSpPr>
        <p:spPr>
          <a:xfrm>
            <a:off x="5231282" y="2167128"/>
            <a:ext cx="1531468" cy="128016"/>
          </a:xfrm>
          <a:prstGeom prst="rect">
            <a:avLst/>
          </a:prstGeom>
          <a:solidFill>
            <a:srgbClr val="E4EEE3"/>
          </a:solidFill>
          <a:ln w="6350">
            <a:solidFill>
              <a:srgbClr val="28633B"/>
            </a:solidFill>
            <a:prstDash val="solid"/>
          </a:ln>
        </p:spPr>
      </p:sp>
      <p:sp>
        <p:nvSpPr>
          <p:cNvPr id="9" name="Shape 7"/>
          <p:cNvSpPr/>
          <p:nvPr/>
        </p:nvSpPr>
        <p:spPr>
          <a:xfrm>
            <a:off x="3246120" y="2121408"/>
            <a:ext cx="1985162" cy="219456"/>
          </a:xfrm>
          <a:prstGeom prst="rect">
            <a:avLst/>
          </a:prstGeom>
          <a:solidFill>
            <a:srgbClr val="1F5673"/>
          </a:solidFill>
          <a:ln w="12700">
            <a:solidFill>
              <a:srgbClr val="1F5673"/>
            </a:solidFill>
            <a:prstDash val="solid"/>
          </a:ln>
        </p:spPr>
      </p:sp>
      <p:sp>
        <p:nvSpPr>
          <p:cNvPr id="10" name="Text 8"/>
          <p:cNvSpPr txBox="1"/>
          <p:nvPr/>
        </p:nvSpPr>
        <p:spPr>
          <a:xfrm>
            <a:off x="4545482" y="2057400"/>
            <a:ext cx="640080" cy="347472"/>
          </a:xfrm>
          <a:prstGeom prst="rect">
            <a:avLst/>
          </a:prstGeom>
          <a:noFill/>
          <a:ln/>
        </p:spPr>
        <p:txBody>
          <a:bodyPr wrap="square" lIns="0" tIns="0" rIns="0" bIns="0"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10.02</a:t>
            </a:r>
            <a:endParaRPr lang="en-US" sz="1000" dirty="0"/>
          </a:p>
        </p:txBody>
      </p:sp>
      <p:sp>
        <p:nvSpPr>
          <p:cNvPr id="11" name="Text 9"/>
          <p:cNvSpPr txBox="1"/>
          <p:nvPr/>
        </p:nvSpPr>
        <p:spPr>
          <a:xfrm>
            <a:off x="8275320" y="2057400"/>
            <a:ext cx="822960" cy="347472"/>
          </a:xfrm>
          <a:prstGeom prst="rect">
            <a:avLst/>
          </a:prstGeom>
          <a:noFill/>
          <a:ln/>
        </p:spPr>
        <p:txBody>
          <a:bodyPr wrap="square" lIns="0" tIns="0" rIns="0" bIns="0" rtlCol="0" anchor="ctr"/>
          <a:lstStyle/>
          <a:p>
            <a:pPr indent="0" marL="0">
              <a:buNone/>
            </a:pPr>
            <a:r>
              <a:rPr lang="en-US" sz="1200" b="1" dirty="0">
                <a:solidFill>
                  <a:srgbClr val="28633B"/>
                </a:solidFill>
                <a:latin typeface="Calibri" pitchFamily="34" charset="0"/>
                <a:ea typeface="Calibri" pitchFamily="34" charset="-122"/>
                <a:cs typeface="Calibri" pitchFamily="34" charset="-120"/>
              </a:rPr>
              <a:t>+7.72 ct</a:t>
            </a:r>
            <a:endParaRPr lang="en-US" sz="1200" dirty="0"/>
          </a:p>
        </p:txBody>
      </p:sp>
      <p:sp>
        <p:nvSpPr>
          <p:cNvPr id="12" name="Text 10"/>
          <p:cNvSpPr txBox="1"/>
          <p:nvPr/>
        </p:nvSpPr>
        <p:spPr>
          <a:xfrm>
            <a:off x="548640" y="2514600"/>
            <a:ext cx="2651760" cy="347472"/>
          </a:xfrm>
          <a:prstGeom prst="rect">
            <a:avLst/>
          </a:prstGeom>
          <a:noFill/>
          <a:ln/>
        </p:spPr>
        <p:txBody>
          <a:bodyPr wrap="square" lIns="0" tIns="0" rIns="0" bIns="0" rtlCol="0" anchor="ctr"/>
          <a:lstStyle/>
          <a:p>
            <a:pPr algn="r" indent="0" marL="0">
              <a:buNone/>
            </a:pPr>
            <a:r>
              <a:rPr lang="en-US" sz="1050" dirty="0">
                <a:solidFill>
                  <a:srgbClr val="1A1A17"/>
                </a:solidFill>
                <a:latin typeface="Calibri" pitchFamily="34" charset="0"/>
                <a:ea typeface="Calibri" pitchFamily="34" charset="-122"/>
                <a:cs typeface="Calibri" pitchFamily="34" charset="-120"/>
              </a:rPr>
              <a:t>Gasvorlauf → Abwärme ab 2045*</a:t>
            </a:r>
            <a:endParaRPr lang="en-US" sz="1050" dirty="0"/>
          </a:p>
        </p:txBody>
      </p:sp>
      <p:sp>
        <p:nvSpPr>
          <p:cNvPr id="13" name="Shape 11"/>
          <p:cNvSpPr/>
          <p:nvPr/>
        </p:nvSpPr>
        <p:spPr>
          <a:xfrm>
            <a:off x="6366510" y="2624328"/>
            <a:ext cx="396240" cy="128016"/>
          </a:xfrm>
          <a:prstGeom prst="rect">
            <a:avLst/>
          </a:prstGeom>
          <a:solidFill>
            <a:srgbClr val="E4EEE3"/>
          </a:solidFill>
          <a:ln w="6350">
            <a:solidFill>
              <a:srgbClr val="28633B"/>
            </a:solidFill>
            <a:prstDash val="solid"/>
          </a:ln>
        </p:spPr>
      </p:sp>
      <p:sp>
        <p:nvSpPr>
          <p:cNvPr id="14" name="Shape 12"/>
          <p:cNvSpPr/>
          <p:nvPr/>
        </p:nvSpPr>
        <p:spPr>
          <a:xfrm>
            <a:off x="3246120" y="2578608"/>
            <a:ext cx="3120390" cy="219456"/>
          </a:xfrm>
          <a:prstGeom prst="rect">
            <a:avLst/>
          </a:prstGeom>
          <a:solidFill>
            <a:srgbClr val="7A2E2E"/>
          </a:solidFill>
          <a:ln w="12700">
            <a:solidFill>
              <a:srgbClr val="7A2E2E"/>
            </a:solidFill>
            <a:prstDash val="solid"/>
          </a:ln>
        </p:spPr>
      </p:sp>
      <p:sp>
        <p:nvSpPr>
          <p:cNvPr id="15" name="Text 13"/>
          <p:cNvSpPr txBox="1"/>
          <p:nvPr/>
        </p:nvSpPr>
        <p:spPr>
          <a:xfrm>
            <a:off x="5680710" y="2514600"/>
            <a:ext cx="640080" cy="347472"/>
          </a:xfrm>
          <a:prstGeom prst="rect">
            <a:avLst/>
          </a:prstGeom>
          <a:noFill/>
          <a:ln/>
        </p:spPr>
        <p:txBody>
          <a:bodyPr wrap="square" lIns="0" tIns="0" rIns="0" bIns="0"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15.75</a:t>
            </a:r>
            <a:endParaRPr lang="en-US" sz="1000" dirty="0"/>
          </a:p>
        </p:txBody>
      </p:sp>
      <p:sp>
        <p:nvSpPr>
          <p:cNvPr id="16" name="Text 14"/>
          <p:cNvSpPr txBox="1"/>
          <p:nvPr/>
        </p:nvSpPr>
        <p:spPr>
          <a:xfrm>
            <a:off x="8275320" y="2514600"/>
            <a:ext cx="822960" cy="347472"/>
          </a:xfrm>
          <a:prstGeom prst="rect">
            <a:avLst/>
          </a:prstGeom>
          <a:noFill/>
          <a:ln/>
        </p:spPr>
        <p:txBody>
          <a:bodyPr wrap="square" lIns="0" tIns="0" rIns="0" bIns="0" rtlCol="0" anchor="ctr"/>
          <a:lstStyle/>
          <a:p>
            <a:pPr indent="0" marL="0">
              <a:buNone/>
            </a:pPr>
            <a:r>
              <a:rPr lang="en-US" sz="1200" b="1" dirty="0">
                <a:solidFill>
                  <a:srgbClr val="28633B"/>
                </a:solidFill>
                <a:latin typeface="Calibri" pitchFamily="34" charset="0"/>
                <a:ea typeface="Calibri" pitchFamily="34" charset="-122"/>
                <a:cs typeface="Calibri" pitchFamily="34" charset="-120"/>
              </a:rPr>
              <a:t>+2.0 ct</a:t>
            </a:r>
            <a:endParaRPr lang="en-US" sz="1200" dirty="0"/>
          </a:p>
        </p:txBody>
      </p:sp>
      <p:sp>
        <p:nvSpPr>
          <p:cNvPr id="17" name="Text 15"/>
          <p:cNvSpPr txBox="1"/>
          <p:nvPr/>
        </p:nvSpPr>
        <p:spPr>
          <a:xfrm>
            <a:off x="548640" y="2971800"/>
            <a:ext cx="2651760" cy="347472"/>
          </a:xfrm>
          <a:prstGeom prst="rect">
            <a:avLst/>
          </a:prstGeom>
          <a:noFill/>
          <a:ln/>
        </p:spPr>
        <p:txBody>
          <a:bodyPr wrap="square" lIns="0" tIns="0" rIns="0" bIns="0" rtlCol="0" anchor="ctr"/>
          <a:lstStyle/>
          <a:p>
            <a:pPr algn="r" indent="0" marL="0">
              <a:buNone/>
            </a:pPr>
            <a:r>
              <a:rPr lang="en-US" sz="1050" dirty="0">
                <a:solidFill>
                  <a:srgbClr val="1A1A17"/>
                </a:solidFill>
                <a:latin typeface="Calibri" pitchFamily="34" charset="0"/>
                <a:ea typeface="Calibri" pitchFamily="34" charset="-122"/>
                <a:cs typeface="Calibri" pitchFamily="34" charset="-120"/>
              </a:rPr>
              <a:t>Großwärmepumpe / Geothermie</a:t>
            </a:r>
            <a:endParaRPr lang="en-US" sz="1050" dirty="0"/>
          </a:p>
        </p:txBody>
      </p:sp>
      <p:sp>
        <p:nvSpPr>
          <p:cNvPr id="18" name="Shape 16"/>
          <p:cNvSpPr/>
          <p:nvPr/>
        </p:nvSpPr>
        <p:spPr>
          <a:xfrm>
            <a:off x="6461608" y="3081528"/>
            <a:ext cx="301142" cy="128016"/>
          </a:xfrm>
          <a:prstGeom prst="rect">
            <a:avLst/>
          </a:prstGeom>
          <a:solidFill>
            <a:srgbClr val="E4EEE3"/>
          </a:solidFill>
          <a:ln w="6350">
            <a:solidFill>
              <a:srgbClr val="28633B"/>
            </a:solidFill>
            <a:prstDash val="solid"/>
          </a:ln>
        </p:spPr>
      </p:sp>
      <p:sp>
        <p:nvSpPr>
          <p:cNvPr id="19" name="Shape 17"/>
          <p:cNvSpPr/>
          <p:nvPr/>
        </p:nvSpPr>
        <p:spPr>
          <a:xfrm>
            <a:off x="3246120" y="3035808"/>
            <a:ext cx="3215488" cy="219456"/>
          </a:xfrm>
          <a:prstGeom prst="rect">
            <a:avLst/>
          </a:prstGeom>
          <a:solidFill>
            <a:srgbClr val="1F5673"/>
          </a:solidFill>
          <a:ln w="12700">
            <a:solidFill>
              <a:srgbClr val="1F5673"/>
            </a:solidFill>
            <a:prstDash val="solid"/>
          </a:ln>
        </p:spPr>
      </p:sp>
      <p:sp>
        <p:nvSpPr>
          <p:cNvPr id="20" name="Text 18"/>
          <p:cNvSpPr txBox="1"/>
          <p:nvPr/>
        </p:nvSpPr>
        <p:spPr>
          <a:xfrm>
            <a:off x="5775808" y="2971800"/>
            <a:ext cx="640080" cy="347472"/>
          </a:xfrm>
          <a:prstGeom prst="rect">
            <a:avLst/>
          </a:prstGeom>
          <a:noFill/>
          <a:ln/>
        </p:spPr>
        <p:txBody>
          <a:bodyPr wrap="square" lIns="0" tIns="0" rIns="0" bIns="0"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16.23</a:t>
            </a:r>
            <a:endParaRPr lang="en-US" sz="1000" dirty="0"/>
          </a:p>
        </p:txBody>
      </p:sp>
      <p:sp>
        <p:nvSpPr>
          <p:cNvPr id="21" name="Text 19"/>
          <p:cNvSpPr txBox="1"/>
          <p:nvPr/>
        </p:nvSpPr>
        <p:spPr>
          <a:xfrm>
            <a:off x="8275320" y="2971800"/>
            <a:ext cx="822960" cy="347472"/>
          </a:xfrm>
          <a:prstGeom prst="rect">
            <a:avLst/>
          </a:prstGeom>
          <a:noFill/>
          <a:ln/>
        </p:spPr>
        <p:txBody>
          <a:bodyPr wrap="square" lIns="0" tIns="0" rIns="0" bIns="0" rtlCol="0" anchor="ctr"/>
          <a:lstStyle/>
          <a:p>
            <a:pPr indent="0" marL="0">
              <a:buNone/>
            </a:pPr>
            <a:r>
              <a:rPr lang="en-US" sz="1200" b="1" dirty="0">
                <a:solidFill>
                  <a:srgbClr val="28633B"/>
                </a:solidFill>
                <a:latin typeface="Calibri" pitchFamily="34" charset="0"/>
                <a:ea typeface="Calibri" pitchFamily="34" charset="-122"/>
                <a:cs typeface="Calibri" pitchFamily="34" charset="-120"/>
              </a:rPr>
              <a:t>+1.51 ct</a:t>
            </a:r>
            <a:endParaRPr lang="en-US" sz="1200" dirty="0"/>
          </a:p>
        </p:txBody>
      </p:sp>
      <p:sp>
        <p:nvSpPr>
          <p:cNvPr id="22" name="Text 20"/>
          <p:cNvSpPr txBox="1"/>
          <p:nvPr/>
        </p:nvSpPr>
        <p:spPr>
          <a:xfrm>
            <a:off x="548640" y="3429000"/>
            <a:ext cx="2651760" cy="347472"/>
          </a:xfrm>
          <a:prstGeom prst="rect">
            <a:avLst/>
          </a:prstGeom>
          <a:noFill/>
          <a:ln/>
        </p:spPr>
        <p:txBody>
          <a:bodyPr wrap="square" lIns="0" tIns="0" rIns="0" bIns="0" rtlCol="0" anchor="ctr"/>
          <a:lstStyle/>
          <a:p>
            <a:pPr algn="r" indent="0" marL="0">
              <a:buNone/>
            </a:pPr>
            <a:r>
              <a:rPr lang="en-US" sz="1050" dirty="0">
                <a:solidFill>
                  <a:srgbClr val="1A1A17"/>
                </a:solidFill>
                <a:latin typeface="Calibri" pitchFamily="34" charset="0"/>
                <a:ea typeface="Calibri" pitchFamily="34" charset="-122"/>
                <a:cs typeface="Calibri" pitchFamily="34" charset="-120"/>
              </a:rPr>
              <a:t>Gasvorlauf → Großwärmepumpe*</a:t>
            </a:r>
            <a:endParaRPr lang="en-US" sz="1050" dirty="0"/>
          </a:p>
        </p:txBody>
      </p:sp>
      <p:sp>
        <p:nvSpPr>
          <p:cNvPr id="23" name="Shape 21"/>
          <p:cNvSpPr/>
          <p:nvPr/>
        </p:nvSpPr>
        <p:spPr>
          <a:xfrm>
            <a:off x="6762750" y="3538728"/>
            <a:ext cx="158496" cy="128016"/>
          </a:xfrm>
          <a:prstGeom prst="rect">
            <a:avLst/>
          </a:prstGeom>
          <a:solidFill>
            <a:srgbClr val="F5E4E0"/>
          </a:solidFill>
          <a:ln w="6350">
            <a:solidFill>
              <a:srgbClr val="7A2E2E"/>
            </a:solidFill>
            <a:prstDash val="solid"/>
          </a:ln>
        </p:spPr>
      </p:sp>
      <p:sp>
        <p:nvSpPr>
          <p:cNvPr id="24" name="Shape 22"/>
          <p:cNvSpPr/>
          <p:nvPr/>
        </p:nvSpPr>
        <p:spPr>
          <a:xfrm>
            <a:off x="3246120" y="3493008"/>
            <a:ext cx="3675126" cy="219456"/>
          </a:xfrm>
          <a:prstGeom prst="rect">
            <a:avLst/>
          </a:prstGeom>
          <a:solidFill>
            <a:srgbClr val="7A2E2E"/>
          </a:solidFill>
          <a:ln w="12700">
            <a:solidFill>
              <a:srgbClr val="7A2E2E"/>
            </a:solidFill>
            <a:prstDash val="solid"/>
          </a:ln>
        </p:spPr>
      </p:sp>
      <p:sp>
        <p:nvSpPr>
          <p:cNvPr id="25" name="Text 23"/>
          <p:cNvSpPr txBox="1"/>
          <p:nvPr/>
        </p:nvSpPr>
        <p:spPr>
          <a:xfrm>
            <a:off x="6235446" y="3429000"/>
            <a:ext cx="640080" cy="347472"/>
          </a:xfrm>
          <a:prstGeom prst="rect">
            <a:avLst/>
          </a:prstGeom>
          <a:noFill/>
          <a:ln/>
        </p:spPr>
        <p:txBody>
          <a:bodyPr wrap="square" lIns="0" tIns="0" rIns="0" bIns="0"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18.55</a:t>
            </a:r>
            <a:endParaRPr lang="en-US" sz="1000" dirty="0"/>
          </a:p>
        </p:txBody>
      </p:sp>
      <p:sp>
        <p:nvSpPr>
          <p:cNvPr id="26" name="Text 24"/>
          <p:cNvSpPr txBox="1"/>
          <p:nvPr/>
        </p:nvSpPr>
        <p:spPr>
          <a:xfrm>
            <a:off x="8275320" y="3429000"/>
            <a:ext cx="822960" cy="347472"/>
          </a:xfrm>
          <a:prstGeom prst="rect">
            <a:avLst/>
          </a:prstGeom>
          <a:noFill/>
          <a:ln/>
        </p:spPr>
        <p:txBody>
          <a:bodyPr wrap="square" lIns="0" tIns="0" rIns="0" bIns="0" rtlCol="0" anchor="ctr"/>
          <a:lstStyle/>
          <a:p>
            <a:pPr indent="0" marL="0">
              <a:buNone/>
            </a:pPr>
            <a:r>
              <a:rPr lang="en-US" sz="1200" b="1" dirty="0">
                <a:solidFill>
                  <a:srgbClr val="7A2E2E"/>
                </a:solidFill>
                <a:latin typeface="Calibri" pitchFamily="34" charset="0"/>
                <a:ea typeface="Calibri" pitchFamily="34" charset="-122"/>
                <a:cs typeface="Calibri" pitchFamily="34" charset="-120"/>
              </a:rPr>
              <a:t>−0.8 ct</a:t>
            </a:r>
            <a:endParaRPr lang="en-US" sz="1200" dirty="0"/>
          </a:p>
        </p:txBody>
      </p:sp>
      <p:sp>
        <p:nvSpPr>
          <p:cNvPr id="27" name="Text 25"/>
          <p:cNvSpPr txBox="1"/>
          <p:nvPr/>
        </p:nvSpPr>
        <p:spPr>
          <a:xfrm>
            <a:off x="548640" y="3886200"/>
            <a:ext cx="2651760" cy="347472"/>
          </a:xfrm>
          <a:prstGeom prst="rect">
            <a:avLst/>
          </a:prstGeom>
          <a:noFill/>
          <a:ln/>
        </p:spPr>
        <p:txBody>
          <a:bodyPr wrap="square" lIns="0" tIns="0" rIns="0" bIns="0" rtlCol="0" anchor="ctr"/>
          <a:lstStyle/>
          <a:p>
            <a:pPr algn="r" indent="0" marL="0">
              <a:buNone/>
            </a:pPr>
            <a:r>
              <a:rPr lang="en-US" sz="1050" dirty="0">
                <a:solidFill>
                  <a:srgbClr val="1A1A17"/>
                </a:solidFill>
                <a:latin typeface="Calibri" pitchFamily="34" charset="0"/>
                <a:ea typeface="Calibri" pitchFamily="34" charset="-122"/>
                <a:cs typeface="Calibri" pitchFamily="34" charset="-120"/>
              </a:rPr>
              <a:t>Gas-KWK, fossil</a:t>
            </a:r>
            <a:endParaRPr lang="en-US" sz="1050" dirty="0"/>
          </a:p>
        </p:txBody>
      </p:sp>
      <p:sp>
        <p:nvSpPr>
          <p:cNvPr id="28" name="Shape 26"/>
          <p:cNvSpPr/>
          <p:nvPr/>
        </p:nvSpPr>
        <p:spPr>
          <a:xfrm>
            <a:off x="6762750" y="3995928"/>
            <a:ext cx="505206" cy="128016"/>
          </a:xfrm>
          <a:prstGeom prst="rect">
            <a:avLst/>
          </a:prstGeom>
          <a:solidFill>
            <a:srgbClr val="F5E4E0"/>
          </a:solidFill>
          <a:ln w="6350">
            <a:solidFill>
              <a:srgbClr val="7A2E2E"/>
            </a:solidFill>
            <a:prstDash val="solid"/>
          </a:ln>
        </p:spPr>
      </p:sp>
      <p:sp>
        <p:nvSpPr>
          <p:cNvPr id="29" name="Shape 27"/>
          <p:cNvSpPr/>
          <p:nvPr/>
        </p:nvSpPr>
        <p:spPr>
          <a:xfrm>
            <a:off x="3246120" y="3950208"/>
            <a:ext cx="4021836" cy="219456"/>
          </a:xfrm>
          <a:prstGeom prst="rect">
            <a:avLst/>
          </a:prstGeom>
          <a:solidFill>
            <a:srgbClr val="7A2E2E"/>
          </a:solidFill>
          <a:ln w="12700">
            <a:solidFill>
              <a:srgbClr val="7A2E2E"/>
            </a:solidFill>
            <a:prstDash val="solid"/>
          </a:ln>
        </p:spPr>
      </p:sp>
      <p:sp>
        <p:nvSpPr>
          <p:cNvPr id="30" name="Text 28"/>
          <p:cNvSpPr txBox="1"/>
          <p:nvPr/>
        </p:nvSpPr>
        <p:spPr>
          <a:xfrm>
            <a:off x="6582156" y="3886200"/>
            <a:ext cx="640080" cy="347472"/>
          </a:xfrm>
          <a:prstGeom prst="rect">
            <a:avLst/>
          </a:prstGeom>
          <a:noFill/>
          <a:ln/>
        </p:spPr>
        <p:txBody>
          <a:bodyPr wrap="square" lIns="0" tIns="0" rIns="0" bIns="0"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20.30</a:t>
            </a:r>
            <a:endParaRPr lang="en-US" sz="1000" dirty="0"/>
          </a:p>
        </p:txBody>
      </p:sp>
      <p:sp>
        <p:nvSpPr>
          <p:cNvPr id="31" name="Text 29"/>
          <p:cNvSpPr txBox="1"/>
          <p:nvPr/>
        </p:nvSpPr>
        <p:spPr>
          <a:xfrm>
            <a:off x="8275320" y="3886200"/>
            <a:ext cx="822960" cy="347472"/>
          </a:xfrm>
          <a:prstGeom prst="rect">
            <a:avLst/>
          </a:prstGeom>
          <a:noFill/>
          <a:ln/>
        </p:spPr>
        <p:txBody>
          <a:bodyPr wrap="square" lIns="0" tIns="0" rIns="0" bIns="0" rtlCol="0" anchor="ctr"/>
          <a:lstStyle/>
          <a:p>
            <a:pPr indent="0" marL="0">
              <a:buNone/>
            </a:pPr>
            <a:r>
              <a:rPr lang="en-US" sz="1200" b="1" dirty="0">
                <a:solidFill>
                  <a:srgbClr val="7A2E2E"/>
                </a:solidFill>
                <a:latin typeface="Calibri" pitchFamily="34" charset="0"/>
                <a:ea typeface="Calibri" pitchFamily="34" charset="-122"/>
                <a:cs typeface="Calibri" pitchFamily="34" charset="-120"/>
              </a:rPr>
              <a:t>−2.55 ct</a:t>
            </a:r>
            <a:endParaRPr lang="en-US" sz="1200" dirty="0"/>
          </a:p>
        </p:txBody>
      </p:sp>
      <p:sp>
        <p:nvSpPr>
          <p:cNvPr id="32" name="Shape 30"/>
          <p:cNvSpPr/>
          <p:nvPr/>
        </p:nvSpPr>
        <p:spPr>
          <a:xfrm>
            <a:off x="6762750" y="1965960"/>
            <a:ext cx="0" cy="2514600"/>
          </a:xfrm>
          <a:prstGeom prst="line">
            <a:avLst/>
          </a:prstGeom>
          <a:noFill/>
          <a:ln w="25400">
            <a:solidFill>
              <a:srgbClr val="0F5257"/>
            </a:solidFill>
            <a:prstDash val="solid"/>
          </a:ln>
        </p:spPr>
      </p:sp>
      <p:sp>
        <p:nvSpPr>
          <p:cNvPr id="33" name="Text 31"/>
          <p:cNvSpPr txBox="1"/>
          <p:nvPr/>
        </p:nvSpPr>
        <p:spPr>
          <a:xfrm>
            <a:off x="5848350" y="4480560"/>
            <a:ext cx="1828800" cy="228600"/>
          </a:xfrm>
          <a:prstGeom prst="rect">
            <a:avLst/>
          </a:prstGeom>
          <a:noFill/>
          <a:ln/>
        </p:spPr>
        <p:txBody>
          <a:bodyPr wrap="square" lIns="0" tIns="0" rIns="0" bIns="0" rtlCol="0" anchor="ctr"/>
          <a:lstStyle/>
          <a:p>
            <a:pPr algn="ctr" indent="0" marL="0">
              <a:buNone/>
            </a:pPr>
            <a:r>
              <a:rPr lang="en-US" sz="950" b="1" dirty="0">
                <a:solidFill>
                  <a:srgbClr val="0F5257"/>
                </a:solidFill>
                <a:latin typeface="Calibri" pitchFamily="34" charset="0"/>
                <a:ea typeface="Calibri" pitchFamily="34" charset="-122"/>
                <a:cs typeface="Calibri" pitchFamily="34" charset="-120"/>
              </a:rPr>
              <a:t>Wärmepumpe, Referenz 17.75</a:t>
            </a:r>
            <a:endParaRPr lang="en-US" sz="950" dirty="0"/>
          </a:p>
        </p:txBody>
      </p:sp>
      <p:sp>
        <p:nvSpPr>
          <p:cNvPr id="34" name="Text 32"/>
          <p:cNvSpPr txBox="1"/>
          <p:nvPr/>
        </p:nvSpPr>
        <p:spPr>
          <a:xfrm>
            <a:off x="8275320" y="1783080"/>
            <a:ext cx="1097280" cy="274320"/>
          </a:xfrm>
          <a:prstGeom prst="rect">
            <a:avLst/>
          </a:prstGeom>
          <a:noFill/>
          <a:ln/>
        </p:spPr>
        <p:txBody>
          <a:bodyPr wrap="square" lIns="0" tIns="0" rIns="0" bIns="0" rtlCol="0" anchor="ctr"/>
          <a:lstStyle/>
          <a:p>
            <a:pPr indent="0" marL="0">
              <a:buNone/>
            </a:pPr>
            <a:r>
              <a:rPr lang="en-US" sz="950" b="1" dirty="0">
                <a:solidFill>
                  <a:srgbClr val="56534B"/>
                </a:solidFill>
                <a:latin typeface="Calibri" pitchFamily="34" charset="0"/>
                <a:ea typeface="Calibri" pitchFamily="34" charset="-122"/>
                <a:cs typeface="Calibri" pitchFamily="34" charset="-120"/>
              </a:rPr>
              <a:t>Budget fürs Netz</a:t>
            </a:r>
            <a:endParaRPr lang="en-US" sz="950" dirty="0"/>
          </a:p>
        </p:txBody>
      </p:sp>
      <p:sp>
        <p:nvSpPr>
          <p:cNvPr id="35" name="Text 33"/>
          <p:cNvSpPr txBox="1"/>
          <p:nvPr/>
        </p:nvSpPr>
        <p:spPr>
          <a:xfrm>
            <a:off x="548640" y="4754880"/>
            <a:ext cx="8503920" cy="457200"/>
          </a:xfrm>
          <a:prstGeom prst="rect">
            <a:avLst/>
          </a:prstGeom>
          <a:noFill/>
          <a:ln/>
        </p:spPr>
        <p:txBody>
          <a:bodyPr wrap="square" lIns="0" tIns="0" rIns="0" bIns="0" rtlCol="0" anchor="t"/>
          <a:lstStyle/>
          <a:p>
            <a:pPr indent="0" marL="0">
              <a:buNone/>
            </a:pPr>
            <a:r>
              <a:rPr lang="en-US" sz="850" dirty="0">
                <a:solidFill>
                  <a:srgbClr val="56534B"/>
                </a:solidFill>
                <a:latin typeface="Calibri" pitchFamily="34" charset="0"/>
                <a:ea typeface="Calibri" pitchFamily="34" charset="-122"/>
                <a:cs typeface="Calibri" pitchFamily="34" charset="-120"/>
              </a:rPr>
              <a:t>* Gasvorlauf barwertgewichtet: Gasanlage ~19 Jahre Perspektive (WPG), Netz 50; das Netz wird zu 44 % von der Nachfolgequelle getragen. Sockel hergeleitet aus den Vorlaufkosten des Papiers (5.7 bzw. 2.3 ct über dem Nachfolgesockel). Abschnitt 4.3, 7, A.7.</a:t>
            </a:r>
            <a:endParaRPr lang="en-US" sz="850" dirty="0"/>
          </a:p>
        </p:txBody>
      </p:sp>
      <p:sp>
        <p:nvSpPr>
          <p:cNvPr id="36" name="Shape 34"/>
          <p:cNvSpPr/>
          <p:nvPr/>
        </p:nvSpPr>
        <p:spPr>
          <a:xfrm>
            <a:off x="9326880" y="1645920"/>
            <a:ext cx="2286000" cy="3566160"/>
          </a:xfrm>
          <a:prstGeom prst="roundRect">
            <a:avLst>
              <a:gd name="adj" fmla="val 3200"/>
            </a:avLst>
          </a:prstGeom>
          <a:solidFill>
            <a:srgbClr val="DEE9E8"/>
          </a:solidFill>
          <a:ln w="12700">
            <a:solidFill>
              <a:srgbClr val="DEE9E8"/>
            </a:solidFill>
            <a:prstDash val="solid"/>
          </a:ln>
        </p:spPr>
      </p:sp>
      <p:sp>
        <p:nvSpPr>
          <p:cNvPr id="37" name="Text 35"/>
          <p:cNvSpPr txBox="1"/>
          <p:nvPr/>
        </p:nvSpPr>
        <p:spPr>
          <a:xfrm>
            <a:off x="9464040" y="1755648"/>
            <a:ext cx="2057400" cy="320040"/>
          </a:xfrm>
          <a:prstGeom prst="rect">
            <a:avLst/>
          </a:prstGeom>
          <a:noFill/>
          <a:ln/>
        </p:spPr>
        <p:txBody>
          <a:bodyPr wrap="square" lIns="0" tIns="0" rIns="0" bIns="0" rtlCol="0" anchor="ctr"/>
          <a:lstStyle/>
          <a:p>
            <a:pPr indent="0" marL="0">
              <a:buNone/>
            </a:pPr>
            <a:r>
              <a:rPr lang="en-US" sz="1200" b="1" dirty="0">
                <a:solidFill>
                  <a:srgbClr val="0F5257"/>
                </a:solidFill>
                <a:latin typeface="Calibri" pitchFamily="34" charset="0"/>
                <a:ea typeface="Calibri" pitchFamily="34" charset="-122"/>
                <a:cs typeface="Calibri" pitchFamily="34" charset="-120"/>
              </a:rPr>
              <a:t>Schritt 2: Das Budget</a:t>
            </a:r>
            <a:endParaRPr lang="en-US" sz="1200" dirty="0"/>
          </a:p>
        </p:txBody>
      </p:sp>
      <p:sp>
        <p:nvSpPr>
          <p:cNvPr id="38" name="Text 36"/>
          <p:cNvSpPr txBox="1"/>
          <p:nvPr/>
        </p:nvSpPr>
        <p:spPr>
          <a:xfrm>
            <a:off x="9464040" y="2103120"/>
            <a:ext cx="2057400" cy="3017520"/>
          </a:xfrm>
          <a:prstGeom prst="rect">
            <a:avLst/>
          </a:prstGeom>
          <a:noFill/>
          <a:ln/>
        </p:spPr>
        <p:txBody>
          <a:bodyPr wrap="square" lIns="0" tIns="0" rIns="0" bIns="0" rtlCol="0" anchor="t"/>
          <a:lstStyle/>
          <a:p>
            <a:pPr indent="0" marL="0">
              <a:buNone/>
            </a:pPr>
            <a:r>
              <a:rPr lang="en-US" sz="1050" b="1" dirty="0">
                <a:solidFill>
                  <a:srgbClr val="1A1A17"/>
                </a:solidFill>
                <a:latin typeface="Calibri" pitchFamily="34" charset="0"/>
                <a:ea typeface="Calibri" pitchFamily="34" charset="-122"/>
                <a:cs typeface="Calibri" pitchFamily="34" charset="-120"/>
              </a:rPr>
              <a:t>Budget = WP-Referenz − Sockel</a:t>
            </a:r>
            <a:endParaRPr lang="en-US" sz="1050" dirty="0"/>
          </a:p>
          <a:p>
            <a:pPr indent="0" marL="0">
              <a:buNone/>
            </a:pPr>
            <a:r>
              <a:rPr lang="en-US" sz="500" dirty="0">
                <a:solidFill>
                  <a:srgbClr val="1A1A17"/>
                </a:solidFill>
                <a:latin typeface="Calibri" pitchFamily="34" charset="0"/>
                <a:ea typeface="Calibri" pitchFamily="34" charset="-122"/>
                <a:cs typeface="Calibri" pitchFamily="34" charset="-120"/>
              </a:rPr>
              <a:t> </a:t>
            </a:r>
            <a:endParaRPr lang="en-US" sz="1050" dirty="0"/>
          </a:p>
          <a:p>
            <a:pPr indent="0" marL="0">
              <a:buNone/>
            </a:pPr>
            <a:r>
              <a:rPr lang="en-US" sz="1050" dirty="0">
                <a:solidFill>
                  <a:srgbClr val="1A1A17"/>
                </a:solidFill>
                <a:latin typeface="Calibri" pitchFamily="34" charset="0"/>
                <a:ea typeface="Calibri" pitchFamily="34" charset="-122"/>
                <a:cs typeface="Calibri" pitchFamily="34" charset="-120"/>
              </a:rPr>
              <a:t>Das ist, was ein Netz je kWh für Trasse, Hausanschluss und Verluste ausgeben darf, bevor die Wärmepumpe billiger ist.</a:t>
            </a:r>
            <a:endParaRPr lang="en-US" sz="1050" dirty="0"/>
          </a:p>
          <a:p>
            <a:pPr indent="0" marL="0">
              <a:buNone/>
            </a:pPr>
            <a:r>
              <a:rPr lang="en-US" sz="500" dirty="0">
                <a:solidFill>
                  <a:srgbClr val="1A1A17"/>
                </a:solidFill>
                <a:latin typeface="Calibri" pitchFamily="34" charset="0"/>
                <a:ea typeface="Calibri" pitchFamily="34" charset="-122"/>
                <a:cs typeface="Calibri" pitchFamily="34" charset="-120"/>
              </a:rPr>
              <a:t> </a:t>
            </a:r>
            <a:endParaRPr lang="en-US" sz="1050" dirty="0"/>
          </a:p>
          <a:p>
            <a:pPr indent="0" marL="0">
              <a:buNone/>
            </a:pPr>
            <a:r>
              <a:rPr lang="en-US" sz="1050" b="1" dirty="0">
                <a:solidFill>
                  <a:srgbClr val="28633B"/>
                </a:solidFill>
                <a:latin typeface="Calibri" pitchFamily="34" charset="0"/>
                <a:ea typeface="Calibri" pitchFamily="34" charset="-122"/>
                <a:cs typeface="Calibri" pitchFamily="34" charset="-120"/>
              </a:rPr>
              <a:t>Positiv: </a:t>
            </a:r>
            <a:pPr indent="0" marL="0">
              <a:buNone/>
            </a:pPr>
            <a:r>
              <a:rPr lang="en-US" sz="1050" dirty="0">
                <a:solidFill>
                  <a:srgbClr val="1A1A17"/>
                </a:solidFill>
                <a:latin typeface="Calibri" pitchFamily="34" charset="0"/>
                <a:ea typeface="Calibri" pitchFamily="34" charset="-122"/>
                <a:cs typeface="Calibri" pitchFamily="34" charset="-120"/>
              </a:rPr>
              <a:t>das Vorzeichen erlaubt ein Netz – die Dichte entscheidet, ob es reicht.</a:t>
            </a:r>
            <a:endParaRPr lang="en-US" sz="1050" dirty="0"/>
          </a:p>
          <a:p>
            <a:pPr indent="0" marL="0">
              <a:buNone/>
            </a:pPr>
            <a:r>
              <a:rPr lang="en-US" sz="500" dirty="0">
                <a:solidFill>
                  <a:srgbClr val="1A1A17"/>
                </a:solidFill>
                <a:latin typeface="Calibri" pitchFamily="34" charset="0"/>
                <a:ea typeface="Calibri" pitchFamily="34" charset="-122"/>
                <a:cs typeface="Calibri" pitchFamily="34" charset="-120"/>
              </a:rPr>
              <a:t> </a:t>
            </a:r>
            <a:endParaRPr lang="en-US" sz="1050" dirty="0"/>
          </a:p>
          <a:p>
            <a:pPr indent="0" marL="0">
              <a:buNone/>
            </a:pPr>
            <a:r>
              <a:rPr lang="en-US" sz="1050" b="1" dirty="0">
                <a:solidFill>
                  <a:srgbClr val="7A2E2E"/>
                </a:solidFill>
                <a:latin typeface="Calibri" pitchFamily="34" charset="0"/>
                <a:ea typeface="Calibri" pitchFamily="34" charset="-122"/>
                <a:cs typeface="Calibri" pitchFamily="34" charset="-120"/>
              </a:rPr>
              <a:t>Negativ: </a:t>
            </a:r>
            <a:pPr indent="0" marL="0">
              <a:buNone/>
            </a:pPr>
            <a:r>
              <a:rPr lang="en-US" sz="1050" dirty="0">
                <a:solidFill>
                  <a:srgbClr val="1A1A17"/>
                </a:solidFill>
                <a:latin typeface="Calibri" pitchFamily="34" charset="0"/>
                <a:ea typeface="Calibri" pitchFamily="34" charset="-122"/>
                <a:cs typeface="Calibri" pitchFamily="34" charset="-120"/>
              </a:rPr>
              <a:t>das Netz verliert vor dem ersten Meter Trasse – bei jeder Dichte.</a:t>
            </a:r>
            <a:endParaRPr lang="en-US" sz="1050" dirty="0"/>
          </a:p>
        </p:txBody>
      </p:sp>
      <p:sp>
        <p:nvSpPr>
          <p:cNvPr id="39" name="Shape 37"/>
          <p:cNvSpPr/>
          <p:nvPr/>
        </p:nvSpPr>
        <p:spPr>
          <a:xfrm>
            <a:off x="548640" y="5440680"/>
            <a:ext cx="11064240" cy="822960"/>
          </a:xfrm>
          <a:prstGeom prst="roundRect">
            <a:avLst>
              <a:gd name="adj" fmla="val 8889"/>
            </a:avLst>
          </a:prstGeom>
          <a:solidFill>
            <a:srgbClr val="EFEBE1"/>
          </a:solidFill>
          <a:ln w="9525">
            <a:solidFill>
              <a:srgbClr val="C9C3B4"/>
            </a:solidFill>
            <a:prstDash val="solid"/>
          </a:ln>
        </p:spPr>
      </p:sp>
      <p:sp>
        <p:nvSpPr>
          <p:cNvPr id="40" name="Text 38"/>
          <p:cNvSpPr txBox="1"/>
          <p:nvPr/>
        </p:nvSpPr>
        <p:spPr>
          <a:xfrm>
            <a:off x="731520" y="5440680"/>
            <a:ext cx="10698480" cy="822960"/>
          </a:xfrm>
          <a:prstGeom prst="rect">
            <a:avLst/>
          </a:prstGeom>
          <a:noFill/>
          <a:ln/>
        </p:spPr>
        <p:txBody>
          <a:bodyPr wrap="square" lIns="0" tIns="0" rIns="0" bIns="0" rtlCol="0" anchor="ctr"/>
          <a:lstStyle/>
          <a:p>
            <a:pPr indent="0" marL="0">
              <a:buNone/>
            </a:pPr>
            <a:r>
              <a:rPr lang="en-US" sz="1250" b="1" dirty="0">
                <a:solidFill>
                  <a:srgbClr val="0F5257"/>
                </a:solidFill>
                <a:latin typeface="Calibri" pitchFamily="34" charset="0"/>
                <a:ea typeface="Calibri" pitchFamily="34" charset="-122"/>
                <a:cs typeface="Calibri" pitchFamily="34" charset="-120"/>
              </a:rPr>
              <a:t>Was das heißt: </a:t>
            </a:r>
            <a:pPr indent="0" marL="0">
              <a:buNone/>
            </a:pPr>
            <a:r>
              <a:rPr lang="en-US" sz="1250" dirty="0">
                <a:solidFill>
                  <a:srgbClr val="1A1A17"/>
                </a:solidFill>
                <a:latin typeface="Calibri" pitchFamily="34" charset="0"/>
                <a:ea typeface="Calibri" pitchFamily="34" charset="-122"/>
                <a:cs typeface="Calibri" pitchFamily="34" charset="-120"/>
              </a:rPr>
              <a:t>Erst der Sockel, dann die Dichte. Nur wo die Quelle billiger Wärme erzeugt als die Wärmepumpe, bleibt Geld fürs Netz übrig – und das entscheidet das Vorzeichen, nicht die Bebauung.</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TEIL II · METHODE IN 30 SEKUNDEN</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Wie gerechnet wurde – und was die Wärmeliniendichte ist</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5" name="Text 3"/>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548640" y="1719072"/>
            <a:ext cx="402336" cy="402336"/>
          </a:xfrm>
          <a:prstGeom prst="ellipse">
            <a:avLst/>
          </a:prstGeom>
          <a:solidFill>
            <a:srgbClr val="E4EEE3"/>
          </a:solidFill>
          <a:ln w="12700">
            <a:solidFill>
              <a:srgbClr val="E4EEE3"/>
            </a:solidFill>
            <a:prstDash val="solid"/>
          </a:ln>
        </p:spPr>
      </p:sp>
      <p:pic>
        <p:nvPicPr>
          <p:cNvPr id="7" name="Image 0" descr="preencoded.png">    </p:cNvPr>
          <p:cNvPicPr>
            <a:picLocks noChangeAspect="1"/>
          </p:cNvPicPr>
          <p:nvPr/>
        </p:nvPicPr>
        <p:blipFill>
          <a:blip r:embed="rId1"/>
          <a:stretch>
            <a:fillRect/>
          </a:stretch>
        </p:blipFill>
        <p:spPr>
          <a:xfrm>
            <a:off x="640080" y="1810512"/>
            <a:ext cx="219456" cy="219456"/>
          </a:xfrm>
          <a:prstGeom prst="rect">
            <a:avLst/>
          </a:prstGeom>
        </p:spPr>
      </p:pic>
      <p:sp>
        <p:nvSpPr>
          <p:cNvPr id="8" name="Text 5"/>
          <p:cNvSpPr txBox="1"/>
          <p:nvPr/>
        </p:nvSpPr>
        <p:spPr>
          <a:xfrm>
            <a:off x="1078992" y="1691640"/>
            <a:ext cx="5120640" cy="274320"/>
          </a:xfrm>
          <a:prstGeom prst="rect">
            <a:avLst/>
          </a:prstGeom>
          <a:noFill/>
          <a:ln/>
        </p:spPr>
        <p:txBody>
          <a:bodyPr wrap="square" lIns="0" tIns="0" rIns="0" bIns="0" rtlCol="0" anchor="ctr"/>
          <a:lstStyle/>
          <a:p>
            <a:pPr indent="0" marL="0">
              <a:buNone/>
            </a:pPr>
            <a:r>
              <a:rPr lang="en-US" sz="1200" b="1" dirty="0">
                <a:solidFill>
                  <a:srgbClr val="1A1A17"/>
                </a:solidFill>
                <a:latin typeface="Calibri" pitchFamily="34" charset="0"/>
                <a:ea typeface="Calibri" pitchFamily="34" charset="-122"/>
                <a:cs typeface="Calibri" pitchFamily="34" charset="-120"/>
              </a:rPr>
              <a:t>Vollkosten beider Pfade an derselben Systemgrenze</a:t>
            </a:r>
            <a:endParaRPr lang="en-US" sz="1200" dirty="0"/>
          </a:p>
        </p:txBody>
      </p:sp>
      <p:sp>
        <p:nvSpPr>
          <p:cNvPr id="9" name="Text 6"/>
          <p:cNvSpPr txBox="1"/>
          <p:nvPr/>
        </p:nvSpPr>
        <p:spPr>
          <a:xfrm>
            <a:off x="1078992" y="1965960"/>
            <a:ext cx="5120640" cy="384048"/>
          </a:xfrm>
          <a:prstGeom prst="rect">
            <a:avLst/>
          </a:prstGeom>
          <a:noFill/>
          <a:ln/>
        </p:spPr>
        <p:txBody>
          <a:bodyPr wrap="square" lIns="0" tIns="0" rIns="0" bIns="0" rtlCol="0" anchor="t"/>
          <a:lstStyle/>
          <a:p>
            <a:pPr indent="0" marL="0">
              <a:buNone/>
            </a:pPr>
            <a:r>
              <a:rPr lang="en-US" sz="1000" dirty="0">
                <a:solidFill>
                  <a:srgbClr val="56534B"/>
                </a:solidFill>
                <a:latin typeface="Calibri" pitchFamily="34" charset="0"/>
                <a:ea typeface="Calibri" pitchFamily="34" charset="-122"/>
                <a:cs typeface="Calibri" pitchFamily="34" charset="-120"/>
              </a:rPr>
              <a:t>Annuität nach VDI 2067, 3 % Realzins, Ersatzinvestitionen eingepreist, ohne Förderung</a:t>
            </a:r>
            <a:endParaRPr lang="en-US" sz="1000" dirty="0"/>
          </a:p>
        </p:txBody>
      </p:sp>
      <p:sp>
        <p:nvSpPr>
          <p:cNvPr id="10" name="Shape 7"/>
          <p:cNvSpPr/>
          <p:nvPr/>
        </p:nvSpPr>
        <p:spPr>
          <a:xfrm>
            <a:off x="548640" y="2432304"/>
            <a:ext cx="402336" cy="402336"/>
          </a:xfrm>
          <a:prstGeom prst="ellipse">
            <a:avLst/>
          </a:prstGeom>
          <a:solidFill>
            <a:srgbClr val="E4EEE3"/>
          </a:solidFill>
          <a:ln w="12700">
            <a:solidFill>
              <a:srgbClr val="E4EEE3"/>
            </a:solidFill>
            <a:prstDash val="solid"/>
          </a:ln>
        </p:spPr>
      </p:sp>
      <p:pic>
        <p:nvPicPr>
          <p:cNvPr id="11" name="Image 1" descr="preencoded.png">    </p:cNvPr>
          <p:cNvPicPr>
            <a:picLocks noChangeAspect="1"/>
          </p:cNvPicPr>
          <p:nvPr/>
        </p:nvPicPr>
        <p:blipFill>
          <a:blip r:embed="rId2"/>
          <a:stretch>
            <a:fillRect/>
          </a:stretch>
        </p:blipFill>
        <p:spPr>
          <a:xfrm>
            <a:off x="640080" y="2523744"/>
            <a:ext cx="219456" cy="219456"/>
          </a:xfrm>
          <a:prstGeom prst="rect">
            <a:avLst/>
          </a:prstGeom>
        </p:spPr>
      </p:pic>
      <p:sp>
        <p:nvSpPr>
          <p:cNvPr id="12" name="Text 8"/>
          <p:cNvSpPr txBox="1"/>
          <p:nvPr/>
        </p:nvSpPr>
        <p:spPr>
          <a:xfrm>
            <a:off x="1078992" y="2404872"/>
            <a:ext cx="5120640" cy="274320"/>
          </a:xfrm>
          <a:prstGeom prst="rect">
            <a:avLst/>
          </a:prstGeom>
          <a:noFill/>
          <a:ln/>
        </p:spPr>
        <p:txBody>
          <a:bodyPr wrap="square" lIns="0" tIns="0" rIns="0" bIns="0" rtlCol="0" anchor="ctr"/>
          <a:lstStyle/>
          <a:p>
            <a:pPr indent="0" marL="0">
              <a:buNone/>
            </a:pPr>
            <a:r>
              <a:rPr lang="en-US" sz="1200" b="1" dirty="0">
                <a:solidFill>
                  <a:srgbClr val="1A1A17"/>
                </a:solidFill>
                <a:latin typeface="Calibri" pitchFamily="34" charset="0"/>
                <a:ea typeface="Calibri" pitchFamily="34" charset="-122"/>
                <a:cs typeface="Calibri" pitchFamily="34" charset="-120"/>
              </a:rPr>
              <a:t>Wärmepumpe auf europäisches Niveau normalisiert</a:t>
            </a:r>
            <a:endParaRPr lang="en-US" sz="1200" dirty="0"/>
          </a:p>
        </p:txBody>
      </p:sp>
      <p:sp>
        <p:nvSpPr>
          <p:cNvPr id="13" name="Text 9"/>
          <p:cNvSpPr txBox="1"/>
          <p:nvPr/>
        </p:nvSpPr>
        <p:spPr>
          <a:xfrm>
            <a:off x="1078992" y="2679192"/>
            <a:ext cx="5120640" cy="384048"/>
          </a:xfrm>
          <a:prstGeom prst="rect">
            <a:avLst/>
          </a:prstGeom>
          <a:noFill/>
          <a:ln/>
        </p:spPr>
        <p:txBody>
          <a:bodyPr wrap="square" lIns="0" tIns="0" rIns="0" bIns="0" rtlCol="0" anchor="t"/>
          <a:lstStyle/>
          <a:p>
            <a:pPr indent="0" marL="0">
              <a:buNone/>
            </a:pPr>
            <a:r>
              <a:rPr lang="en-US" sz="1000" dirty="0">
                <a:solidFill>
                  <a:srgbClr val="56534B"/>
                </a:solidFill>
                <a:latin typeface="Calibri" pitchFamily="34" charset="0"/>
                <a:ea typeface="Calibri" pitchFamily="34" charset="-122"/>
                <a:cs typeface="Calibri" pitchFamily="34" charset="-120"/>
              </a:rPr>
              <a:t>16'660 € brutto → 17.75 ct/kWh; heutiges DE-Niveau 23.73 ct nur als Vergleich</a:t>
            </a:r>
            <a:endParaRPr lang="en-US" sz="1000" dirty="0"/>
          </a:p>
        </p:txBody>
      </p:sp>
      <p:sp>
        <p:nvSpPr>
          <p:cNvPr id="14" name="Shape 10"/>
          <p:cNvSpPr/>
          <p:nvPr/>
        </p:nvSpPr>
        <p:spPr>
          <a:xfrm>
            <a:off x="548640" y="3145536"/>
            <a:ext cx="402336" cy="402336"/>
          </a:xfrm>
          <a:prstGeom prst="ellipse">
            <a:avLst/>
          </a:prstGeom>
          <a:solidFill>
            <a:srgbClr val="E4EEE3"/>
          </a:solidFill>
          <a:ln w="12700">
            <a:solidFill>
              <a:srgbClr val="E4EEE3"/>
            </a:solidFill>
            <a:prstDash val="solid"/>
          </a:ln>
        </p:spPr>
      </p:sp>
      <p:pic>
        <p:nvPicPr>
          <p:cNvPr id="15" name="Image 2" descr="preencoded.png">    </p:cNvPr>
          <p:cNvPicPr>
            <a:picLocks noChangeAspect="1"/>
          </p:cNvPicPr>
          <p:nvPr/>
        </p:nvPicPr>
        <p:blipFill>
          <a:blip r:embed="rId3"/>
          <a:stretch>
            <a:fillRect/>
          </a:stretch>
        </p:blipFill>
        <p:spPr>
          <a:xfrm>
            <a:off x="640080" y="3236976"/>
            <a:ext cx="219456" cy="219456"/>
          </a:xfrm>
          <a:prstGeom prst="rect">
            <a:avLst/>
          </a:prstGeom>
        </p:spPr>
      </p:pic>
      <p:sp>
        <p:nvSpPr>
          <p:cNvPr id="16" name="Text 11"/>
          <p:cNvSpPr txBox="1"/>
          <p:nvPr/>
        </p:nvSpPr>
        <p:spPr>
          <a:xfrm>
            <a:off x="1078992" y="3118104"/>
            <a:ext cx="5120640" cy="274320"/>
          </a:xfrm>
          <a:prstGeom prst="rect">
            <a:avLst/>
          </a:prstGeom>
          <a:noFill/>
          <a:ln/>
        </p:spPr>
        <p:txBody>
          <a:bodyPr wrap="square" lIns="0" tIns="0" rIns="0" bIns="0" rtlCol="0" anchor="ctr"/>
          <a:lstStyle/>
          <a:p>
            <a:pPr indent="0" marL="0">
              <a:buNone/>
            </a:pPr>
            <a:r>
              <a:rPr lang="en-US" sz="1200" b="1" dirty="0">
                <a:solidFill>
                  <a:srgbClr val="1A1A17"/>
                </a:solidFill>
                <a:latin typeface="Calibri" pitchFamily="34" charset="0"/>
                <a:ea typeface="Calibri" pitchFamily="34" charset="-122"/>
                <a:cs typeface="Calibri" pitchFamily="34" charset="-120"/>
              </a:rPr>
              <a:t>Trassenkosten aus der AGFW-Praxishilfe</a:t>
            </a:r>
            <a:endParaRPr lang="en-US" sz="1200" dirty="0"/>
          </a:p>
        </p:txBody>
      </p:sp>
      <p:sp>
        <p:nvSpPr>
          <p:cNvPr id="17" name="Text 12"/>
          <p:cNvSpPr txBox="1"/>
          <p:nvPr/>
        </p:nvSpPr>
        <p:spPr>
          <a:xfrm>
            <a:off x="1078992" y="3392424"/>
            <a:ext cx="5120640" cy="384048"/>
          </a:xfrm>
          <a:prstGeom prst="rect">
            <a:avLst/>
          </a:prstGeom>
          <a:noFill/>
          <a:ln/>
        </p:spPr>
        <p:txBody>
          <a:bodyPr wrap="square" lIns="0" tIns="0" rIns="0" bIns="0" rtlCol="0" anchor="t"/>
          <a:lstStyle/>
          <a:p>
            <a:pPr indent="0" marL="0">
              <a:buNone/>
            </a:pPr>
            <a:r>
              <a:rPr lang="en-US" sz="1000" dirty="0">
                <a:solidFill>
                  <a:srgbClr val="56534B"/>
                </a:solidFill>
                <a:latin typeface="Calibri" pitchFamily="34" charset="0"/>
                <a:ea typeface="Calibri" pitchFamily="34" charset="-122"/>
                <a:cs typeface="Calibri" pitchFamily="34" charset="-120"/>
              </a:rPr>
              <a:t>677 / 1'692 / 3'554 € je Meter (unbefestigt / Bestandsstraße / Innenstadt), Baupreisindex bis Mai 2026</a:t>
            </a:r>
            <a:endParaRPr lang="en-US" sz="1000" dirty="0"/>
          </a:p>
        </p:txBody>
      </p:sp>
      <p:sp>
        <p:nvSpPr>
          <p:cNvPr id="18" name="Shape 13"/>
          <p:cNvSpPr/>
          <p:nvPr/>
        </p:nvSpPr>
        <p:spPr>
          <a:xfrm>
            <a:off x="548640" y="3858768"/>
            <a:ext cx="402336" cy="402336"/>
          </a:xfrm>
          <a:prstGeom prst="ellipse">
            <a:avLst/>
          </a:prstGeom>
          <a:solidFill>
            <a:srgbClr val="E4EEE3"/>
          </a:solidFill>
          <a:ln w="12700">
            <a:solidFill>
              <a:srgbClr val="E4EEE3"/>
            </a:solidFill>
            <a:prstDash val="solid"/>
          </a:ln>
        </p:spPr>
      </p:sp>
      <p:pic>
        <p:nvPicPr>
          <p:cNvPr id="19" name="Image 3" descr="preencoded.png">    </p:cNvPr>
          <p:cNvPicPr>
            <a:picLocks noChangeAspect="1"/>
          </p:cNvPicPr>
          <p:nvPr/>
        </p:nvPicPr>
        <p:blipFill>
          <a:blip r:embed="rId4"/>
          <a:stretch>
            <a:fillRect/>
          </a:stretch>
        </p:blipFill>
        <p:spPr>
          <a:xfrm>
            <a:off x="640080" y="3950208"/>
            <a:ext cx="219456" cy="219456"/>
          </a:xfrm>
          <a:prstGeom prst="rect">
            <a:avLst/>
          </a:prstGeom>
        </p:spPr>
      </p:pic>
      <p:sp>
        <p:nvSpPr>
          <p:cNvPr id="20" name="Text 14"/>
          <p:cNvSpPr txBox="1"/>
          <p:nvPr/>
        </p:nvSpPr>
        <p:spPr>
          <a:xfrm>
            <a:off x="1078992" y="3831336"/>
            <a:ext cx="5120640" cy="274320"/>
          </a:xfrm>
          <a:prstGeom prst="rect">
            <a:avLst/>
          </a:prstGeom>
          <a:noFill/>
          <a:ln/>
        </p:spPr>
        <p:txBody>
          <a:bodyPr wrap="square" lIns="0" tIns="0" rIns="0" bIns="0" rtlCol="0" anchor="ctr"/>
          <a:lstStyle/>
          <a:p>
            <a:pPr indent="0" marL="0">
              <a:buNone/>
            </a:pPr>
            <a:r>
              <a:rPr lang="en-US" sz="1200" b="1" dirty="0">
                <a:solidFill>
                  <a:srgbClr val="1A1A17"/>
                </a:solidFill>
                <a:latin typeface="Calibri" pitchFamily="34" charset="0"/>
                <a:ea typeface="Calibri" pitchFamily="34" charset="-122"/>
                <a:cs typeface="Calibri" pitchFamily="34" charset="-120"/>
              </a:rPr>
              <a:t>Dichteschwelle berechnet statt gesetzt</a:t>
            </a:r>
            <a:endParaRPr lang="en-US" sz="1200" dirty="0"/>
          </a:p>
        </p:txBody>
      </p:sp>
      <p:sp>
        <p:nvSpPr>
          <p:cNvPr id="21" name="Text 15"/>
          <p:cNvSpPr txBox="1"/>
          <p:nvPr/>
        </p:nvSpPr>
        <p:spPr>
          <a:xfrm>
            <a:off x="1078992" y="4105656"/>
            <a:ext cx="5120640" cy="384048"/>
          </a:xfrm>
          <a:prstGeom prst="rect">
            <a:avLst/>
          </a:prstGeom>
          <a:noFill/>
          <a:ln/>
        </p:spPr>
        <p:txBody>
          <a:bodyPr wrap="square" lIns="0" tIns="0" rIns="0" bIns="0" rtlCol="0" anchor="t"/>
          <a:lstStyle/>
          <a:p>
            <a:pPr indent="0" marL="0">
              <a:buNone/>
            </a:pPr>
            <a:r>
              <a:rPr lang="en-US" sz="1000" dirty="0">
                <a:solidFill>
                  <a:srgbClr val="56534B"/>
                </a:solidFill>
                <a:latin typeface="Calibri" pitchFamily="34" charset="0"/>
                <a:ea typeface="Calibri" pitchFamily="34" charset="-122"/>
                <a:cs typeface="Calibri" pitchFamily="34" charset="-120"/>
              </a:rPr>
              <a:t>Schwelle = Netzkosten je Trassenmeter und Jahr ÷ Budget; fünf Gebäudetypen, Netzausbau und vorhandenes Netz</a:t>
            </a:r>
            <a:endParaRPr lang="en-US" sz="1000" dirty="0"/>
          </a:p>
        </p:txBody>
      </p:sp>
      <p:sp>
        <p:nvSpPr>
          <p:cNvPr id="22" name="Shape 16"/>
          <p:cNvSpPr/>
          <p:nvPr/>
        </p:nvSpPr>
        <p:spPr>
          <a:xfrm>
            <a:off x="548640" y="4572000"/>
            <a:ext cx="402336" cy="402336"/>
          </a:xfrm>
          <a:prstGeom prst="ellipse">
            <a:avLst/>
          </a:prstGeom>
          <a:solidFill>
            <a:srgbClr val="E4EEE3"/>
          </a:solidFill>
          <a:ln w="12700">
            <a:solidFill>
              <a:srgbClr val="E4EEE3"/>
            </a:solidFill>
            <a:prstDash val="solid"/>
          </a:ln>
        </p:spPr>
      </p:sp>
      <p:pic>
        <p:nvPicPr>
          <p:cNvPr id="23" name="Image 4" descr="preencoded.png">    </p:cNvPr>
          <p:cNvPicPr>
            <a:picLocks noChangeAspect="1"/>
          </p:cNvPicPr>
          <p:nvPr/>
        </p:nvPicPr>
        <p:blipFill>
          <a:blip r:embed="rId5"/>
          <a:stretch>
            <a:fillRect/>
          </a:stretch>
        </p:blipFill>
        <p:spPr>
          <a:xfrm>
            <a:off x="640080" y="4663440"/>
            <a:ext cx="219456" cy="219456"/>
          </a:xfrm>
          <a:prstGeom prst="rect">
            <a:avLst/>
          </a:prstGeom>
        </p:spPr>
      </p:pic>
      <p:sp>
        <p:nvSpPr>
          <p:cNvPr id="24" name="Text 17"/>
          <p:cNvSpPr txBox="1"/>
          <p:nvPr/>
        </p:nvSpPr>
        <p:spPr>
          <a:xfrm>
            <a:off x="1078992" y="4544568"/>
            <a:ext cx="5120640" cy="274320"/>
          </a:xfrm>
          <a:prstGeom prst="rect">
            <a:avLst/>
          </a:prstGeom>
          <a:noFill/>
          <a:ln/>
        </p:spPr>
        <p:txBody>
          <a:bodyPr wrap="square" lIns="0" tIns="0" rIns="0" bIns="0" rtlCol="0" anchor="ctr"/>
          <a:lstStyle/>
          <a:p>
            <a:pPr indent="0" marL="0">
              <a:buNone/>
            </a:pPr>
            <a:r>
              <a:rPr lang="en-US" sz="1200" b="1" dirty="0">
                <a:solidFill>
                  <a:srgbClr val="1A1A17"/>
                </a:solidFill>
                <a:latin typeface="Calibri" pitchFamily="34" charset="0"/>
                <a:ea typeface="Calibri" pitchFamily="34" charset="-122"/>
                <a:cs typeface="Calibri" pitchFamily="34" charset="-120"/>
              </a:rPr>
              <a:t>Robustheit</a:t>
            </a:r>
            <a:endParaRPr lang="en-US" sz="1200" dirty="0"/>
          </a:p>
        </p:txBody>
      </p:sp>
      <p:sp>
        <p:nvSpPr>
          <p:cNvPr id="25" name="Text 18"/>
          <p:cNvSpPr txBox="1"/>
          <p:nvPr/>
        </p:nvSpPr>
        <p:spPr>
          <a:xfrm>
            <a:off x="1078992" y="4818888"/>
            <a:ext cx="5120640" cy="384048"/>
          </a:xfrm>
          <a:prstGeom prst="rect">
            <a:avLst/>
          </a:prstGeom>
          <a:noFill/>
          <a:ln/>
        </p:spPr>
        <p:txBody>
          <a:bodyPr wrap="square" lIns="0" tIns="0" rIns="0" bIns="0" rtlCol="0" anchor="t"/>
          <a:lstStyle/>
          <a:p>
            <a:pPr indent="0" marL="0">
              <a:buNone/>
            </a:pPr>
            <a:r>
              <a:rPr lang="en-US" sz="1000" dirty="0">
                <a:solidFill>
                  <a:srgbClr val="56534B"/>
                </a:solidFill>
                <a:latin typeface="Calibri" pitchFamily="34" charset="0"/>
                <a:ea typeface="Calibri" pitchFamily="34" charset="-122"/>
                <a:cs typeface="Calibri" pitchFamily="34" charset="-120"/>
              </a:rPr>
              <a:t>36 Parameterkombinationen, Unsicherheitsmarker an jedem Urteil, Skript offen</a:t>
            </a:r>
            <a:endParaRPr lang="en-US" sz="1000" dirty="0"/>
          </a:p>
        </p:txBody>
      </p:sp>
      <p:sp>
        <p:nvSpPr>
          <p:cNvPr id="26" name="Shape 19"/>
          <p:cNvSpPr/>
          <p:nvPr/>
        </p:nvSpPr>
        <p:spPr>
          <a:xfrm>
            <a:off x="6583680" y="1645920"/>
            <a:ext cx="5029200" cy="3611880"/>
          </a:xfrm>
          <a:prstGeom prst="roundRect">
            <a:avLst>
              <a:gd name="adj" fmla="val 2025"/>
            </a:avLst>
          </a:prstGeom>
          <a:solidFill>
            <a:srgbClr val="E2E8ED"/>
          </a:solidFill>
          <a:ln w="12700">
            <a:solidFill>
              <a:srgbClr val="E2E8ED"/>
            </a:solidFill>
            <a:prstDash val="solid"/>
          </a:ln>
        </p:spPr>
      </p:sp>
      <p:sp>
        <p:nvSpPr>
          <p:cNvPr id="27" name="Text 20"/>
          <p:cNvSpPr txBox="1"/>
          <p:nvPr/>
        </p:nvSpPr>
        <p:spPr>
          <a:xfrm>
            <a:off x="6766560" y="1737360"/>
            <a:ext cx="4663440" cy="320040"/>
          </a:xfrm>
          <a:prstGeom prst="rect">
            <a:avLst/>
          </a:prstGeom>
          <a:noFill/>
          <a:ln/>
        </p:spPr>
        <p:txBody>
          <a:bodyPr wrap="square" lIns="0" tIns="0" rIns="0" bIns="0" rtlCol="0" anchor="ctr"/>
          <a:lstStyle/>
          <a:p>
            <a:pPr indent="0" marL="0">
              <a:buNone/>
            </a:pPr>
            <a:r>
              <a:rPr lang="en-US" sz="1300" b="1" dirty="0">
                <a:solidFill>
                  <a:srgbClr val="1F5673"/>
                </a:solidFill>
                <a:latin typeface="Calibri" pitchFamily="34" charset="0"/>
                <a:ea typeface="Calibri" pitchFamily="34" charset="-122"/>
                <a:cs typeface="Calibri" pitchFamily="34" charset="-120"/>
              </a:rPr>
              <a:t>Wärmeliniendichte</a:t>
            </a:r>
            <a:endParaRPr lang="en-US" sz="1300" dirty="0"/>
          </a:p>
        </p:txBody>
      </p:sp>
      <p:sp>
        <p:nvSpPr>
          <p:cNvPr id="28" name="Text 21"/>
          <p:cNvSpPr txBox="1"/>
          <p:nvPr/>
        </p:nvSpPr>
        <p:spPr>
          <a:xfrm>
            <a:off x="6766560" y="2057400"/>
            <a:ext cx="4663440" cy="365760"/>
          </a:xfrm>
          <a:prstGeom prst="rect">
            <a:avLst/>
          </a:prstGeom>
          <a:noFill/>
          <a:ln/>
        </p:spPr>
        <p:txBody>
          <a:bodyPr wrap="square" lIns="0" tIns="0" rIns="0" bIns="0" rtlCol="0" anchor="ctr"/>
          <a:lstStyle/>
          <a:p>
            <a:pPr indent="0" marL="0">
              <a:buNone/>
            </a:pPr>
            <a:r>
              <a:rPr lang="en-US" sz="1500" i="1" dirty="0">
                <a:solidFill>
                  <a:srgbClr val="1A1A17"/>
                </a:solidFill>
                <a:latin typeface="Cambria" pitchFamily="34" charset="0"/>
                <a:ea typeface="Cambria" pitchFamily="34" charset="-122"/>
                <a:cs typeface="Cambria" pitchFamily="34" charset="-120"/>
              </a:rPr>
              <a:t>Wie viel Wärme ein Meter Straße im Jahr verkauft.</a:t>
            </a:r>
            <a:endParaRPr lang="en-US" sz="1500" dirty="0"/>
          </a:p>
        </p:txBody>
      </p:sp>
      <p:sp>
        <p:nvSpPr>
          <p:cNvPr id="29" name="Text 22"/>
          <p:cNvSpPr txBox="1"/>
          <p:nvPr/>
        </p:nvSpPr>
        <p:spPr>
          <a:xfrm>
            <a:off x="6766560" y="2450592"/>
            <a:ext cx="4663440" cy="731520"/>
          </a:xfrm>
          <a:prstGeom prst="rect">
            <a:avLst/>
          </a:prstGeom>
          <a:noFill/>
          <a:ln/>
        </p:spPr>
        <p:txBody>
          <a:bodyPr wrap="square" lIns="0" tIns="0" rIns="0" bIns="0" rtlCol="0" anchor="t"/>
          <a:lstStyle/>
          <a:p>
            <a:pPr indent="0" marL="0">
              <a:buNone/>
            </a:pPr>
            <a:r>
              <a:rPr lang="en-US" sz="1050" dirty="0">
                <a:solidFill>
                  <a:srgbClr val="1A1A17"/>
                </a:solidFill>
                <a:latin typeface="Calibri" pitchFamily="34" charset="0"/>
                <a:ea typeface="Calibri" pitchFamily="34" charset="-122"/>
                <a:cs typeface="Calibri" pitchFamily="34" charset="-120"/>
              </a:rPr>
              <a:t>Jahreswärmebedarf aller Anschlüsse ÷ Trassenlänge, in MWh je Meter und Jahr. Kosten hängen an der Länge, Erlöse an der Wärmemenge – dieselbe Trasse ist vor Mehrfamilienhäusern billig je kWh und in der Streusiedlung teuer.</a:t>
            </a:r>
            <a:endParaRPr lang="en-US" sz="1050" dirty="0"/>
          </a:p>
        </p:txBody>
      </p:sp>
      <p:sp>
        <p:nvSpPr>
          <p:cNvPr id="30" name="Text 23"/>
          <p:cNvSpPr txBox="1"/>
          <p:nvPr/>
        </p:nvSpPr>
        <p:spPr>
          <a:xfrm>
            <a:off x="6766560" y="3291840"/>
            <a:ext cx="1920240" cy="274320"/>
          </a:xfrm>
          <a:prstGeom prst="rect">
            <a:avLst/>
          </a:prstGeom>
          <a:noFill/>
          <a:ln/>
        </p:spPr>
        <p:txBody>
          <a:bodyPr wrap="square" lIns="0" tIns="0" rIns="0" bIns="0" rtlCol="0" anchor="ctr"/>
          <a:lstStyle/>
          <a:p>
            <a:pPr indent="0" marL="0">
              <a:buNone/>
            </a:pPr>
            <a:r>
              <a:rPr lang="en-US" sz="950" dirty="0">
                <a:solidFill>
                  <a:srgbClr val="56534B"/>
                </a:solidFill>
                <a:latin typeface="Calibri" pitchFamily="34" charset="0"/>
                <a:ea typeface="Calibri" pitchFamily="34" charset="-122"/>
                <a:cs typeface="Calibri" pitchFamily="34" charset="-120"/>
              </a:rPr>
              <a:t>EFH-Gebiet, locker</a:t>
            </a:r>
            <a:endParaRPr lang="en-US" sz="950" dirty="0"/>
          </a:p>
        </p:txBody>
      </p:sp>
      <p:sp>
        <p:nvSpPr>
          <p:cNvPr id="31" name="Shape 24"/>
          <p:cNvSpPr/>
          <p:nvPr/>
        </p:nvSpPr>
        <p:spPr>
          <a:xfrm>
            <a:off x="8859129" y="3355848"/>
            <a:ext cx="211015" cy="146304"/>
          </a:xfrm>
          <a:prstGeom prst="rect">
            <a:avLst/>
          </a:prstGeom>
          <a:solidFill>
            <a:srgbClr val="1F5673"/>
          </a:solidFill>
          <a:ln w="12700">
            <a:solidFill>
              <a:srgbClr val="1F5673"/>
            </a:solidFill>
            <a:prstDash val="solid"/>
          </a:ln>
        </p:spPr>
      </p:sp>
      <p:sp>
        <p:nvSpPr>
          <p:cNvPr id="32" name="Text 25"/>
          <p:cNvSpPr txBox="1"/>
          <p:nvPr/>
        </p:nvSpPr>
        <p:spPr>
          <a:xfrm>
            <a:off x="9125009" y="3291840"/>
            <a:ext cx="640080" cy="27432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0.3–0.8</a:t>
            </a:r>
            <a:endParaRPr lang="en-US" sz="900" dirty="0"/>
          </a:p>
        </p:txBody>
      </p:sp>
      <p:sp>
        <p:nvSpPr>
          <p:cNvPr id="33" name="Text 26"/>
          <p:cNvSpPr txBox="1"/>
          <p:nvPr/>
        </p:nvSpPr>
        <p:spPr>
          <a:xfrm>
            <a:off x="6766560" y="3621024"/>
            <a:ext cx="1920240" cy="274320"/>
          </a:xfrm>
          <a:prstGeom prst="rect">
            <a:avLst/>
          </a:prstGeom>
          <a:noFill/>
          <a:ln/>
        </p:spPr>
        <p:txBody>
          <a:bodyPr wrap="square" lIns="0" tIns="0" rIns="0" bIns="0" rtlCol="0" anchor="ctr"/>
          <a:lstStyle/>
          <a:p>
            <a:pPr indent="0" marL="0">
              <a:buNone/>
            </a:pPr>
            <a:r>
              <a:rPr lang="en-US" sz="950" dirty="0">
                <a:solidFill>
                  <a:srgbClr val="56534B"/>
                </a:solidFill>
                <a:latin typeface="Calibri" pitchFamily="34" charset="0"/>
                <a:ea typeface="Calibri" pitchFamily="34" charset="-122"/>
                <a:cs typeface="Calibri" pitchFamily="34" charset="-120"/>
              </a:rPr>
              <a:t>Reihenhaus</a:t>
            </a:r>
            <a:endParaRPr lang="en-US" sz="950" dirty="0"/>
          </a:p>
        </p:txBody>
      </p:sp>
      <p:sp>
        <p:nvSpPr>
          <p:cNvPr id="34" name="Shape 27"/>
          <p:cNvSpPr/>
          <p:nvPr/>
        </p:nvSpPr>
        <p:spPr>
          <a:xfrm>
            <a:off x="9070145" y="3685032"/>
            <a:ext cx="295422" cy="146304"/>
          </a:xfrm>
          <a:prstGeom prst="rect">
            <a:avLst/>
          </a:prstGeom>
          <a:solidFill>
            <a:srgbClr val="1F5673"/>
          </a:solidFill>
          <a:ln w="12700">
            <a:solidFill>
              <a:srgbClr val="1F5673"/>
            </a:solidFill>
            <a:prstDash val="solid"/>
          </a:ln>
        </p:spPr>
      </p:sp>
      <p:sp>
        <p:nvSpPr>
          <p:cNvPr id="35" name="Text 28"/>
          <p:cNvSpPr txBox="1"/>
          <p:nvPr/>
        </p:nvSpPr>
        <p:spPr>
          <a:xfrm>
            <a:off x="9420430" y="3621024"/>
            <a:ext cx="640080" cy="27432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0.8–1.5</a:t>
            </a:r>
            <a:endParaRPr lang="en-US" sz="900" dirty="0"/>
          </a:p>
        </p:txBody>
      </p:sp>
      <p:sp>
        <p:nvSpPr>
          <p:cNvPr id="36" name="Text 29"/>
          <p:cNvSpPr txBox="1"/>
          <p:nvPr/>
        </p:nvSpPr>
        <p:spPr>
          <a:xfrm>
            <a:off x="6766560" y="3950208"/>
            <a:ext cx="1920240" cy="274320"/>
          </a:xfrm>
          <a:prstGeom prst="rect">
            <a:avLst/>
          </a:prstGeom>
          <a:noFill/>
          <a:ln/>
        </p:spPr>
        <p:txBody>
          <a:bodyPr wrap="square" lIns="0" tIns="0" rIns="0" bIns="0" rtlCol="0" anchor="ctr"/>
          <a:lstStyle/>
          <a:p>
            <a:pPr indent="0" marL="0">
              <a:buNone/>
            </a:pPr>
            <a:r>
              <a:rPr lang="en-US" sz="950" dirty="0">
                <a:solidFill>
                  <a:srgbClr val="56534B"/>
                </a:solidFill>
                <a:latin typeface="Calibri" pitchFamily="34" charset="0"/>
                <a:ea typeface="Calibri" pitchFamily="34" charset="-122"/>
                <a:cs typeface="Calibri" pitchFamily="34" charset="-120"/>
              </a:rPr>
              <a:t>Blockrand</a:t>
            </a:r>
            <a:endParaRPr lang="en-US" sz="950" dirty="0"/>
          </a:p>
        </p:txBody>
      </p:sp>
      <p:sp>
        <p:nvSpPr>
          <p:cNvPr id="37" name="Shape 30"/>
          <p:cNvSpPr/>
          <p:nvPr/>
        </p:nvSpPr>
        <p:spPr>
          <a:xfrm>
            <a:off x="9576582" y="4014216"/>
            <a:ext cx="844062" cy="146304"/>
          </a:xfrm>
          <a:prstGeom prst="rect">
            <a:avLst/>
          </a:prstGeom>
          <a:solidFill>
            <a:srgbClr val="1F5673"/>
          </a:solidFill>
          <a:ln w="12700">
            <a:solidFill>
              <a:srgbClr val="1F5673"/>
            </a:solidFill>
            <a:prstDash val="solid"/>
          </a:ln>
        </p:spPr>
      </p:sp>
      <p:sp>
        <p:nvSpPr>
          <p:cNvPr id="38" name="Text 31"/>
          <p:cNvSpPr txBox="1"/>
          <p:nvPr/>
        </p:nvSpPr>
        <p:spPr>
          <a:xfrm>
            <a:off x="10475507" y="3950208"/>
            <a:ext cx="640080" cy="27432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2–4</a:t>
            </a:r>
            <a:endParaRPr lang="en-US" sz="900" dirty="0"/>
          </a:p>
        </p:txBody>
      </p:sp>
      <p:sp>
        <p:nvSpPr>
          <p:cNvPr id="39" name="Text 32"/>
          <p:cNvSpPr txBox="1"/>
          <p:nvPr/>
        </p:nvSpPr>
        <p:spPr>
          <a:xfrm>
            <a:off x="6766560" y="4279392"/>
            <a:ext cx="1920240" cy="274320"/>
          </a:xfrm>
          <a:prstGeom prst="rect">
            <a:avLst/>
          </a:prstGeom>
          <a:noFill/>
          <a:ln/>
        </p:spPr>
        <p:txBody>
          <a:bodyPr wrap="square" lIns="0" tIns="0" rIns="0" bIns="0" rtlCol="0" anchor="ctr"/>
          <a:lstStyle/>
          <a:p>
            <a:pPr indent="0" marL="0">
              <a:buNone/>
            </a:pPr>
            <a:r>
              <a:rPr lang="en-US" sz="950" dirty="0">
                <a:solidFill>
                  <a:srgbClr val="56534B"/>
                </a:solidFill>
                <a:latin typeface="Calibri" pitchFamily="34" charset="0"/>
                <a:ea typeface="Calibri" pitchFamily="34" charset="-122"/>
                <a:cs typeface="Calibri" pitchFamily="34" charset="-120"/>
              </a:rPr>
              <a:t>Innenstadt mit Großverbrauchern</a:t>
            </a:r>
            <a:endParaRPr lang="en-US" sz="950" dirty="0"/>
          </a:p>
        </p:txBody>
      </p:sp>
      <p:sp>
        <p:nvSpPr>
          <p:cNvPr id="40" name="Shape 33"/>
          <p:cNvSpPr/>
          <p:nvPr/>
        </p:nvSpPr>
        <p:spPr>
          <a:xfrm>
            <a:off x="9998612" y="4343400"/>
            <a:ext cx="1266092" cy="146304"/>
          </a:xfrm>
          <a:prstGeom prst="rect">
            <a:avLst/>
          </a:prstGeom>
          <a:solidFill>
            <a:srgbClr val="1F5673"/>
          </a:solidFill>
          <a:ln w="12700">
            <a:solidFill>
              <a:srgbClr val="1F5673"/>
            </a:solidFill>
            <a:prstDash val="solid"/>
          </a:ln>
        </p:spPr>
      </p:sp>
      <p:sp>
        <p:nvSpPr>
          <p:cNvPr id="41" name="Text 34"/>
          <p:cNvSpPr txBox="1"/>
          <p:nvPr/>
        </p:nvSpPr>
        <p:spPr>
          <a:xfrm>
            <a:off x="11319569" y="4279392"/>
            <a:ext cx="640080" cy="27432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3–6</a:t>
            </a:r>
            <a:endParaRPr lang="en-US" sz="900" dirty="0"/>
          </a:p>
        </p:txBody>
      </p:sp>
      <p:sp>
        <p:nvSpPr>
          <p:cNvPr id="42" name="Shape 35"/>
          <p:cNvSpPr/>
          <p:nvPr/>
        </p:nvSpPr>
        <p:spPr>
          <a:xfrm>
            <a:off x="9365566" y="3246120"/>
            <a:ext cx="0" cy="1371600"/>
          </a:xfrm>
          <a:prstGeom prst="line">
            <a:avLst/>
          </a:prstGeom>
          <a:noFill/>
          <a:ln w="12700">
            <a:solidFill>
              <a:srgbClr val="9A5B12"/>
            </a:solidFill>
            <a:prstDash val="dash"/>
          </a:ln>
        </p:spPr>
      </p:sp>
      <p:sp>
        <p:nvSpPr>
          <p:cNvPr id="43" name="Text 36"/>
          <p:cNvSpPr txBox="1"/>
          <p:nvPr/>
        </p:nvSpPr>
        <p:spPr>
          <a:xfrm>
            <a:off x="9182686" y="4617720"/>
            <a:ext cx="2286000" cy="228600"/>
          </a:xfrm>
          <a:prstGeom prst="rect">
            <a:avLst/>
          </a:prstGeom>
          <a:noFill/>
          <a:ln/>
        </p:spPr>
        <p:txBody>
          <a:bodyPr wrap="square" lIns="0" tIns="0" rIns="0" bIns="0" rtlCol="0" anchor="ctr"/>
          <a:lstStyle/>
          <a:p>
            <a:pPr indent="0" marL="0">
              <a:buNone/>
            </a:pPr>
            <a:r>
              <a:rPr lang="en-US" sz="850" dirty="0">
                <a:solidFill>
                  <a:srgbClr val="9A5B12"/>
                </a:solidFill>
                <a:latin typeface="Calibri" pitchFamily="34" charset="0"/>
                <a:ea typeface="Calibri" pitchFamily="34" charset="-122"/>
                <a:cs typeface="Calibri" pitchFamily="34" charset="-120"/>
              </a:rPr>
              <a:t>Faustregel Planung: ab ~1.5 (nPro)</a:t>
            </a:r>
            <a:endParaRPr lang="en-US" sz="850" dirty="0"/>
          </a:p>
        </p:txBody>
      </p:sp>
      <p:sp>
        <p:nvSpPr>
          <p:cNvPr id="44" name="Text 37"/>
          <p:cNvSpPr txBox="1"/>
          <p:nvPr/>
        </p:nvSpPr>
        <p:spPr>
          <a:xfrm>
            <a:off x="6766560" y="4846320"/>
            <a:ext cx="4663440" cy="365760"/>
          </a:xfrm>
          <a:prstGeom prst="rect">
            <a:avLst/>
          </a:prstGeom>
          <a:noFill/>
          <a:ln/>
        </p:spPr>
        <p:txBody>
          <a:bodyPr wrap="square" lIns="0" tIns="0" rIns="0" bIns="0" rtlCol="0" anchor="t"/>
          <a:lstStyle/>
          <a:p>
            <a:pPr indent="0" marL="0">
              <a:buNone/>
            </a:pPr>
            <a:r>
              <a:rPr lang="en-US" sz="900" dirty="0">
                <a:solidFill>
                  <a:srgbClr val="56534B"/>
                </a:solidFill>
                <a:latin typeface="Calibri" pitchFamily="34" charset="0"/>
                <a:ea typeface="Calibri" pitchFamily="34" charset="-122"/>
                <a:cs typeface="Calibri" pitchFamily="34" charset="-120"/>
              </a:rPr>
              <a:t>Typische Bestandsquartiere, MWh/(m·a). Drei Dinge senken sie multiplikativ: lockere Bebauung, geringe Anschlussquote, Sanierung.</a:t>
            </a:r>
            <a:endParaRPr lang="en-US" sz="900" dirty="0"/>
          </a:p>
        </p:txBody>
      </p:sp>
      <p:sp>
        <p:nvSpPr>
          <p:cNvPr id="45" name="Shape 38"/>
          <p:cNvSpPr/>
          <p:nvPr/>
        </p:nvSpPr>
        <p:spPr>
          <a:xfrm>
            <a:off x="548640" y="5440680"/>
            <a:ext cx="11064240" cy="822960"/>
          </a:xfrm>
          <a:prstGeom prst="roundRect">
            <a:avLst>
              <a:gd name="adj" fmla="val 8889"/>
            </a:avLst>
          </a:prstGeom>
          <a:solidFill>
            <a:srgbClr val="EFEBE1"/>
          </a:solidFill>
          <a:ln w="9525">
            <a:solidFill>
              <a:srgbClr val="C9C3B4"/>
            </a:solidFill>
            <a:prstDash val="solid"/>
          </a:ln>
        </p:spPr>
      </p:sp>
      <p:sp>
        <p:nvSpPr>
          <p:cNvPr id="46" name="Text 39"/>
          <p:cNvSpPr txBox="1"/>
          <p:nvPr/>
        </p:nvSpPr>
        <p:spPr>
          <a:xfrm>
            <a:off x="731520" y="5440680"/>
            <a:ext cx="10698480" cy="822960"/>
          </a:xfrm>
          <a:prstGeom prst="rect">
            <a:avLst/>
          </a:prstGeom>
          <a:noFill/>
          <a:ln/>
        </p:spPr>
        <p:txBody>
          <a:bodyPr wrap="square" lIns="0" tIns="0" rIns="0" bIns="0" rtlCol="0" anchor="ctr"/>
          <a:lstStyle/>
          <a:p>
            <a:pPr indent="0" marL="0">
              <a:buNone/>
            </a:pPr>
            <a:r>
              <a:rPr lang="en-US" sz="1250" b="1" dirty="0">
                <a:solidFill>
                  <a:srgbClr val="1F5673"/>
                </a:solidFill>
                <a:latin typeface="Calibri" pitchFamily="34" charset="0"/>
                <a:ea typeface="Calibri" pitchFamily="34" charset="-122"/>
                <a:cs typeface="Calibri" pitchFamily="34" charset="-120"/>
              </a:rPr>
              <a:t>Die Regel: </a:t>
            </a:r>
            <a:pPr indent="0" marL="0">
              <a:buNone/>
            </a:pPr>
            <a:r>
              <a:rPr lang="en-US" sz="1250" dirty="0">
                <a:solidFill>
                  <a:srgbClr val="1A1A17"/>
                </a:solidFill>
                <a:latin typeface="Calibri" pitchFamily="34" charset="0"/>
                <a:ea typeface="Calibri" pitchFamily="34" charset="-122"/>
                <a:cs typeface="Calibri" pitchFamily="34" charset="-120"/>
              </a:rPr>
              <a:t>Ein Netz trägt, wenn die erreichte Wärmeliniendichte über der Schwelle liegt – und die Schwelle ist Netzkosten je Trassenmeter und Jahr ÷ Budget. Kleines Budget, hohe Schwelle.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TEIL II · BEFUND 1 UND 3</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Die Wärmequelle entscheidet, nicht die Dichte</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5" name="Text 3"/>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7</a:t>
            </a:r>
            <a:endParaRPr lang="en-US" sz="900" dirty="0"/>
          </a:p>
        </p:txBody>
      </p:sp>
      <p:graphicFrame>
        <p:nvGraphicFramePr>
          <p:cNvPr id="6" name="Chart 0" descr=""/>
          <p:cNvGraphicFramePr/>
          <p:nvPr/>
        </p:nvGraphicFramePr>
        <p:xfrm>
          <a:off x="457200" y="1645920"/>
          <a:ext cx="7315200" cy="30632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48640" y="4754880"/>
            <a:ext cx="7223760" cy="274320"/>
          </a:xfrm>
          <a:prstGeom prst="rect">
            <a:avLst/>
          </a:prstGeom>
          <a:noFill/>
          <a:ln/>
        </p:spPr>
        <p:txBody>
          <a:bodyPr wrap="square" lIns="0" tIns="0" rIns="0" bIns="0" rtlCol="0" anchor="ctr"/>
          <a:lstStyle/>
          <a:p>
            <a:pPr indent="0" marL="0">
              <a:buNone/>
            </a:pPr>
            <a:r>
              <a:rPr lang="en-US" sz="1050" b="1" dirty="0">
                <a:solidFill>
                  <a:srgbClr val="9A5B12"/>
                </a:solidFill>
                <a:latin typeface="Calibri" pitchFamily="34" charset="0"/>
                <a:ea typeface="Calibri" pitchFamily="34" charset="-122"/>
                <a:cs typeface="Calibri" pitchFamily="34" charset="-120"/>
              </a:rPr>
              <a:t>Schwelle Großwärmepumpe / Geothermie: </a:t>
            </a:r>
            <a:pPr indent="0" marL="0">
              <a:buNone/>
            </a:pPr>
            <a:r>
              <a:rPr lang="en-US" sz="1050" dirty="0">
                <a:solidFill>
                  <a:srgbClr val="1A1A17"/>
                </a:solidFill>
                <a:latin typeface="Calibri" pitchFamily="34" charset="0"/>
                <a:ea typeface="Calibri" pitchFamily="34" charset="-122"/>
                <a:cs typeface="Calibri" pitchFamily="34" charset="-120"/>
              </a:rPr>
              <a:t>5.43 · 5.61 · 5.82 · 20.05 · &gt;50 – kein Quartierstyp erreicht sie beim Netzausbau.</a:t>
            </a:r>
            <a:endParaRPr lang="en-US" sz="1050" dirty="0"/>
          </a:p>
        </p:txBody>
      </p:sp>
      <p:sp>
        <p:nvSpPr>
          <p:cNvPr id="8" name="Text 5"/>
          <p:cNvSpPr txBox="1"/>
          <p:nvPr/>
        </p:nvSpPr>
        <p:spPr>
          <a:xfrm>
            <a:off x="548640" y="5029200"/>
            <a:ext cx="7223760" cy="27432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Gründerzeitblock an Innenstadtstraße (3'554 €/m), übrige Bestandsstraße (1'692 €/m) – Setzung. Anschlussquote 100 %. Abschnitt 5.2.</a:t>
            </a:r>
            <a:endParaRPr lang="en-US" sz="900" dirty="0"/>
          </a:p>
        </p:txBody>
      </p:sp>
      <p:sp>
        <p:nvSpPr>
          <p:cNvPr id="9" name="Shape 6"/>
          <p:cNvSpPr/>
          <p:nvPr/>
        </p:nvSpPr>
        <p:spPr>
          <a:xfrm>
            <a:off x="8092440" y="1709928"/>
            <a:ext cx="420624" cy="420624"/>
          </a:xfrm>
          <a:prstGeom prst="ellipse">
            <a:avLst/>
          </a:prstGeom>
          <a:solidFill>
            <a:srgbClr val="EFEBE1"/>
          </a:solidFill>
          <a:ln w="12700">
            <a:solidFill>
              <a:srgbClr val="EFEBE1"/>
            </a:solidFill>
            <a:prstDash val="solid"/>
          </a:ln>
        </p:spPr>
      </p:sp>
      <p:pic>
        <p:nvPicPr>
          <p:cNvPr id="10" name="Image 0" descr="preencoded.png">    </p:cNvPr>
          <p:cNvPicPr>
            <a:picLocks noChangeAspect="1"/>
          </p:cNvPicPr>
          <p:nvPr/>
        </p:nvPicPr>
        <p:blipFill>
          <a:blip r:embed="rId2"/>
          <a:stretch>
            <a:fillRect/>
          </a:stretch>
        </p:blipFill>
        <p:spPr>
          <a:xfrm>
            <a:off x="8183880" y="1801368"/>
            <a:ext cx="237744" cy="237744"/>
          </a:xfrm>
          <a:prstGeom prst="rect">
            <a:avLst/>
          </a:prstGeom>
        </p:spPr>
      </p:pic>
      <p:sp>
        <p:nvSpPr>
          <p:cNvPr id="11" name="Text 7"/>
          <p:cNvSpPr txBox="1"/>
          <p:nvPr/>
        </p:nvSpPr>
        <p:spPr>
          <a:xfrm>
            <a:off x="8641080" y="1691640"/>
            <a:ext cx="3017520" cy="457200"/>
          </a:xfrm>
          <a:prstGeom prst="rect">
            <a:avLst/>
          </a:prstGeom>
          <a:noFill/>
          <a:ln/>
        </p:spPr>
        <p:txBody>
          <a:bodyPr wrap="square" lIns="0" tIns="0" rIns="0" bIns="0" rtlCol="0" anchor="t"/>
          <a:lstStyle/>
          <a:p>
            <a:pPr indent="0" marL="0">
              <a:buNone/>
            </a:pPr>
            <a:r>
              <a:rPr lang="en-US" sz="1150" b="1" dirty="0">
                <a:solidFill>
                  <a:srgbClr val="1F5673"/>
                </a:solidFill>
                <a:latin typeface="Calibri" pitchFamily="34" charset="0"/>
                <a:ea typeface="Calibri" pitchFamily="34" charset="-122"/>
                <a:cs typeface="Calibri" pitchFamily="34" charset="-120"/>
              </a:rPr>
              <a:t>Echte Abwärme trägt fast überall.</a:t>
            </a:r>
            <a:endParaRPr lang="en-US" sz="1150" dirty="0"/>
          </a:p>
        </p:txBody>
      </p:sp>
      <p:sp>
        <p:nvSpPr>
          <p:cNvPr id="12" name="Text 8"/>
          <p:cNvSpPr txBox="1"/>
          <p:nvPr/>
        </p:nvSpPr>
        <p:spPr>
          <a:xfrm>
            <a:off x="8641080" y="2148840"/>
            <a:ext cx="3017520" cy="731520"/>
          </a:xfrm>
          <a:prstGeom prst="rect">
            <a:avLst/>
          </a:prstGeom>
          <a:noFill/>
          <a:ln/>
        </p:spPr>
        <p:txBody>
          <a:bodyPr wrap="square" lIns="0" tIns="0" rIns="0" bIns="0" rtlCol="0" anchor="t"/>
          <a:lstStyle/>
          <a:p>
            <a:pPr indent="0" marL="0">
              <a:buNone/>
            </a:pPr>
            <a:r>
              <a:rPr lang="en-US" sz="950" dirty="0">
                <a:solidFill>
                  <a:srgbClr val="56534B"/>
                </a:solidFill>
                <a:latin typeface="Calibri" pitchFamily="34" charset="0"/>
                <a:ea typeface="Calibri" pitchFamily="34" charset="-122"/>
                <a:cs typeface="Calibri" pitchFamily="34" charset="-120"/>
              </a:rPr>
              <a:t>Jeder Quartierstyp außer dem EFH-Gebiet – und dort ist es knapp: bei 13.7 statt 17 Trassenmetern kippt es. In keiner von 36 Kombinationen dreht sich das Ergebnis.</a:t>
            </a:r>
            <a:endParaRPr lang="en-US" sz="950" dirty="0"/>
          </a:p>
        </p:txBody>
      </p:sp>
      <p:sp>
        <p:nvSpPr>
          <p:cNvPr id="13" name="Shape 9"/>
          <p:cNvSpPr/>
          <p:nvPr/>
        </p:nvSpPr>
        <p:spPr>
          <a:xfrm>
            <a:off x="8092440" y="2916936"/>
            <a:ext cx="420624" cy="420624"/>
          </a:xfrm>
          <a:prstGeom prst="ellipse">
            <a:avLst/>
          </a:prstGeom>
          <a:solidFill>
            <a:srgbClr val="EFEBE1"/>
          </a:solidFill>
          <a:ln w="12700">
            <a:solidFill>
              <a:srgbClr val="EFEBE1"/>
            </a:solidFill>
            <a:prstDash val="solid"/>
          </a:ln>
        </p:spPr>
      </p:sp>
      <p:pic>
        <p:nvPicPr>
          <p:cNvPr id="14" name="Image 1" descr="preencoded.png">    </p:cNvPr>
          <p:cNvPicPr>
            <a:picLocks noChangeAspect="1"/>
          </p:cNvPicPr>
          <p:nvPr/>
        </p:nvPicPr>
        <p:blipFill>
          <a:blip r:embed="rId3"/>
          <a:stretch>
            <a:fillRect/>
          </a:stretch>
        </p:blipFill>
        <p:spPr>
          <a:xfrm>
            <a:off x="8183880" y="3008376"/>
            <a:ext cx="237744" cy="237744"/>
          </a:xfrm>
          <a:prstGeom prst="rect">
            <a:avLst/>
          </a:prstGeom>
        </p:spPr>
      </p:pic>
      <p:sp>
        <p:nvSpPr>
          <p:cNvPr id="15" name="Text 10"/>
          <p:cNvSpPr txBox="1"/>
          <p:nvPr/>
        </p:nvSpPr>
        <p:spPr>
          <a:xfrm>
            <a:off x="8641080" y="2898648"/>
            <a:ext cx="3017520" cy="457200"/>
          </a:xfrm>
          <a:prstGeom prst="rect">
            <a:avLst/>
          </a:prstGeom>
          <a:noFill/>
          <a:ln/>
        </p:spPr>
        <p:txBody>
          <a:bodyPr wrap="square" lIns="0" tIns="0" rIns="0" bIns="0" rtlCol="0" anchor="t"/>
          <a:lstStyle/>
          <a:p>
            <a:pPr indent="0" marL="0">
              <a:buNone/>
            </a:pPr>
            <a:r>
              <a:rPr lang="en-US" sz="1150" b="1" dirty="0">
                <a:solidFill>
                  <a:srgbClr val="9A5B12"/>
                </a:solidFill>
                <a:latin typeface="Calibri" pitchFamily="34" charset="0"/>
                <a:ea typeface="Calibri" pitchFamily="34" charset="-122"/>
                <a:cs typeface="Calibri" pitchFamily="34" charset="-120"/>
              </a:rPr>
              <a:t>Großwärmepumpe / Geothermie: unentschieden.</a:t>
            </a:r>
            <a:endParaRPr lang="en-US" sz="1150" dirty="0"/>
          </a:p>
        </p:txBody>
      </p:sp>
      <p:sp>
        <p:nvSpPr>
          <p:cNvPr id="16" name="Text 11"/>
          <p:cNvSpPr txBox="1"/>
          <p:nvPr/>
        </p:nvSpPr>
        <p:spPr>
          <a:xfrm>
            <a:off x="8641080" y="3355848"/>
            <a:ext cx="3017520" cy="731520"/>
          </a:xfrm>
          <a:prstGeom prst="rect">
            <a:avLst/>
          </a:prstGeom>
          <a:noFill/>
          <a:ln/>
        </p:spPr>
        <p:txBody>
          <a:bodyPr wrap="square" lIns="0" tIns="0" rIns="0" bIns="0" rtlCol="0" anchor="t"/>
          <a:lstStyle/>
          <a:p>
            <a:pPr indent="0" marL="0">
              <a:buNone/>
            </a:pPr>
            <a:r>
              <a:rPr lang="en-US" sz="950" dirty="0">
                <a:solidFill>
                  <a:srgbClr val="56534B"/>
                </a:solidFill>
                <a:latin typeface="Calibri" pitchFamily="34" charset="0"/>
                <a:ea typeface="Calibri" pitchFamily="34" charset="-122"/>
                <a:cs typeface="Calibri" pitchFamily="34" charset="-120"/>
              </a:rPr>
              <a:t>Beim Ausbau liegen die Pfade wenige Zehntelcent auseinander, das Vorzeichen wechselt in einem Sechstel der Kombinationen. Kein Beleg für fünfzigjährige Infrastruktur.</a:t>
            </a:r>
            <a:endParaRPr lang="en-US" sz="950" dirty="0"/>
          </a:p>
        </p:txBody>
      </p:sp>
      <p:sp>
        <p:nvSpPr>
          <p:cNvPr id="17" name="Shape 12"/>
          <p:cNvSpPr/>
          <p:nvPr/>
        </p:nvSpPr>
        <p:spPr>
          <a:xfrm>
            <a:off x="8092440" y="4123944"/>
            <a:ext cx="420624" cy="420624"/>
          </a:xfrm>
          <a:prstGeom prst="ellipse">
            <a:avLst/>
          </a:prstGeom>
          <a:solidFill>
            <a:srgbClr val="EFEBE1"/>
          </a:solidFill>
          <a:ln w="12700">
            <a:solidFill>
              <a:srgbClr val="EFEBE1"/>
            </a:solidFill>
            <a:prstDash val="solid"/>
          </a:ln>
        </p:spPr>
      </p:sp>
      <p:pic>
        <p:nvPicPr>
          <p:cNvPr id="18" name="Image 2" descr="preencoded.png">    </p:cNvPr>
          <p:cNvPicPr>
            <a:picLocks noChangeAspect="1"/>
          </p:cNvPicPr>
          <p:nvPr/>
        </p:nvPicPr>
        <p:blipFill>
          <a:blip r:embed="rId4"/>
          <a:stretch>
            <a:fillRect/>
          </a:stretch>
        </p:blipFill>
        <p:spPr>
          <a:xfrm>
            <a:off x="8183880" y="4215384"/>
            <a:ext cx="237744" cy="237744"/>
          </a:xfrm>
          <a:prstGeom prst="rect">
            <a:avLst/>
          </a:prstGeom>
        </p:spPr>
      </p:pic>
      <p:sp>
        <p:nvSpPr>
          <p:cNvPr id="19" name="Text 13"/>
          <p:cNvSpPr txBox="1"/>
          <p:nvPr/>
        </p:nvSpPr>
        <p:spPr>
          <a:xfrm>
            <a:off x="8641080" y="4105656"/>
            <a:ext cx="3017520" cy="457200"/>
          </a:xfrm>
          <a:prstGeom prst="rect">
            <a:avLst/>
          </a:prstGeom>
          <a:noFill/>
          <a:ln/>
        </p:spPr>
        <p:txBody>
          <a:bodyPr wrap="square" lIns="0" tIns="0" rIns="0" bIns="0" rtlCol="0" anchor="t"/>
          <a:lstStyle/>
          <a:p>
            <a:pPr indent="0" marL="0">
              <a:buNone/>
            </a:pPr>
            <a:r>
              <a:rPr lang="en-US" sz="1150" b="1" dirty="0">
                <a:solidFill>
                  <a:srgbClr val="1A1A17"/>
                </a:solidFill>
                <a:latin typeface="Calibri" pitchFamily="34" charset="0"/>
                <a:ea typeface="Calibri" pitchFamily="34" charset="-122"/>
                <a:cs typeface="Calibri" pitchFamily="34" charset="-120"/>
              </a:rPr>
              <a:t>„Fernwärme rechnet sich bei hoher Dichte“ ist als Pauschale falsch.</a:t>
            </a:r>
            <a:endParaRPr lang="en-US" sz="1150" dirty="0"/>
          </a:p>
        </p:txBody>
      </p:sp>
      <p:sp>
        <p:nvSpPr>
          <p:cNvPr id="20" name="Text 14"/>
          <p:cNvSpPr txBox="1"/>
          <p:nvPr/>
        </p:nvSpPr>
        <p:spPr>
          <a:xfrm>
            <a:off x="8641080" y="4562856"/>
            <a:ext cx="3017520" cy="731520"/>
          </a:xfrm>
          <a:prstGeom prst="rect">
            <a:avLst/>
          </a:prstGeom>
          <a:noFill/>
          <a:ln/>
        </p:spPr>
        <p:txBody>
          <a:bodyPr wrap="square" lIns="0" tIns="0" rIns="0" bIns="0" rtlCol="0" anchor="t"/>
          <a:lstStyle/>
          <a:p>
            <a:pPr indent="0" marL="0">
              <a:buNone/>
            </a:pPr>
            <a:r>
              <a:rPr lang="en-US" sz="950" dirty="0">
                <a:solidFill>
                  <a:srgbClr val="56534B"/>
                </a:solidFill>
                <a:latin typeface="Calibri" pitchFamily="34" charset="0"/>
                <a:ea typeface="Calibri" pitchFamily="34" charset="-122"/>
                <a:cs typeface="Calibri" pitchFamily="34" charset="-120"/>
              </a:rPr>
              <a:t>Vor einer Großwärmepumpe verliert der Netzausbau auch im dichtesten Quartier.</a:t>
            </a:r>
            <a:endParaRPr lang="en-US" sz="950" dirty="0"/>
          </a:p>
        </p:txBody>
      </p:sp>
      <p:sp>
        <p:nvSpPr>
          <p:cNvPr id="21" name="Shape 15"/>
          <p:cNvSpPr/>
          <p:nvPr/>
        </p:nvSpPr>
        <p:spPr>
          <a:xfrm>
            <a:off x="548640" y="5440680"/>
            <a:ext cx="11064240" cy="822960"/>
          </a:xfrm>
          <a:prstGeom prst="roundRect">
            <a:avLst>
              <a:gd name="adj" fmla="val 8889"/>
            </a:avLst>
          </a:prstGeom>
          <a:solidFill>
            <a:srgbClr val="EFEBE1"/>
          </a:solidFill>
          <a:ln w="9525">
            <a:solidFill>
              <a:srgbClr val="C9C3B4"/>
            </a:solidFill>
            <a:prstDash val="solid"/>
          </a:ln>
        </p:spPr>
      </p:sp>
      <p:sp>
        <p:nvSpPr>
          <p:cNvPr id="22" name="Text 16"/>
          <p:cNvSpPr txBox="1"/>
          <p:nvPr/>
        </p:nvSpPr>
        <p:spPr>
          <a:xfrm>
            <a:off x="731520" y="5440680"/>
            <a:ext cx="10698480" cy="822960"/>
          </a:xfrm>
          <a:prstGeom prst="rect">
            <a:avLst/>
          </a:prstGeom>
          <a:noFill/>
          <a:ln/>
        </p:spPr>
        <p:txBody>
          <a:bodyPr wrap="square" lIns="0" tIns="0" rIns="0" bIns="0" rtlCol="0" anchor="ctr"/>
          <a:lstStyle/>
          <a:p>
            <a:pPr indent="0" marL="0">
              <a:buNone/>
            </a:pPr>
            <a:r>
              <a:rPr lang="en-US" sz="1250" b="1" dirty="0">
                <a:solidFill>
                  <a:srgbClr val="1F5673"/>
                </a:solidFill>
                <a:latin typeface="Calibri" pitchFamily="34" charset="0"/>
                <a:ea typeface="Calibri" pitchFamily="34" charset="-122"/>
                <a:cs typeface="Calibri" pitchFamily="34" charset="-120"/>
              </a:rPr>
              <a:t>Was das heißt: </a:t>
            </a:r>
            <a:pPr indent="0" marL="0">
              <a:buNone/>
            </a:pPr>
            <a:r>
              <a:rPr lang="en-US" sz="1250" dirty="0">
                <a:solidFill>
                  <a:srgbClr val="1A1A17"/>
                </a:solidFill>
                <a:latin typeface="Calibri" pitchFamily="34" charset="0"/>
                <a:ea typeface="Calibri" pitchFamily="34" charset="-122"/>
                <a:cs typeface="Calibri" pitchFamily="34" charset="-120"/>
              </a:rPr>
              <a:t>Die Frage an jedes geplante Netz lautet nicht „Wie dicht ist das Quartier?“, sondern „Welche Quelle speist es – und ist sie vertraglich gesichert?“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TEIL II · BEFUND 4 · POLITISCHE KERNBOTSCHAFT</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Das deutsche WP-Preisniveau subventioniert die Fernwärme</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5" name="Text 3"/>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8</a:t>
            </a:r>
            <a:endParaRPr lang="en-US" sz="900" dirty="0"/>
          </a:p>
        </p:txBody>
      </p:sp>
      <p:graphicFrame>
        <p:nvGraphicFramePr>
          <p:cNvPr id="6" name="Chart 0" descr=""/>
          <p:cNvGraphicFramePr/>
          <p:nvPr/>
        </p:nvGraphicFramePr>
        <p:xfrm>
          <a:off x="457200" y="1645920"/>
          <a:ext cx="6858000" cy="32004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48640" y="4892040"/>
            <a:ext cx="6766560" cy="27432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So rechnen kommunale Wärmepläne heute: gegen 23.73 ct. Abschnitt 5.1, 5.4.</a:t>
            </a:r>
            <a:endParaRPr lang="en-US" sz="900" dirty="0"/>
          </a:p>
        </p:txBody>
      </p:sp>
      <p:sp>
        <p:nvSpPr>
          <p:cNvPr id="8" name="Shape 5"/>
          <p:cNvSpPr/>
          <p:nvPr/>
        </p:nvSpPr>
        <p:spPr>
          <a:xfrm>
            <a:off x="7680960" y="1737360"/>
            <a:ext cx="64008" cy="1005840"/>
          </a:xfrm>
          <a:prstGeom prst="rect">
            <a:avLst/>
          </a:prstGeom>
          <a:solidFill>
            <a:srgbClr val="1F5673"/>
          </a:solidFill>
          <a:ln w="12700">
            <a:solidFill>
              <a:srgbClr val="1F5673"/>
            </a:solidFill>
            <a:prstDash val="solid"/>
          </a:ln>
        </p:spPr>
      </p:sp>
      <p:sp>
        <p:nvSpPr>
          <p:cNvPr id="9" name="Text 6"/>
          <p:cNvSpPr txBox="1"/>
          <p:nvPr/>
        </p:nvSpPr>
        <p:spPr>
          <a:xfrm>
            <a:off x="7909560" y="1691640"/>
            <a:ext cx="3749040" cy="411480"/>
          </a:xfrm>
          <a:prstGeom prst="rect">
            <a:avLst/>
          </a:prstGeom>
          <a:noFill/>
          <a:ln/>
        </p:spPr>
        <p:txBody>
          <a:bodyPr wrap="square" lIns="0" tIns="0" rIns="0" bIns="0" rtlCol="0" anchor="t"/>
          <a:lstStyle/>
          <a:p>
            <a:pPr indent="0" marL="0">
              <a:buNone/>
            </a:pPr>
            <a:r>
              <a:rPr lang="en-US" sz="1150" b="1" dirty="0">
                <a:solidFill>
                  <a:srgbClr val="1F5673"/>
                </a:solidFill>
                <a:latin typeface="Calibri" pitchFamily="34" charset="0"/>
                <a:ea typeface="Calibri" pitchFamily="34" charset="-122"/>
                <a:cs typeface="Calibri" pitchFamily="34" charset="-120"/>
              </a:rPr>
              <a:t>Der Maßstab verschiebt alle Schwellen um Faktor 1.8 bis 5.</a:t>
            </a:r>
            <a:endParaRPr lang="en-US" sz="1150" dirty="0"/>
          </a:p>
        </p:txBody>
      </p:sp>
      <p:sp>
        <p:nvSpPr>
          <p:cNvPr id="10" name="Text 7"/>
          <p:cNvSpPr txBox="1"/>
          <p:nvPr/>
        </p:nvSpPr>
        <p:spPr>
          <a:xfrm>
            <a:off x="7909560" y="2075688"/>
            <a:ext cx="3749040" cy="822960"/>
          </a:xfrm>
          <a:prstGeom prst="rect">
            <a:avLst/>
          </a:prstGeom>
          <a:noFill/>
          <a:ln/>
        </p:spPr>
        <p:txBody>
          <a:bodyPr wrap="square" lIns="0" tIns="0" rIns="0" bIns="0" rtlCol="0" anchor="t"/>
          <a:lstStyle/>
          <a:p>
            <a:pPr indent="0" marL="0">
              <a:buNone/>
            </a:pPr>
            <a:r>
              <a:rPr lang="en-US" sz="950" dirty="0">
                <a:solidFill>
                  <a:srgbClr val="56534B"/>
                </a:solidFill>
                <a:latin typeface="Calibri" pitchFamily="34" charset="0"/>
                <a:ea typeface="Calibri" pitchFamily="34" charset="-122"/>
                <a:cs typeface="Calibri" pitchFamily="34" charset="-120"/>
              </a:rPr>
              <a:t>Wärmepläne, die gegen deutsche WP-Vollkosten rechnen, weisen systematisch zu große Netzgebiete aus – ein Planungsrisiko mit fünfzig Jahren Bindung.</a:t>
            </a:r>
            <a:endParaRPr lang="en-US" sz="950" dirty="0"/>
          </a:p>
        </p:txBody>
      </p:sp>
      <p:sp>
        <p:nvSpPr>
          <p:cNvPr id="11" name="Shape 8"/>
          <p:cNvSpPr/>
          <p:nvPr/>
        </p:nvSpPr>
        <p:spPr>
          <a:xfrm>
            <a:off x="7680960" y="2971800"/>
            <a:ext cx="64008" cy="1005840"/>
          </a:xfrm>
          <a:prstGeom prst="rect">
            <a:avLst/>
          </a:prstGeom>
          <a:solidFill>
            <a:srgbClr val="9A5B12"/>
          </a:solidFill>
          <a:ln w="12700">
            <a:solidFill>
              <a:srgbClr val="9A5B12"/>
            </a:solidFill>
            <a:prstDash val="solid"/>
          </a:ln>
        </p:spPr>
      </p:sp>
      <p:sp>
        <p:nvSpPr>
          <p:cNvPr id="12" name="Text 9"/>
          <p:cNvSpPr txBox="1"/>
          <p:nvPr/>
        </p:nvSpPr>
        <p:spPr>
          <a:xfrm>
            <a:off x="7909560" y="2926080"/>
            <a:ext cx="3749040" cy="411480"/>
          </a:xfrm>
          <a:prstGeom prst="rect">
            <a:avLst/>
          </a:prstGeom>
          <a:noFill/>
          <a:ln/>
        </p:spPr>
        <p:txBody>
          <a:bodyPr wrap="square" lIns="0" tIns="0" rIns="0" bIns="0" rtlCol="0" anchor="t"/>
          <a:lstStyle/>
          <a:p>
            <a:pPr indent="0" marL="0">
              <a:buNone/>
            </a:pPr>
            <a:r>
              <a:rPr lang="en-US" sz="1150" b="1" dirty="0">
                <a:solidFill>
                  <a:srgbClr val="9A5B12"/>
                </a:solidFill>
                <a:latin typeface="Calibri" pitchFamily="34" charset="0"/>
                <a:ea typeface="Calibri" pitchFamily="34" charset="-122"/>
                <a:cs typeface="Calibri" pitchFamily="34" charset="-120"/>
              </a:rPr>
              <a:t>Der Hochlauf verschärft das.</a:t>
            </a:r>
            <a:endParaRPr lang="en-US" sz="1150" dirty="0"/>
          </a:p>
        </p:txBody>
      </p:sp>
      <p:sp>
        <p:nvSpPr>
          <p:cNvPr id="13" name="Text 10"/>
          <p:cNvSpPr txBox="1"/>
          <p:nvPr/>
        </p:nvSpPr>
        <p:spPr>
          <a:xfrm>
            <a:off x="7909560" y="3310128"/>
            <a:ext cx="3749040" cy="822960"/>
          </a:xfrm>
          <a:prstGeom prst="rect">
            <a:avLst/>
          </a:prstGeom>
          <a:noFill/>
          <a:ln/>
        </p:spPr>
        <p:txBody>
          <a:bodyPr wrap="square" lIns="0" tIns="0" rIns="0" bIns="0" rtlCol="0" anchor="t"/>
          <a:lstStyle/>
          <a:p>
            <a:pPr indent="0" marL="0">
              <a:buNone/>
            </a:pPr>
            <a:r>
              <a:rPr lang="en-US" sz="950" dirty="0">
                <a:solidFill>
                  <a:srgbClr val="56534B"/>
                </a:solidFill>
                <a:latin typeface="Calibri" pitchFamily="34" charset="0"/>
                <a:ea typeface="Calibri" pitchFamily="34" charset="-122"/>
                <a:cs typeface="Calibri" pitchFamily="34" charset="-120"/>
              </a:rPr>
              <a:t>Das Modell rechnet mit heutigen WP-Kosten. Mit dem Markthochlauf sinken sie über die Lernkurve weiter, Tiefbaukosten steigen (Baupreisindex Ortskanäle 2021–2026: +42 %). Nicht im Modell – die Schwellen wandern weiter nach oben.</a:t>
            </a:r>
            <a:endParaRPr lang="en-US" sz="950" dirty="0"/>
          </a:p>
        </p:txBody>
      </p:sp>
      <p:sp>
        <p:nvSpPr>
          <p:cNvPr id="14" name="Shape 11"/>
          <p:cNvSpPr/>
          <p:nvPr/>
        </p:nvSpPr>
        <p:spPr>
          <a:xfrm>
            <a:off x="7680960" y="4206240"/>
            <a:ext cx="64008" cy="1005840"/>
          </a:xfrm>
          <a:prstGeom prst="rect">
            <a:avLst/>
          </a:prstGeom>
          <a:solidFill>
            <a:srgbClr val="7A2E2E"/>
          </a:solidFill>
          <a:ln w="12700">
            <a:solidFill>
              <a:srgbClr val="7A2E2E"/>
            </a:solidFill>
            <a:prstDash val="solid"/>
          </a:ln>
        </p:spPr>
      </p:sp>
      <p:sp>
        <p:nvSpPr>
          <p:cNvPr id="15" name="Text 12"/>
          <p:cNvSpPr txBox="1"/>
          <p:nvPr/>
        </p:nvSpPr>
        <p:spPr>
          <a:xfrm>
            <a:off x="7909560" y="4160520"/>
            <a:ext cx="3749040" cy="411480"/>
          </a:xfrm>
          <a:prstGeom prst="rect">
            <a:avLst/>
          </a:prstGeom>
          <a:noFill/>
          <a:ln/>
        </p:spPr>
        <p:txBody>
          <a:bodyPr wrap="square" lIns="0" tIns="0" rIns="0" bIns="0" rtlCol="0" anchor="t"/>
          <a:lstStyle/>
          <a:p>
            <a:pPr indent="0" marL="0">
              <a:buNone/>
            </a:pPr>
            <a:r>
              <a:rPr lang="en-US" sz="1150" b="1" dirty="0">
                <a:solidFill>
                  <a:srgbClr val="7A2E2E"/>
                </a:solidFill>
                <a:latin typeface="Calibri" pitchFamily="34" charset="0"/>
                <a:ea typeface="Calibri" pitchFamily="34" charset="-122"/>
                <a:cs typeface="Calibri" pitchFamily="34" charset="-120"/>
              </a:rPr>
              <a:t>Und beides bleibt zu teuer.</a:t>
            </a:r>
            <a:endParaRPr lang="en-US" sz="1150" dirty="0"/>
          </a:p>
        </p:txBody>
      </p:sp>
      <p:sp>
        <p:nvSpPr>
          <p:cNvPr id="16" name="Text 13"/>
          <p:cNvSpPr txBox="1"/>
          <p:nvPr/>
        </p:nvSpPr>
        <p:spPr>
          <a:xfrm>
            <a:off x="7909560" y="4544568"/>
            <a:ext cx="3749040" cy="822960"/>
          </a:xfrm>
          <a:prstGeom prst="rect">
            <a:avLst/>
          </a:prstGeom>
          <a:noFill/>
          <a:ln/>
        </p:spPr>
        <p:txBody>
          <a:bodyPr wrap="square" lIns="0" tIns="0" rIns="0" bIns="0" rtlCol="0" anchor="t"/>
          <a:lstStyle/>
          <a:p>
            <a:pPr indent="0" marL="0">
              <a:buNone/>
            </a:pPr>
            <a:r>
              <a:rPr lang="en-US" sz="950" dirty="0">
                <a:solidFill>
                  <a:srgbClr val="56534B"/>
                </a:solidFill>
                <a:latin typeface="Calibri" pitchFamily="34" charset="0"/>
                <a:ea typeface="Calibri" pitchFamily="34" charset="-122"/>
                <a:cs typeface="Calibri" pitchFamily="34" charset="-120"/>
              </a:rPr>
              <a:t>Solange Fernwärme gegen einen überhöhten WP-Preis geplant wird, entsteht kein Preisdruck – und der Haushalt entscheidet sich für die dritte Option: fossiles Gas (22 von 27 Kombinationen).</a:t>
            </a:r>
            <a:endParaRPr lang="en-US" sz="950" dirty="0"/>
          </a:p>
        </p:txBody>
      </p:sp>
      <p:sp>
        <p:nvSpPr>
          <p:cNvPr id="17" name="Shape 14"/>
          <p:cNvSpPr/>
          <p:nvPr/>
        </p:nvSpPr>
        <p:spPr>
          <a:xfrm>
            <a:off x="548640" y="5440680"/>
            <a:ext cx="11064240" cy="822960"/>
          </a:xfrm>
          <a:prstGeom prst="roundRect">
            <a:avLst>
              <a:gd name="adj" fmla="val 8889"/>
            </a:avLst>
          </a:prstGeom>
          <a:solidFill>
            <a:srgbClr val="EFEBE1"/>
          </a:solidFill>
          <a:ln w="9525">
            <a:solidFill>
              <a:srgbClr val="C9C3B4"/>
            </a:solidFill>
            <a:prstDash val="solid"/>
          </a:ln>
        </p:spPr>
      </p:sp>
      <p:sp>
        <p:nvSpPr>
          <p:cNvPr id="18" name="Text 15"/>
          <p:cNvSpPr txBox="1"/>
          <p:nvPr/>
        </p:nvSpPr>
        <p:spPr>
          <a:xfrm>
            <a:off x="731520" y="5440680"/>
            <a:ext cx="10698480" cy="822960"/>
          </a:xfrm>
          <a:prstGeom prst="rect">
            <a:avLst/>
          </a:prstGeom>
          <a:noFill/>
          <a:ln/>
        </p:spPr>
        <p:txBody>
          <a:bodyPr wrap="square" lIns="0" tIns="0" rIns="0" bIns="0" rtlCol="0" anchor="ctr"/>
          <a:lstStyle/>
          <a:p>
            <a:pPr indent="0" marL="0">
              <a:buNone/>
            </a:pPr>
            <a:r>
              <a:rPr lang="en-US" sz="1250" b="1" dirty="0">
                <a:solidFill>
                  <a:srgbClr val="7A2E2E"/>
                </a:solidFill>
                <a:latin typeface="Calibri" pitchFamily="34" charset="0"/>
                <a:ea typeface="Calibri" pitchFamily="34" charset="-122"/>
                <a:cs typeface="Calibri" pitchFamily="34" charset="-120"/>
              </a:rPr>
              <a:t>Die Kernbotschaft: </a:t>
            </a:r>
            <a:pPr indent="0" marL="0">
              <a:buNone/>
            </a:pPr>
            <a:r>
              <a:rPr lang="en-US" sz="1250" dirty="0">
                <a:solidFill>
                  <a:srgbClr val="1A1A17"/>
                </a:solidFill>
                <a:latin typeface="Calibri" pitchFamily="34" charset="0"/>
                <a:ea typeface="Calibri" pitchFamily="34" charset="-122"/>
                <a:cs typeface="Calibri" pitchFamily="34" charset="-120"/>
              </a:rPr>
              <a:t>Das deutsche WP-Preisniveau subventioniert die Fernwärme – und macht beides so teuer, dass viele sich für fossiles Gas entscheiden. Der Preis der Wärmepumpe ist das einzige wirksame Preissignal in einem Sektor, den das Kartellamt für nicht regulierbar hält.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TEIL II · BEFUND 4 · RASTER</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Der Vergleichsmaßstab erzeugt einen ganzen Pfad</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5" name="Text 3"/>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9</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1627632"/>
                <a:gridCol w="786384"/>
                <a:gridCol w="786384"/>
                <a:gridCol w="786384"/>
                <a:gridCol w="786384"/>
                <a:gridCol w="786384"/>
                <a:gridCol w="786384"/>
                <a:gridCol w="786384"/>
                <a:gridCol w="786384"/>
                <a:gridCol w="786384"/>
                <a:gridCol w="786384"/>
                <a:gridCol w="786384"/>
                <a:gridCol w="786384"/>
              </a:tblGrid>
              <a:tr h="310896">
                <a:tc>
                  <a:txBody>
                    <a:bodyPr/>
                    <a:lstStyle/>
                    <a:p>
                      <a:pPr indent="0" marL="0">
                        <a:buNone/>
                      </a:pPr>
                      <a:endParaRPr lang="en-US" sz="1200" dirty="0">
                        <a:latin typeface="Calibri" charset="0"/>
                        <a:ea typeface="Calibri" charset="0"/>
                        <a:cs typeface="Calibri" charset="0"/>
                      </a:endParaRPr>
                    </a:p>
                  </a:txBody>
                  <a:tcPr marL="91440" marR="91440" marT="45720" marB="4572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gridSpan="4">
                  <a:txBody>
                    <a:bodyPr/>
                    <a:lstStyle/>
                    <a:p>
                      <a:pPr algn="ctr" indent="0" marL="0">
                        <a:buNone/>
                      </a:pPr>
                      <a:r>
                        <a:rPr lang="en-US" sz="1100" b="1" dirty="0">
                          <a:solidFill>
                            <a:srgbClr val="1A1A17"/>
                          </a:solidFill>
                          <a:latin typeface="Calibri" pitchFamily="34" charset="0"/>
                          <a:ea typeface="Calibri" pitchFamily="34" charset="-122"/>
                          <a:cs typeface="Calibri" pitchFamily="34" charset="-120"/>
                        </a:rPr>
                        <a:t>gegen WP-Referenz (EU) · 17.75 ct</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hMerge="1">
                  <a:tcPr/>
                </a:tc>
                <a:tc hMerge="1">
                  <a:tcPr/>
                </a:tc>
                <a:tc hMerge="1">
                  <a:tcPr/>
                </a:tc>
                <a:tc gridSpan="4">
                  <a:txBody>
                    <a:bodyPr/>
                    <a:lstStyle/>
                    <a:p>
                      <a:pPr algn="ctr" indent="0" marL="0">
                        <a:buNone/>
                      </a:pPr>
                      <a:r>
                        <a:rPr lang="en-US" sz="1100" b="1" dirty="0">
                          <a:solidFill>
                            <a:srgbClr val="1A1A17"/>
                          </a:solidFill>
                          <a:latin typeface="Calibri" pitchFamily="34" charset="0"/>
                          <a:ea typeface="Calibri" pitchFamily="34" charset="-122"/>
                          <a:cs typeface="Calibri" pitchFamily="34" charset="-120"/>
                        </a:rPr>
                        <a:t>gegen Gasheizung · 21.51 ct</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hMerge="1">
                  <a:tcPr/>
                </a:tc>
                <a:tc hMerge="1">
                  <a:tcPr/>
                </a:tc>
                <a:tc hMerge="1">
                  <a:tcPr/>
                </a:tc>
                <a:tc gridSpan="4">
                  <a:txBody>
                    <a:bodyPr/>
                    <a:lstStyle/>
                    <a:p>
                      <a:pPr algn="ctr" indent="0" marL="0">
                        <a:buNone/>
                      </a:pPr>
                      <a:r>
                        <a:rPr lang="en-US" sz="1100" b="1" dirty="0">
                          <a:solidFill>
                            <a:srgbClr val="1A1A17"/>
                          </a:solidFill>
                          <a:latin typeface="Calibri" pitchFamily="34" charset="0"/>
                          <a:ea typeface="Calibri" pitchFamily="34" charset="-122"/>
                          <a:cs typeface="Calibri" pitchFamily="34" charset="-120"/>
                        </a:rPr>
                        <a:t>gegen WP heute (DE) · 23.73 ct</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hMerge="1">
                  <a:tcPr/>
                </a:tc>
                <a:tc hMerge="1">
                  <a:tcPr/>
                </a:tc>
                <a:tc hMerge="1">
                  <a:tcPr/>
                </a:tc>
              </a:tr>
              <a:tr h="237744">
                <a:tc>
                  <a:txBody>
                    <a:bodyPr/>
                    <a:lstStyle/>
                    <a:p>
                      <a:pPr indent="0" marL="0">
                        <a:buNone/>
                      </a:pPr>
                      <a:endParaRPr lang="en-US" sz="1200" dirty="0">
                        <a:latin typeface="Calibri" charset="0"/>
                        <a:ea typeface="Calibri" charset="0"/>
                        <a:cs typeface="Calibri" charset="0"/>
                      </a:endParaRPr>
                    </a:p>
                  </a:txBody>
                  <a:tcPr marL="91440" marR="91440" marT="45720" marB="4572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900" dirty="0">
                          <a:solidFill>
                            <a:srgbClr val="56534B"/>
                          </a:solidFill>
                          <a:latin typeface="Calibri" pitchFamily="34" charset="0"/>
                          <a:ea typeface="Calibri" pitchFamily="34" charset="-122"/>
                          <a:cs typeface="Calibri" pitchFamily="34" charset="-120"/>
                        </a:rPr>
                        <a:t>Abwärme</a:t>
                      </a:r>
                      <a:endParaRPr lang="en-US" sz="9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900" dirty="0">
                          <a:solidFill>
                            <a:srgbClr val="56534B"/>
                          </a:solidFill>
                          <a:latin typeface="Calibri" pitchFamily="34" charset="0"/>
                          <a:ea typeface="Calibri" pitchFamily="34" charset="-122"/>
                          <a:cs typeface="Calibri" pitchFamily="34" charset="-120"/>
                        </a:rPr>
                        <a:t>GroßWP</a:t>
                      </a:r>
                      <a:endParaRPr lang="en-US" sz="9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900" dirty="0">
                          <a:solidFill>
                            <a:srgbClr val="56534B"/>
                          </a:solidFill>
                          <a:latin typeface="Calibri" pitchFamily="34" charset="0"/>
                          <a:ea typeface="Calibri" pitchFamily="34" charset="-122"/>
                          <a:cs typeface="Calibri" pitchFamily="34" charset="-120"/>
                        </a:rPr>
                        <a:t>Gas→Abw</a:t>
                      </a:r>
                      <a:endParaRPr lang="en-US" sz="9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900" dirty="0">
                          <a:solidFill>
                            <a:srgbClr val="56534B"/>
                          </a:solidFill>
                          <a:latin typeface="Calibri" pitchFamily="34" charset="0"/>
                          <a:ea typeface="Calibri" pitchFamily="34" charset="-122"/>
                          <a:cs typeface="Calibri" pitchFamily="34" charset="-120"/>
                        </a:rPr>
                        <a:t>Gas→GWP</a:t>
                      </a:r>
                      <a:endParaRPr lang="en-US" sz="9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900" dirty="0">
                          <a:solidFill>
                            <a:srgbClr val="56534B"/>
                          </a:solidFill>
                          <a:latin typeface="Calibri" pitchFamily="34" charset="0"/>
                          <a:ea typeface="Calibri" pitchFamily="34" charset="-122"/>
                          <a:cs typeface="Calibri" pitchFamily="34" charset="-120"/>
                        </a:rPr>
                        <a:t>Abwärme</a:t>
                      </a:r>
                      <a:endParaRPr lang="en-US" sz="9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900" dirty="0">
                          <a:solidFill>
                            <a:srgbClr val="56534B"/>
                          </a:solidFill>
                          <a:latin typeface="Calibri" pitchFamily="34" charset="0"/>
                          <a:ea typeface="Calibri" pitchFamily="34" charset="-122"/>
                          <a:cs typeface="Calibri" pitchFamily="34" charset="-120"/>
                        </a:rPr>
                        <a:t>GroßWP</a:t>
                      </a:r>
                      <a:endParaRPr lang="en-US" sz="9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900" dirty="0">
                          <a:solidFill>
                            <a:srgbClr val="56534B"/>
                          </a:solidFill>
                          <a:latin typeface="Calibri" pitchFamily="34" charset="0"/>
                          <a:ea typeface="Calibri" pitchFamily="34" charset="-122"/>
                          <a:cs typeface="Calibri" pitchFamily="34" charset="-120"/>
                        </a:rPr>
                        <a:t>Gas→Abw</a:t>
                      </a:r>
                      <a:endParaRPr lang="en-US" sz="9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900" dirty="0">
                          <a:solidFill>
                            <a:srgbClr val="56534B"/>
                          </a:solidFill>
                          <a:latin typeface="Calibri" pitchFamily="34" charset="0"/>
                          <a:ea typeface="Calibri" pitchFamily="34" charset="-122"/>
                          <a:cs typeface="Calibri" pitchFamily="34" charset="-120"/>
                        </a:rPr>
                        <a:t>Gas→GWP</a:t>
                      </a:r>
                      <a:endParaRPr lang="en-US" sz="9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900" dirty="0">
                          <a:solidFill>
                            <a:srgbClr val="56534B"/>
                          </a:solidFill>
                          <a:latin typeface="Calibri" pitchFamily="34" charset="0"/>
                          <a:ea typeface="Calibri" pitchFamily="34" charset="-122"/>
                          <a:cs typeface="Calibri" pitchFamily="34" charset="-120"/>
                        </a:rPr>
                        <a:t>Abwärme</a:t>
                      </a:r>
                      <a:endParaRPr lang="en-US" sz="9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900" dirty="0">
                          <a:solidFill>
                            <a:srgbClr val="56534B"/>
                          </a:solidFill>
                          <a:latin typeface="Calibri" pitchFamily="34" charset="0"/>
                          <a:ea typeface="Calibri" pitchFamily="34" charset="-122"/>
                          <a:cs typeface="Calibri" pitchFamily="34" charset="-120"/>
                        </a:rPr>
                        <a:t>GroßWP</a:t>
                      </a:r>
                      <a:endParaRPr lang="en-US" sz="9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900" dirty="0">
                          <a:solidFill>
                            <a:srgbClr val="56534B"/>
                          </a:solidFill>
                          <a:latin typeface="Calibri" pitchFamily="34" charset="0"/>
                          <a:ea typeface="Calibri" pitchFamily="34" charset="-122"/>
                          <a:cs typeface="Calibri" pitchFamily="34" charset="-120"/>
                        </a:rPr>
                        <a:t>Gas→Abw</a:t>
                      </a:r>
                      <a:endParaRPr lang="en-US" sz="9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900" dirty="0">
                          <a:solidFill>
                            <a:srgbClr val="56534B"/>
                          </a:solidFill>
                          <a:latin typeface="Calibri" pitchFamily="34" charset="0"/>
                          <a:ea typeface="Calibri" pitchFamily="34" charset="-122"/>
                          <a:cs typeface="Calibri" pitchFamily="34" charset="-120"/>
                        </a:rPr>
                        <a:t>Gas→GWP</a:t>
                      </a:r>
                      <a:endParaRPr lang="en-US" sz="9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r>
              <a:tr h="384048">
                <a:tc>
                  <a:txBody>
                    <a:bodyPr/>
                    <a:lstStyle/>
                    <a:p>
                      <a:pPr indent="0" marL="0">
                        <a:buNone/>
                      </a:pPr>
                      <a:r>
                        <a:rPr lang="en-US" sz="1050" dirty="0">
                          <a:solidFill>
                            <a:srgbClr val="1A1A17"/>
                          </a:solidFill>
                          <a:latin typeface="Calibri" pitchFamily="34" charset="0"/>
                          <a:ea typeface="Calibri" pitchFamily="34" charset="-122"/>
                          <a:cs typeface="Calibri" pitchFamily="34" charset="-120"/>
                        </a:rPr>
                        <a:t>EFH-Gebiet</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F1F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5B7E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5B7EB"/>
                    </a:solidFill>
                  </a:tcPr>
                </a:tc>
                <a:tc>
                  <a:txBody>
                    <a:bodyPr/>
                    <a:lstStyle/>
                    <a:p>
                      <a:pPr algn="ctr" indent="0" marL="0">
                        <a:buNone/>
                      </a:pPr>
                      <a:r>
                        <a:rPr lang="en-US" sz="1200" b="1" dirty="0">
                          <a:solidFill>
                            <a:srgbClr val="042C5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5B7E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DE"/>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F1F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F1F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5B7E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DE"/>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F1F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F1F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F1FB"/>
                    </a:solidFill>
                  </a:tcPr>
                </a:tc>
              </a:tr>
              <a:tr h="384048">
                <a:tc>
                  <a:txBody>
                    <a:bodyPr/>
                    <a:lstStyle/>
                    <a:p>
                      <a:pPr indent="0" marL="0">
                        <a:buNone/>
                      </a:pPr>
                      <a:r>
                        <a:rPr lang="en-US" sz="1050" dirty="0">
                          <a:solidFill>
                            <a:srgbClr val="1A1A17"/>
                          </a:solidFill>
                          <a:latin typeface="Calibri" pitchFamily="34" charset="0"/>
                          <a:ea typeface="Calibri" pitchFamily="34" charset="-122"/>
                          <a:cs typeface="Calibri" pitchFamily="34" charset="-120"/>
                        </a:rPr>
                        <a:t>Reihenhaus</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DE"/>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5B7E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F1FB"/>
                    </a:solidFill>
                  </a:tcPr>
                </a:tc>
                <a:tc>
                  <a:txBody>
                    <a:bodyPr/>
                    <a:lstStyle/>
                    <a:p>
                      <a:pPr algn="ctr" indent="0" marL="0">
                        <a:buNone/>
                      </a:pPr>
                      <a:r>
                        <a:rPr lang="en-US" sz="1200" b="1" dirty="0">
                          <a:solidFill>
                            <a:srgbClr val="042C5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5B7E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DE"/>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DE"/>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F1F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DE"/>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DE"/>
                    </a:solidFill>
                  </a:tcPr>
                </a:tc>
              </a:tr>
              <a:tr h="384048">
                <a:tc>
                  <a:txBody>
                    <a:bodyPr/>
                    <a:lstStyle/>
                    <a:p>
                      <a:pPr indent="0" marL="0">
                        <a:buNone/>
                      </a:pPr>
                      <a:r>
                        <a:rPr lang="en-US" sz="1050" dirty="0">
                          <a:solidFill>
                            <a:srgbClr val="1A1A17"/>
                          </a:solidFill>
                          <a:latin typeface="Calibri" pitchFamily="34" charset="0"/>
                          <a:ea typeface="Calibri" pitchFamily="34" charset="-122"/>
                          <a:cs typeface="Calibri" pitchFamily="34" charset="-120"/>
                        </a:rPr>
                        <a:t>Kleines MFH, 5 WE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F1F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F1FB"/>
                    </a:solidFill>
                  </a:tcPr>
                </a:tc>
                <a:tc>
                  <a:txBody>
                    <a:bodyPr/>
                    <a:lstStyle/>
                    <a:p>
                      <a:pPr algn="ctr" indent="0" marL="0">
                        <a:buNone/>
                      </a:pPr>
                      <a:r>
                        <a:rPr lang="en-US" sz="1200" b="1" dirty="0">
                          <a:solidFill>
                            <a:srgbClr val="042C5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5B7E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DE"/>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r>
              <a:tr h="384048">
                <a:tc>
                  <a:txBody>
                    <a:bodyPr/>
                    <a:lstStyle/>
                    <a:p>
                      <a:pPr indent="0" marL="0">
                        <a:buNone/>
                      </a:pPr>
                      <a:r>
                        <a:rPr lang="en-US" sz="1050" dirty="0">
                          <a:solidFill>
                            <a:srgbClr val="1A1A17"/>
                          </a:solidFill>
                          <a:latin typeface="Calibri" pitchFamily="34" charset="0"/>
                          <a:ea typeface="Calibri" pitchFamily="34" charset="-122"/>
                          <a:cs typeface="Calibri" pitchFamily="34" charset="-120"/>
                        </a:rPr>
                        <a:t>Gründerzeitblock</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F1F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DE"/>
                    </a:solidFill>
                  </a:tcPr>
                </a:tc>
                <a:tc>
                  <a:txBody>
                    <a:bodyPr/>
                    <a:lstStyle/>
                    <a:p>
                      <a:pPr algn="ctr" indent="0" marL="0">
                        <a:buNone/>
                      </a:pPr>
                      <a:r>
                        <a:rPr lang="en-US" sz="1200" b="1" dirty="0">
                          <a:solidFill>
                            <a:srgbClr val="042C5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5B7E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r>
              <a:tr h="384048">
                <a:tc>
                  <a:txBody>
                    <a:bodyPr/>
                    <a:lstStyle/>
                    <a:p>
                      <a:pPr indent="0" marL="0">
                        <a:buNone/>
                      </a:pPr>
                      <a:r>
                        <a:rPr lang="en-US" sz="1050" dirty="0">
                          <a:solidFill>
                            <a:srgbClr val="1A1A17"/>
                          </a:solidFill>
                          <a:latin typeface="Calibri" pitchFamily="34" charset="0"/>
                          <a:ea typeface="Calibri" pitchFamily="34" charset="-122"/>
                          <a:cs typeface="Calibri" pitchFamily="34" charset="-120"/>
                        </a:rPr>
                        <a:t>Plattenbau-Zeile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r>
                        <a:rPr lang="en-US" sz="1200" b="1" dirty="0">
                          <a:solidFill>
                            <a:srgbClr val="042C5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5B7E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5B7EB"/>
                    </a:solidFill>
                  </a:tcPr>
                </a:tc>
                <a:tc>
                  <a:txBody>
                    <a:bodyPr/>
                    <a:lstStyle/>
                    <a:p>
                      <a:pPr algn="ctr" indent="0" marL="0">
                        <a:buNone/>
                      </a:pPr>
                      <a:r>
                        <a:rPr lang="en-US" sz="1200" b="1" dirty="0">
                          <a:solidFill>
                            <a:srgbClr val="042C5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5B7E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DE"/>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F1F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DE"/>
                    </a:solidFill>
                  </a:tcPr>
                </a:tc>
              </a:tr>
            </a:tbl>
          </a:graphicData>
        </a:graphic>
      </p:graphicFrame>
      <p:sp>
        <p:nvSpPr>
          <p:cNvPr id="7" name="Text 4"/>
          <p:cNvSpPr txBox="1"/>
          <p:nvPr/>
        </p:nvSpPr>
        <p:spPr>
          <a:xfrm>
            <a:off x="548640" y="4370832"/>
            <a:ext cx="11064240" cy="329184"/>
          </a:xfrm>
          <a:prstGeom prst="rect">
            <a:avLst/>
          </a:prstGeom>
          <a:noFill/>
          <a:ln/>
        </p:spPr>
        <p:txBody>
          <a:bodyPr wrap="square" lIns="0" tIns="0" rIns="0" bIns="0" rtlCol="0" anchor="t"/>
          <a:lstStyle/>
          <a:p>
            <a:pPr indent="0" marL="0">
              <a:buNone/>
            </a:pPr>
            <a:r>
              <a:rPr lang="en-US" sz="1100" b="1" dirty="0">
                <a:solidFill>
                  <a:srgbClr val="3B6D11"/>
                </a:solidFill>
                <a:latin typeface="Calibri" pitchFamily="34" charset="0"/>
                <a:ea typeface="Calibri" pitchFamily="34" charset="-122"/>
                <a:cs typeface="Calibri" pitchFamily="34" charset="-120"/>
              </a:rPr>
              <a:t>Grün: </a:t>
            </a:r>
            <a:pPr indent="0" marL="0">
              <a:buNone/>
            </a:pPr>
            <a:r>
              <a:rPr lang="en-US" sz="1100" dirty="0">
                <a:solidFill>
                  <a:srgbClr val="56534B"/>
                </a:solidFill>
                <a:latin typeface="Calibri" pitchFamily="34" charset="0"/>
                <a:ea typeface="Calibri" pitchFamily="34" charset="-122"/>
                <a:cs typeface="Calibri" pitchFamily="34" charset="-120"/>
              </a:rPr>
              <a:t>das Netz trägt.   </a:t>
            </a:r>
            <a:pPr indent="0" marL="0">
              <a:buNone/>
            </a:pPr>
            <a:r>
              <a:rPr lang="en-US" sz="1100" b="1" dirty="0">
                <a:solidFill>
                  <a:srgbClr val="185FA5"/>
                </a:solidFill>
                <a:latin typeface="Calibri" pitchFamily="34" charset="0"/>
                <a:ea typeface="Calibri" pitchFamily="34" charset="-122"/>
                <a:cs typeface="Calibri" pitchFamily="34" charset="-120"/>
              </a:rPr>
              <a:t>Blau: </a:t>
            </a:r>
            <a:pPr indent="0" marL="0">
              <a:buNone/>
            </a:pPr>
            <a:r>
              <a:rPr lang="en-US" sz="1100" dirty="0">
                <a:solidFill>
                  <a:srgbClr val="56534B"/>
                </a:solidFill>
                <a:latin typeface="Calibri" pitchFamily="34" charset="0"/>
                <a:ea typeface="Calibri" pitchFamily="34" charset="-122"/>
                <a:cs typeface="Calibri" pitchFamily="34" charset="-120"/>
              </a:rPr>
              <a:t>die Wärmepumpe gewinnt.   </a:t>
            </a:r>
            <a:pPr indent="0" marL="0">
              <a:buNone/>
            </a:pPr>
            <a:r>
              <a:rPr lang="en-US" sz="1100" b="1" dirty="0">
                <a:solidFill>
                  <a:srgbClr val="042C53"/>
                </a:solidFill>
                <a:latin typeface="Calibri" pitchFamily="34" charset="0"/>
                <a:ea typeface="Calibri" pitchFamily="34" charset="-122"/>
                <a:cs typeface="Calibri" pitchFamily="34" charset="-120"/>
              </a:rPr>
              <a:t>×: </a:t>
            </a:r>
            <a:pPr indent="0" marL="0">
              <a:buNone/>
            </a:pPr>
            <a:r>
              <a:rPr lang="en-US" sz="1100" dirty="0">
                <a:solidFill>
                  <a:srgbClr val="56534B"/>
                </a:solidFill>
                <a:latin typeface="Calibri" pitchFamily="34" charset="0"/>
                <a:ea typeface="Calibri" pitchFamily="34" charset="-122"/>
                <a:cs typeface="Calibri" pitchFamily="34" charset="-120"/>
              </a:rPr>
              <a:t>negatives Budget – bei keiner Dichte erreichbar.   Je kräftiger der Ton, desto eindeutiger.</a:t>
            </a:r>
            <a:endParaRPr lang="en-US" sz="1100" dirty="0"/>
          </a:p>
        </p:txBody>
      </p:sp>
      <p:sp>
        <p:nvSpPr>
          <p:cNvPr id="8" name="Text 5"/>
          <p:cNvSpPr txBox="1"/>
          <p:nvPr/>
        </p:nvSpPr>
        <p:spPr>
          <a:xfrm>
            <a:off x="548640" y="4773168"/>
            <a:ext cx="3529584" cy="566928"/>
          </a:xfrm>
          <a:prstGeom prst="rect">
            <a:avLst/>
          </a:prstGeom>
          <a:noFill/>
          <a:ln/>
        </p:spPr>
        <p:txBody>
          <a:bodyPr wrap="square" lIns="0" tIns="0" rIns="0" bIns="0" rtlCol="0" anchor="t"/>
          <a:lstStyle/>
          <a:p>
            <a:pPr indent="0" marL="0">
              <a:buNone/>
            </a:pPr>
            <a:r>
              <a:rPr lang="en-US" sz="1000" b="1" dirty="0">
                <a:solidFill>
                  <a:srgbClr val="1F5673"/>
                </a:solidFill>
                <a:latin typeface="Calibri" pitchFamily="34" charset="0"/>
                <a:ea typeface="Calibri" pitchFamily="34" charset="-122"/>
                <a:cs typeface="Calibri" pitchFamily="34" charset="-120"/>
              </a:rPr>
              <a:t>Links: nur die Abwärme trägt. </a:t>
            </a:r>
            <a:pPr indent="0" marL="0">
              <a:buNone/>
            </a:pPr>
            <a:r>
              <a:rPr lang="en-US" sz="1000" dirty="0">
                <a:solidFill>
                  <a:srgbClr val="56534B"/>
                </a:solidFill>
                <a:latin typeface="Calibri" pitchFamily="34" charset="0"/>
                <a:ea typeface="Calibri" pitchFamily="34" charset="-122"/>
                <a:cs typeface="Calibri" pitchFamily="34" charset="-120"/>
              </a:rPr>
              <a:t>Die Dichte ändert daran fast nichts — die Quelle entscheidet.</a:t>
            </a:r>
            <a:endParaRPr lang="en-US" sz="1000" dirty="0"/>
          </a:p>
        </p:txBody>
      </p:sp>
      <p:sp>
        <p:nvSpPr>
          <p:cNvPr id="9" name="Text 6"/>
          <p:cNvSpPr txBox="1"/>
          <p:nvPr/>
        </p:nvSpPr>
        <p:spPr>
          <a:xfrm>
            <a:off x="4261104" y="4773168"/>
            <a:ext cx="3529584" cy="566928"/>
          </a:xfrm>
          <a:prstGeom prst="rect">
            <a:avLst/>
          </a:prstGeom>
          <a:noFill/>
          <a:ln/>
        </p:spPr>
        <p:txBody>
          <a:bodyPr wrap="square" lIns="0" tIns="0" rIns="0" bIns="0" rtlCol="0" anchor="t"/>
          <a:lstStyle/>
          <a:p>
            <a:pPr indent="0" marL="0">
              <a:buNone/>
            </a:pPr>
            <a:r>
              <a:rPr lang="en-US" sz="1000" b="1" dirty="0">
                <a:solidFill>
                  <a:srgbClr val="7A2E2E"/>
                </a:solidFill>
                <a:latin typeface="Calibri" pitchFamily="34" charset="0"/>
                <a:ea typeface="Calibri" pitchFamily="34" charset="-122"/>
                <a:cs typeface="Calibri" pitchFamily="34" charset="-120"/>
              </a:rPr>
              <a:t>Mitte: schon die Gasheizung dreht drei Spalten. </a:t>
            </a:r>
            <a:pPr indent="0" marL="0">
              <a:buNone/>
            </a:pPr>
            <a:r>
              <a:rPr lang="en-US" sz="1000" dirty="0">
                <a:solidFill>
                  <a:srgbClr val="56534B"/>
                </a:solidFill>
                <a:latin typeface="Calibri" pitchFamily="34" charset="0"/>
                <a:ea typeface="Calibri" pitchFamily="34" charset="-122"/>
                <a:cs typeface="Calibri" pitchFamily="34" charset="-120"/>
              </a:rPr>
              <a:t>Der billigste dezentrale Pfad von heute ist ein schwächerer Maßstab als die Wärmepumpe von morgen.</a:t>
            </a:r>
            <a:endParaRPr lang="en-US" sz="1000" dirty="0"/>
          </a:p>
        </p:txBody>
      </p:sp>
      <p:sp>
        <p:nvSpPr>
          <p:cNvPr id="10" name="Text 7"/>
          <p:cNvSpPr txBox="1"/>
          <p:nvPr/>
        </p:nvSpPr>
        <p:spPr>
          <a:xfrm>
            <a:off x="7973568" y="4773168"/>
            <a:ext cx="3529584" cy="566928"/>
          </a:xfrm>
          <a:prstGeom prst="rect">
            <a:avLst/>
          </a:prstGeom>
          <a:noFill/>
          <a:ln/>
        </p:spPr>
        <p:txBody>
          <a:bodyPr wrap="square" lIns="0" tIns="0" rIns="0" bIns="0" rtlCol="0" anchor="t"/>
          <a:lstStyle/>
          <a:p>
            <a:pPr indent="0" marL="0">
              <a:buNone/>
            </a:pPr>
            <a:r>
              <a:rPr lang="en-US" sz="1000" b="1" dirty="0">
                <a:solidFill>
                  <a:srgbClr val="9A5B12"/>
                </a:solidFill>
                <a:latin typeface="Calibri" pitchFamily="34" charset="0"/>
                <a:ea typeface="Calibri" pitchFamily="34" charset="-122"/>
                <a:cs typeface="Calibri" pitchFamily="34" charset="-120"/>
              </a:rPr>
              <a:t>Rechts: alles trägt. </a:t>
            </a:r>
            <a:pPr indent="0" marL="0">
              <a:buNone/>
            </a:pPr>
            <a:r>
              <a:rPr lang="en-US" sz="1000" dirty="0">
                <a:solidFill>
                  <a:srgbClr val="56534B"/>
                </a:solidFill>
                <a:latin typeface="Calibri" pitchFamily="34" charset="0"/>
                <a:ea typeface="Calibri" pitchFamily="34" charset="-122"/>
                <a:cs typeface="Calibri" pitchFamily="34" charset="-120"/>
              </a:rPr>
              <a:t>Gasvorlauf vor Großwärmepumpe geht von „nie“ auf vier von fünf — ein Pfad, den erst der Maßstab erzeugt.</a:t>
            </a:r>
            <a:endParaRPr lang="en-US" sz="1000" dirty="0"/>
          </a:p>
        </p:txBody>
      </p:sp>
      <p:sp>
        <p:nvSpPr>
          <p:cNvPr id="11" name="Shape 8"/>
          <p:cNvSpPr/>
          <p:nvPr/>
        </p:nvSpPr>
        <p:spPr>
          <a:xfrm>
            <a:off x="548640" y="5440680"/>
            <a:ext cx="11064240" cy="822960"/>
          </a:xfrm>
          <a:prstGeom prst="roundRect">
            <a:avLst>
              <a:gd name="adj" fmla="val 8889"/>
            </a:avLst>
          </a:prstGeom>
          <a:solidFill>
            <a:srgbClr val="EFEBE1"/>
          </a:solidFill>
          <a:ln w="9525">
            <a:solidFill>
              <a:srgbClr val="C9C3B4"/>
            </a:solidFill>
            <a:prstDash val="solid"/>
          </a:ln>
        </p:spPr>
      </p:sp>
      <p:sp>
        <p:nvSpPr>
          <p:cNvPr id="12" name="Text 9"/>
          <p:cNvSpPr txBox="1"/>
          <p:nvPr/>
        </p:nvSpPr>
        <p:spPr>
          <a:xfrm>
            <a:off x="731520" y="5440680"/>
            <a:ext cx="10698480" cy="822960"/>
          </a:xfrm>
          <a:prstGeom prst="rect">
            <a:avLst/>
          </a:prstGeom>
          <a:noFill/>
          <a:ln/>
        </p:spPr>
        <p:txBody>
          <a:bodyPr wrap="square" lIns="0" tIns="0" rIns="0" bIns="0" rtlCol="0" anchor="ctr"/>
          <a:lstStyle/>
          <a:p>
            <a:pPr indent="0" marL="0">
              <a:buNone/>
            </a:pPr>
            <a:r>
              <a:rPr lang="en-US" sz="1250" b="1" dirty="0">
                <a:solidFill>
                  <a:srgbClr val="7A2E2E"/>
                </a:solidFill>
                <a:latin typeface="Calibri" pitchFamily="34" charset="0"/>
                <a:ea typeface="Calibri" pitchFamily="34" charset="-122"/>
                <a:cs typeface="Calibri" pitchFamily="34" charset="-120"/>
              </a:rPr>
              <a:t>Die Kernbotschaften:</a:t>
            </a:r>
            <a:endParaRPr lang="en-US" sz="1250" dirty="0"/>
          </a:p>
          <a:p>
            <a:pPr indent="0" marL="0">
              <a:buNone/>
            </a:pPr>
            <a:r>
              <a:rPr lang="en-US" sz="1250" b="1" dirty="0">
                <a:solidFill>
                  <a:srgbClr val="7A2E2E"/>
                </a:solidFill>
                <a:latin typeface="Calibri" pitchFamily="34" charset="0"/>
                <a:ea typeface="Calibri" pitchFamily="34" charset="-122"/>
                <a:cs typeface="Calibri" pitchFamily="34" charset="-120"/>
              </a:rPr>
              <a:t>– </a:t>
            </a:r>
            <a:pPr indent="0" marL="0">
              <a:buNone/>
            </a:pPr>
            <a:r>
              <a:rPr lang="en-US" sz="1250" dirty="0">
                <a:solidFill>
                  <a:srgbClr val="1A1A17"/>
                </a:solidFill>
                <a:latin typeface="Calibri" pitchFamily="34" charset="0"/>
                <a:ea typeface="Calibri" pitchFamily="34" charset="-122"/>
                <a:cs typeface="Calibri" pitchFamily="34" charset="-120"/>
              </a:rPr>
              <a:t>Das deutsche WP-Preisniveau subventioniert die Fernwärme – und macht beides so teuer, dass viele sich aktuell noch für fossiles Gas entscheiden.</a:t>
            </a:r>
            <a:endParaRPr lang="en-US" sz="1250" dirty="0"/>
          </a:p>
          <a:p>
            <a:pPr indent="0" marL="0">
              <a:buNone/>
            </a:pPr>
            <a:r>
              <a:rPr lang="en-US" sz="1250" dirty="0">
                <a:solidFill>
                  <a:srgbClr val="1A1A17"/>
                </a:solidFill>
                <a:latin typeface="Calibri" pitchFamily="34" charset="0"/>
                <a:ea typeface="Calibri" pitchFamily="34" charset="-122"/>
                <a:cs typeface="Calibri" pitchFamily="34" charset="-120"/>
              </a:rPr>
              <a:t>– Senken wir WP-Preise, könnten manche Fernwärmenetze zu „sunk costs“ werden oder einen politisch teuren Anschluss- und Benutzungszwang erzwingen.</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TEIL II · BEFUND 5 · OPPORTUNITÄTSKOSTEN</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1 Mrd. € = 26'000 oder 413'000 Haushalte, je nach Gebäudetyp</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5" name="Text 3"/>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10</a:t>
            </a:r>
            <a:endParaRPr lang="en-US" sz="900" dirty="0"/>
          </a:p>
        </p:txBody>
      </p:sp>
      <p:graphicFrame>
        <p:nvGraphicFramePr>
          <p:cNvPr id="6" name="Chart 0" descr=""/>
          <p:cNvGraphicFramePr/>
          <p:nvPr/>
        </p:nvGraphicFramePr>
        <p:xfrm>
          <a:off x="1188720" y="1645920"/>
          <a:ext cx="6583680" cy="34747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68680" y="2606040"/>
            <a:ext cx="137160" cy="2377440"/>
          </a:xfrm>
          <a:prstGeom prst="leftBracket">
            <a:avLst/>
          </a:prstGeom>
          <a:noFill/>
          <a:ln w="19050">
            <a:solidFill>
              <a:srgbClr val="1F5673"/>
            </a:solidFill>
            <a:prstDash val="solid"/>
          </a:ln>
        </p:spPr>
      </p:sp>
      <p:sp>
        <p:nvSpPr>
          <p:cNvPr id="8" name="Text 5"/>
          <p:cNvSpPr txBox="1"/>
          <p:nvPr/>
        </p:nvSpPr>
        <p:spPr>
          <a:xfrm rot="16200000">
            <a:off x="45720" y="3611880"/>
            <a:ext cx="1280160" cy="365760"/>
          </a:xfrm>
          <a:prstGeom prst="rect">
            <a:avLst/>
          </a:prstGeom>
          <a:noFill/>
          <a:ln/>
        </p:spPr>
        <p:txBody>
          <a:bodyPr wrap="square" lIns="0" tIns="0" rIns="0" bIns="0" rtlCol="0" anchor="ctr"/>
          <a:lstStyle/>
          <a:p>
            <a:pPr algn="ctr" indent="0" marL="0">
              <a:buNone/>
            </a:pPr>
            <a:r>
              <a:rPr lang="en-US" sz="1050" b="1" dirty="0">
                <a:solidFill>
                  <a:srgbClr val="1F5673"/>
                </a:solidFill>
                <a:latin typeface="Calibri" pitchFamily="34" charset="0"/>
                <a:ea typeface="Calibri" pitchFamily="34" charset="-122"/>
                <a:cs typeface="Calibri" pitchFamily="34" charset="-120"/>
              </a:rPr>
              <a:t>Netzausbau</a:t>
            </a:r>
            <a:endParaRPr lang="en-US" sz="1050" dirty="0"/>
          </a:p>
        </p:txBody>
      </p:sp>
      <p:sp>
        <p:nvSpPr>
          <p:cNvPr id="9" name="Text 6"/>
          <p:cNvSpPr txBox="1"/>
          <p:nvPr/>
        </p:nvSpPr>
        <p:spPr>
          <a:xfrm>
            <a:off x="1188720" y="5120640"/>
            <a:ext cx="6583680" cy="32004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Je Wohneinheit: 9'000 € · 38'770 € · 18'460 € · 5'050 € · 4'390 € · 2'420 €. Trassenmeter aus der Bebauungsgeometrie, Gründerzeitblock in Innenstadtlage. Abschnitt 6, Tabelle 5 des Skripts.</a:t>
            </a:r>
            <a:endParaRPr lang="en-US" sz="900" dirty="0"/>
          </a:p>
        </p:txBody>
      </p:sp>
      <p:sp>
        <p:nvSpPr>
          <p:cNvPr id="10" name="Shape 7"/>
          <p:cNvSpPr/>
          <p:nvPr/>
        </p:nvSpPr>
        <p:spPr>
          <a:xfrm>
            <a:off x="8092440" y="1737360"/>
            <a:ext cx="64008" cy="1051560"/>
          </a:xfrm>
          <a:prstGeom prst="rect">
            <a:avLst/>
          </a:prstGeom>
          <a:solidFill>
            <a:srgbClr val="7A2E2E"/>
          </a:solidFill>
          <a:ln w="12700">
            <a:solidFill>
              <a:srgbClr val="7A2E2E"/>
            </a:solidFill>
            <a:prstDash val="solid"/>
          </a:ln>
        </p:spPr>
      </p:sp>
      <p:sp>
        <p:nvSpPr>
          <p:cNvPr id="11" name="Text 8"/>
          <p:cNvSpPr txBox="1"/>
          <p:nvPr/>
        </p:nvSpPr>
        <p:spPr>
          <a:xfrm>
            <a:off x="8321040" y="1691640"/>
            <a:ext cx="3337560" cy="457200"/>
          </a:xfrm>
          <a:prstGeom prst="rect">
            <a:avLst/>
          </a:prstGeom>
          <a:noFill/>
          <a:ln/>
        </p:spPr>
        <p:txBody>
          <a:bodyPr wrap="square" lIns="0" tIns="0" rIns="0" bIns="0" rtlCol="0" anchor="t"/>
          <a:lstStyle/>
          <a:p>
            <a:pPr indent="0" marL="0">
              <a:buNone/>
            </a:pPr>
            <a:r>
              <a:rPr lang="en-US" sz="1100" b="1" dirty="0">
                <a:solidFill>
                  <a:srgbClr val="7A2E2E"/>
                </a:solidFill>
                <a:latin typeface="Calibri" pitchFamily="34" charset="0"/>
                <a:ea typeface="Calibri" pitchFamily="34" charset="-122"/>
                <a:cs typeface="Calibri" pitchFamily="34" charset="-120"/>
              </a:rPr>
              <a:t>Im Ein- und Zweifamilienhausbestand ist der Netzausbau die teuerste Mittelverwendung.</a:t>
            </a:r>
            <a:endParaRPr lang="en-US" sz="1100" dirty="0"/>
          </a:p>
        </p:txBody>
      </p:sp>
      <p:sp>
        <p:nvSpPr>
          <p:cNvPr id="12" name="Text 9"/>
          <p:cNvSpPr txBox="1"/>
          <p:nvPr/>
        </p:nvSpPr>
        <p:spPr>
          <a:xfrm>
            <a:off x="8321040" y="2148840"/>
            <a:ext cx="3337560" cy="777240"/>
          </a:xfrm>
          <a:prstGeom prst="rect">
            <a:avLst/>
          </a:prstGeom>
          <a:noFill/>
          <a:ln/>
        </p:spPr>
        <p:txBody>
          <a:bodyPr wrap="square" lIns="0" tIns="0" rIns="0" bIns="0" rtlCol="0" anchor="t"/>
          <a:lstStyle/>
          <a:p>
            <a:pPr indent="0" marL="0">
              <a:buNone/>
            </a:pPr>
            <a:r>
              <a:rPr lang="en-US" sz="950" dirty="0">
                <a:solidFill>
                  <a:srgbClr val="56534B"/>
                </a:solidFill>
                <a:latin typeface="Calibri" pitchFamily="34" charset="0"/>
                <a:ea typeface="Calibri" pitchFamily="34" charset="-122"/>
                <a:cs typeface="Calibri" pitchFamily="34" charset="-120"/>
              </a:rPr>
              <a:t>4.3-mal teurer je Haushalt als der Festbetrag (Spanne 3.6–6.8), im Reihenhaus 2.1-mal. Dort muss sich nicht die Wärmepumpe gegen das Netz rechtfertigen, sondern das Netz gegen die Wärmepumpe.</a:t>
            </a:r>
            <a:endParaRPr lang="en-US" sz="950" dirty="0"/>
          </a:p>
        </p:txBody>
      </p:sp>
      <p:sp>
        <p:nvSpPr>
          <p:cNvPr id="13" name="Shape 10"/>
          <p:cNvSpPr/>
          <p:nvPr/>
        </p:nvSpPr>
        <p:spPr>
          <a:xfrm>
            <a:off x="8092440" y="2971800"/>
            <a:ext cx="64008" cy="1051560"/>
          </a:xfrm>
          <a:prstGeom prst="rect">
            <a:avLst/>
          </a:prstGeom>
          <a:solidFill>
            <a:srgbClr val="1F5673"/>
          </a:solidFill>
          <a:ln w="12700">
            <a:solidFill>
              <a:srgbClr val="1F5673"/>
            </a:solidFill>
            <a:prstDash val="solid"/>
          </a:ln>
        </p:spPr>
      </p:sp>
      <p:sp>
        <p:nvSpPr>
          <p:cNvPr id="14" name="Text 11"/>
          <p:cNvSpPr txBox="1"/>
          <p:nvPr/>
        </p:nvSpPr>
        <p:spPr>
          <a:xfrm>
            <a:off x="8321040" y="2926080"/>
            <a:ext cx="3337560" cy="457200"/>
          </a:xfrm>
          <a:prstGeom prst="rect">
            <a:avLst/>
          </a:prstGeom>
          <a:noFill/>
          <a:ln/>
        </p:spPr>
        <p:txBody>
          <a:bodyPr wrap="square" lIns="0" tIns="0" rIns="0" bIns="0" rtlCol="0" anchor="t"/>
          <a:lstStyle/>
          <a:p>
            <a:pPr indent="0" marL="0">
              <a:buNone/>
            </a:pPr>
            <a:r>
              <a:rPr lang="en-US" sz="1100" b="1" dirty="0">
                <a:solidFill>
                  <a:srgbClr val="1F5673"/>
                </a:solidFill>
                <a:latin typeface="Calibri" pitchFamily="34" charset="0"/>
                <a:ea typeface="Calibri" pitchFamily="34" charset="-122"/>
                <a:cs typeface="Calibri" pitchFamily="34" charset="-120"/>
              </a:rPr>
              <a:t>Im Geschosswohnungsbau ist er die billigste.</a:t>
            </a:r>
            <a:endParaRPr lang="en-US" sz="1100" dirty="0"/>
          </a:p>
        </p:txBody>
      </p:sp>
      <p:sp>
        <p:nvSpPr>
          <p:cNvPr id="15" name="Text 12"/>
          <p:cNvSpPr txBox="1"/>
          <p:nvPr/>
        </p:nvSpPr>
        <p:spPr>
          <a:xfrm>
            <a:off x="8321040" y="3383280"/>
            <a:ext cx="3337560" cy="777240"/>
          </a:xfrm>
          <a:prstGeom prst="rect">
            <a:avLst/>
          </a:prstGeom>
          <a:noFill/>
          <a:ln/>
        </p:spPr>
        <p:txBody>
          <a:bodyPr wrap="square" lIns="0" tIns="0" rIns="0" bIns="0" rtlCol="0" anchor="t"/>
          <a:lstStyle/>
          <a:p>
            <a:pPr indent="0" marL="0">
              <a:buNone/>
            </a:pPr>
            <a:r>
              <a:rPr lang="en-US" sz="950" dirty="0">
                <a:solidFill>
                  <a:srgbClr val="56534B"/>
                </a:solidFill>
                <a:latin typeface="Calibri" pitchFamily="34" charset="0"/>
                <a:ea typeface="Calibri" pitchFamily="34" charset="-122"/>
                <a:cs typeface="Calibri" pitchFamily="34" charset="-120"/>
              </a:rPr>
              <a:t>Kleines MFH 0.56, Gründerzeitblock 0.49, Plattenbau 0.27 des Festbetrags – robust über die Trassenmeter-Spanne (Gründerzeit 0.39–0.68).</a:t>
            </a:r>
            <a:endParaRPr lang="en-US" sz="950" dirty="0"/>
          </a:p>
        </p:txBody>
      </p:sp>
      <p:sp>
        <p:nvSpPr>
          <p:cNvPr id="16" name="Shape 13"/>
          <p:cNvSpPr/>
          <p:nvPr/>
        </p:nvSpPr>
        <p:spPr>
          <a:xfrm>
            <a:off x="8092440" y="4206240"/>
            <a:ext cx="64008" cy="1051560"/>
          </a:xfrm>
          <a:prstGeom prst="rect">
            <a:avLst/>
          </a:prstGeom>
          <a:solidFill>
            <a:srgbClr val="56534B"/>
          </a:solidFill>
          <a:ln w="12700">
            <a:solidFill>
              <a:srgbClr val="56534B"/>
            </a:solidFill>
            <a:prstDash val="solid"/>
          </a:ln>
        </p:spPr>
      </p:sp>
      <p:sp>
        <p:nvSpPr>
          <p:cNvPr id="17" name="Text 14"/>
          <p:cNvSpPr txBox="1"/>
          <p:nvPr/>
        </p:nvSpPr>
        <p:spPr>
          <a:xfrm>
            <a:off x="8321040" y="4160520"/>
            <a:ext cx="3337560" cy="457200"/>
          </a:xfrm>
          <a:prstGeom prst="rect">
            <a:avLst/>
          </a:prstGeom>
          <a:noFill/>
          <a:ln/>
        </p:spPr>
        <p:txBody>
          <a:bodyPr wrap="square" lIns="0" tIns="0" rIns="0" bIns="0" rtlCol="0" anchor="t"/>
          <a:lstStyle/>
          <a:p>
            <a:pPr indent="0" marL="0">
              <a:buNone/>
            </a:pPr>
            <a:r>
              <a:rPr lang="en-US" sz="1100" b="1" dirty="0">
                <a:solidFill>
                  <a:srgbClr val="56534B"/>
                </a:solidFill>
                <a:latin typeface="Calibri" pitchFamily="34" charset="0"/>
                <a:ea typeface="Calibri" pitchFamily="34" charset="-122"/>
                <a:cs typeface="Calibri" pitchFamily="34" charset="-120"/>
              </a:rPr>
              <a:t>Fairness-Hinweis</a:t>
            </a:r>
            <a:endParaRPr lang="en-US" sz="1100" dirty="0"/>
          </a:p>
        </p:txBody>
      </p:sp>
      <p:sp>
        <p:nvSpPr>
          <p:cNvPr id="18" name="Text 15"/>
          <p:cNvSpPr txBox="1"/>
          <p:nvPr/>
        </p:nvSpPr>
        <p:spPr>
          <a:xfrm>
            <a:off x="8321040" y="4617720"/>
            <a:ext cx="3337560" cy="777240"/>
          </a:xfrm>
          <a:prstGeom prst="rect">
            <a:avLst/>
          </a:prstGeom>
          <a:noFill/>
          <a:ln/>
        </p:spPr>
        <p:txBody>
          <a:bodyPr wrap="square" lIns="0" tIns="0" rIns="0" bIns="0" rtlCol="0" anchor="t"/>
          <a:lstStyle/>
          <a:p>
            <a:pPr indent="0" marL="0">
              <a:buNone/>
            </a:pPr>
            <a:r>
              <a:rPr lang="en-US" sz="950" dirty="0">
                <a:solidFill>
                  <a:srgbClr val="56534B"/>
                </a:solidFill>
                <a:latin typeface="Calibri" pitchFamily="34" charset="0"/>
                <a:ea typeface="Calibri" pitchFamily="34" charset="-122"/>
                <a:cs typeface="Calibri" pitchFamily="34" charset="-120"/>
              </a:rPr>
              <a:t>Der Festbetrag hebelt privates Kapital; die Rechnung zählt Haushalte in Bewegung je Euro, nicht gebildetes Vermögen.</a:t>
            </a:r>
            <a:endParaRPr lang="en-US" sz="950" dirty="0"/>
          </a:p>
        </p:txBody>
      </p:sp>
      <p:sp>
        <p:nvSpPr>
          <p:cNvPr id="19" name="Shape 16"/>
          <p:cNvSpPr/>
          <p:nvPr/>
        </p:nvSpPr>
        <p:spPr>
          <a:xfrm>
            <a:off x="548640" y="5440680"/>
            <a:ext cx="11064240" cy="822960"/>
          </a:xfrm>
          <a:prstGeom prst="roundRect">
            <a:avLst>
              <a:gd name="adj" fmla="val 8889"/>
            </a:avLst>
          </a:prstGeom>
          <a:solidFill>
            <a:srgbClr val="EFEBE1"/>
          </a:solidFill>
          <a:ln w="9525">
            <a:solidFill>
              <a:srgbClr val="C9C3B4"/>
            </a:solidFill>
            <a:prstDash val="solid"/>
          </a:ln>
        </p:spPr>
      </p:sp>
      <p:sp>
        <p:nvSpPr>
          <p:cNvPr id="20" name="Text 17"/>
          <p:cNvSpPr txBox="1"/>
          <p:nvPr/>
        </p:nvSpPr>
        <p:spPr>
          <a:xfrm>
            <a:off x="731520" y="5440680"/>
            <a:ext cx="10698480" cy="822960"/>
          </a:xfrm>
          <a:prstGeom prst="rect">
            <a:avLst/>
          </a:prstGeom>
          <a:noFill/>
          <a:ln/>
        </p:spPr>
        <p:txBody>
          <a:bodyPr wrap="square" lIns="0" tIns="0" rIns="0" bIns="0" rtlCol="0" anchor="ctr"/>
          <a:lstStyle/>
          <a:p>
            <a:pPr indent="0" marL="0">
              <a:buNone/>
            </a:pPr>
            <a:r>
              <a:rPr lang="en-US" sz="1250" b="1" dirty="0">
                <a:solidFill>
                  <a:srgbClr val="1F5673"/>
                </a:solidFill>
                <a:latin typeface="Calibri" pitchFamily="34" charset="0"/>
                <a:ea typeface="Calibri" pitchFamily="34" charset="-122"/>
                <a:cs typeface="Calibri" pitchFamily="34" charset="-120"/>
              </a:rPr>
              <a:t>Was das heißt: </a:t>
            </a:r>
            <a:pPr indent="0" marL="0">
              <a:buNone/>
            </a:pPr>
            <a:r>
              <a:rPr lang="en-US" sz="1250" dirty="0">
                <a:solidFill>
                  <a:srgbClr val="1A1A17"/>
                </a:solidFill>
                <a:latin typeface="Calibri" pitchFamily="34" charset="0"/>
                <a:ea typeface="Calibri" pitchFamily="34" charset="-122"/>
                <a:cs typeface="Calibri" pitchFamily="34" charset="-120"/>
              </a:rPr>
              <a:t>Eine Wärmeplanung, die eine Stadt mit einem Schwellenwert überzieht, entscheidet in einem Teil des Gebiets systematisch falsch – in beide Richtungen.</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POLITISCHE KERNBOTSCHAFTEN</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Was daraus politisch folgt</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5" name="Text 3"/>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548640" y="2048256"/>
            <a:ext cx="82296" cy="1051560"/>
          </a:xfrm>
          <a:prstGeom prst="rect">
            <a:avLst/>
          </a:prstGeom>
          <a:solidFill>
            <a:srgbClr val="7A2E2E"/>
          </a:solidFill>
          <a:ln w="12700">
            <a:solidFill>
              <a:srgbClr val="7A2E2E"/>
            </a:solidFill>
            <a:prstDash val="solid"/>
          </a:ln>
        </p:spPr>
      </p:sp>
      <p:sp>
        <p:nvSpPr>
          <p:cNvPr id="7" name="Text 5"/>
          <p:cNvSpPr txBox="1"/>
          <p:nvPr/>
        </p:nvSpPr>
        <p:spPr>
          <a:xfrm>
            <a:off x="822960" y="2011680"/>
            <a:ext cx="10698480" cy="457200"/>
          </a:xfrm>
          <a:prstGeom prst="rect">
            <a:avLst/>
          </a:prstGeom>
          <a:noFill/>
          <a:ln/>
        </p:spPr>
        <p:txBody>
          <a:bodyPr wrap="square" lIns="0" tIns="0" rIns="0" bIns="0" rtlCol="0" anchor="t"/>
          <a:lstStyle/>
          <a:p>
            <a:pPr indent="0" marL="0">
              <a:buNone/>
            </a:pPr>
            <a:r>
              <a:rPr lang="en-US" sz="1700" b="1" dirty="0">
                <a:solidFill>
                  <a:srgbClr val="7A2E2E"/>
                </a:solidFill>
                <a:latin typeface="Calibri" pitchFamily="34" charset="0"/>
                <a:ea typeface="Calibri" pitchFamily="34" charset="-122"/>
                <a:cs typeface="Calibri" pitchFamily="34" charset="-120"/>
              </a:rPr>
              <a:t>Anschluss- und Benutzungszwang ist ein politisches Risiko.</a:t>
            </a:r>
            <a:endParaRPr lang="en-US" sz="1700" dirty="0"/>
          </a:p>
        </p:txBody>
      </p:sp>
      <p:sp>
        <p:nvSpPr>
          <p:cNvPr id="8" name="Text 6"/>
          <p:cNvSpPr txBox="1"/>
          <p:nvPr/>
        </p:nvSpPr>
        <p:spPr>
          <a:xfrm>
            <a:off x="822960" y="2468880"/>
            <a:ext cx="10698480" cy="685800"/>
          </a:xfrm>
          <a:prstGeom prst="rect">
            <a:avLst/>
          </a:prstGeom>
          <a:noFill/>
          <a:ln/>
        </p:spPr>
        <p:txBody>
          <a:bodyPr wrap="square" lIns="0" tIns="0" rIns="0" bIns="0" rtlCol="0" anchor="t"/>
          <a:lstStyle/>
          <a:p>
            <a:pPr indent="0" marL="0">
              <a:buNone/>
            </a:pPr>
            <a:r>
              <a:rPr lang="en-US" sz="1250" dirty="0">
                <a:solidFill>
                  <a:srgbClr val="56534B"/>
                </a:solidFill>
                <a:latin typeface="Calibri" pitchFamily="34" charset="0"/>
                <a:ea typeface="Calibri" pitchFamily="34" charset="-122"/>
                <a:cs typeface="Calibri" pitchFamily="34" charset="-120"/>
              </a:rPr>
              <a:t>Je besser die WP-Reform wirkt, desto öfter zwingt er Bürger ans teurere Netz – oder das Netz wird zum stranded asset.</a:t>
            </a:r>
            <a:endParaRPr lang="en-US" sz="1250" dirty="0"/>
          </a:p>
        </p:txBody>
      </p:sp>
      <p:sp>
        <p:nvSpPr>
          <p:cNvPr id="9" name="Shape 7"/>
          <p:cNvSpPr/>
          <p:nvPr/>
        </p:nvSpPr>
        <p:spPr>
          <a:xfrm>
            <a:off x="548640" y="3374136"/>
            <a:ext cx="82296" cy="1051560"/>
          </a:xfrm>
          <a:prstGeom prst="rect">
            <a:avLst/>
          </a:prstGeom>
          <a:solidFill>
            <a:srgbClr val="7A2E2E"/>
          </a:solidFill>
          <a:ln w="12700">
            <a:solidFill>
              <a:srgbClr val="7A2E2E"/>
            </a:solidFill>
            <a:prstDash val="solid"/>
          </a:ln>
        </p:spPr>
      </p:sp>
      <p:sp>
        <p:nvSpPr>
          <p:cNvPr id="10" name="Text 8"/>
          <p:cNvSpPr txBox="1"/>
          <p:nvPr/>
        </p:nvSpPr>
        <p:spPr>
          <a:xfrm>
            <a:off x="822960" y="3337560"/>
            <a:ext cx="10698480" cy="457200"/>
          </a:xfrm>
          <a:prstGeom prst="rect">
            <a:avLst/>
          </a:prstGeom>
          <a:noFill/>
          <a:ln/>
        </p:spPr>
        <p:txBody>
          <a:bodyPr wrap="square" lIns="0" tIns="0" rIns="0" bIns="0" rtlCol="0" anchor="t"/>
          <a:lstStyle/>
          <a:p>
            <a:pPr indent="0" marL="0">
              <a:buNone/>
            </a:pPr>
            <a:r>
              <a:rPr lang="en-US" sz="1700" b="1" dirty="0">
                <a:solidFill>
                  <a:srgbClr val="7A2E2E"/>
                </a:solidFill>
                <a:latin typeface="Calibri" pitchFamily="34" charset="0"/>
                <a:ea typeface="Calibri" pitchFamily="34" charset="-122"/>
                <a:cs typeface="Calibri" pitchFamily="34" charset="-120"/>
              </a:rPr>
              <a:t>Der WP-Preis ist das einzige Preissignal im Wärmesektor.</a:t>
            </a:r>
            <a:endParaRPr lang="en-US" sz="1700" dirty="0"/>
          </a:p>
        </p:txBody>
      </p:sp>
      <p:sp>
        <p:nvSpPr>
          <p:cNvPr id="11" name="Text 9"/>
          <p:cNvSpPr txBox="1"/>
          <p:nvPr/>
        </p:nvSpPr>
        <p:spPr>
          <a:xfrm>
            <a:off x="822960" y="3794760"/>
            <a:ext cx="10698480" cy="685800"/>
          </a:xfrm>
          <a:prstGeom prst="rect">
            <a:avLst/>
          </a:prstGeom>
          <a:noFill/>
          <a:ln/>
        </p:spPr>
        <p:txBody>
          <a:bodyPr wrap="square" lIns="0" tIns="0" rIns="0" bIns="0" rtlCol="0" anchor="t"/>
          <a:lstStyle/>
          <a:p>
            <a:pPr indent="0" marL="0">
              <a:buNone/>
            </a:pPr>
            <a:r>
              <a:rPr lang="en-US" sz="1250" dirty="0">
                <a:solidFill>
                  <a:srgbClr val="56534B"/>
                </a:solidFill>
                <a:latin typeface="Calibri" pitchFamily="34" charset="0"/>
                <a:ea typeface="Calibri" pitchFamily="34" charset="-122"/>
                <a:cs typeface="Calibri" pitchFamily="34" charset="-120"/>
              </a:rPr>
              <a:t>Das deutsche Preisniveau subventioniert die Fernwärme – und treibt Haushalte zu fossilem Gas.</a:t>
            </a:r>
            <a:endParaRPr lang="en-US" sz="1250" dirty="0"/>
          </a:p>
        </p:txBody>
      </p:sp>
      <p:sp>
        <p:nvSpPr>
          <p:cNvPr id="12" name="Shape 10"/>
          <p:cNvSpPr/>
          <p:nvPr/>
        </p:nvSpPr>
        <p:spPr>
          <a:xfrm>
            <a:off x="548640" y="4700016"/>
            <a:ext cx="82296" cy="1051560"/>
          </a:xfrm>
          <a:prstGeom prst="rect">
            <a:avLst/>
          </a:prstGeom>
          <a:solidFill>
            <a:srgbClr val="9A5B12"/>
          </a:solidFill>
          <a:ln w="12700">
            <a:solidFill>
              <a:srgbClr val="9A5B12"/>
            </a:solidFill>
            <a:prstDash val="solid"/>
          </a:ln>
        </p:spPr>
      </p:sp>
      <p:sp>
        <p:nvSpPr>
          <p:cNvPr id="13" name="Text 11"/>
          <p:cNvSpPr txBox="1"/>
          <p:nvPr/>
        </p:nvSpPr>
        <p:spPr>
          <a:xfrm>
            <a:off x="822960" y="4663440"/>
            <a:ext cx="10698480" cy="457200"/>
          </a:xfrm>
          <a:prstGeom prst="rect">
            <a:avLst/>
          </a:prstGeom>
          <a:noFill/>
          <a:ln/>
        </p:spPr>
        <p:txBody>
          <a:bodyPr wrap="square" lIns="0" tIns="0" rIns="0" bIns="0" rtlCol="0" anchor="t"/>
          <a:lstStyle/>
          <a:p>
            <a:pPr indent="0" marL="0">
              <a:buNone/>
            </a:pPr>
            <a:r>
              <a:rPr lang="en-US" sz="1700" b="1" dirty="0">
                <a:solidFill>
                  <a:srgbClr val="9A5B12"/>
                </a:solidFill>
                <a:latin typeface="Calibri" pitchFamily="34" charset="0"/>
                <a:ea typeface="Calibri" pitchFamily="34" charset="-122"/>
                <a:cs typeface="Calibri" pitchFamily="34" charset="-120"/>
              </a:rPr>
              <a:t>2045 ist nichts wert, solange nicht gebaut wird.</a:t>
            </a:r>
            <a:endParaRPr lang="en-US" sz="1700" dirty="0"/>
          </a:p>
        </p:txBody>
      </p:sp>
      <p:sp>
        <p:nvSpPr>
          <p:cNvPr id="14" name="Text 12"/>
          <p:cNvSpPr txBox="1"/>
          <p:nvPr/>
        </p:nvSpPr>
        <p:spPr>
          <a:xfrm>
            <a:off x="822960" y="5120640"/>
            <a:ext cx="10698480" cy="685800"/>
          </a:xfrm>
          <a:prstGeom prst="rect">
            <a:avLst/>
          </a:prstGeom>
          <a:noFill/>
          <a:ln/>
        </p:spPr>
        <p:txBody>
          <a:bodyPr wrap="square" lIns="0" tIns="0" rIns="0" bIns="0" rtlCol="0" anchor="t"/>
          <a:lstStyle/>
          <a:p>
            <a:pPr indent="0" marL="0">
              <a:buNone/>
            </a:pPr>
            <a:r>
              <a:rPr lang="en-US" sz="1250" dirty="0">
                <a:solidFill>
                  <a:srgbClr val="56534B"/>
                </a:solidFill>
                <a:latin typeface="Calibri" pitchFamily="34" charset="0"/>
                <a:ea typeface="Calibri" pitchFamily="34" charset="-122"/>
                <a:cs typeface="Calibri" pitchFamily="34" charset="-120"/>
              </a:rPr>
              <a:t>Alle wetten auf ein Verschieben des Ziels. Nur Wirtschaftlichkeit heute erzeugt Hochlauf.</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SCHLUSSFOLGERUNGEN</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Fünf Instrumente für Bund und Land</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5" name="Text 3"/>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548640" y="1645920"/>
            <a:ext cx="11064240" cy="822960"/>
          </a:xfrm>
          <a:prstGeom prst="roundRect">
            <a:avLst>
              <a:gd name="adj" fmla="val 6667"/>
            </a:avLst>
          </a:prstGeom>
          <a:solidFill>
            <a:srgbClr val="DEE9E8"/>
          </a:solidFill>
          <a:ln w="9525">
            <a:solidFill>
              <a:srgbClr val="0F5257"/>
            </a:solidFill>
            <a:prstDash val="solid"/>
          </a:ln>
        </p:spPr>
      </p:sp>
      <p:sp>
        <p:nvSpPr>
          <p:cNvPr id="7" name="Text 5"/>
          <p:cNvSpPr txBox="1"/>
          <p:nvPr/>
        </p:nvSpPr>
        <p:spPr>
          <a:xfrm>
            <a:off x="685800" y="1737360"/>
            <a:ext cx="365760" cy="640080"/>
          </a:xfrm>
          <a:prstGeom prst="rect">
            <a:avLst/>
          </a:prstGeom>
          <a:noFill/>
          <a:ln/>
        </p:spPr>
        <p:txBody>
          <a:bodyPr wrap="square" lIns="0" tIns="0" rIns="0" bIns="0" rtlCol="0" anchor="ctr"/>
          <a:lstStyle/>
          <a:p>
            <a:pPr algn="ctr" indent="0" marL="0">
              <a:buNone/>
            </a:pPr>
            <a:r>
              <a:rPr lang="en-US" sz="2200" b="1" dirty="0">
                <a:solidFill>
                  <a:srgbClr val="0F5257"/>
                </a:solidFill>
                <a:latin typeface="Cambria" pitchFamily="34" charset="0"/>
                <a:ea typeface="Cambria" pitchFamily="34" charset="-122"/>
                <a:cs typeface="Cambria" pitchFamily="34" charset="-120"/>
              </a:rPr>
              <a:t>1</a:t>
            </a:r>
            <a:endParaRPr lang="en-US" sz="2200" dirty="0"/>
          </a:p>
        </p:txBody>
      </p:sp>
      <p:pic>
        <p:nvPicPr>
          <p:cNvPr id="8" name="Image 0" descr="preencoded.png">    </p:cNvPr>
          <p:cNvPicPr>
            <a:picLocks noChangeAspect="1"/>
          </p:cNvPicPr>
          <p:nvPr/>
        </p:nvPicPr>
        <p:blipFill>
          <a:blip r:embed="rId1"/>
          <a:stretch>
            <a:fillRect/>
          </a:stretch>
        </p:blipFill>
        <p:spPr>
          <a:xfrm>
            <a:off x="1143000" y="1920240"/>
            <a:ext cx="274320" cy="274320"/>
          </a:xfrm>
          <a:prstGeom prst="rect">
            <a:avLst/>
          </a:prstGeom>
        </p:spPr>
      </p:pic>
      <p:sp>
        <p:nvSpPr>
          <p:cNvPr id="9" name="Text 6"/>
          <p:cNvSpPr txBox="1"/>
          <p:nvPr/>
        </p:nvSpPr>
        <p:spPr>
          <a:xfrm>
            <a:off x="1554480" y="1719072"/>
            <a:ext cx="7863840" cy="274320"/>
          </a:xfrm>
          <a:prstGeom prst="rect">
            <a:avLst/>
          </a:prstGeom>
          <a:noFill/>
          <a:ln/>
        </p:spPr>
        <p:txBody>
          <a:bodyPr wrap="square" lIns="0" tIns="0" rIns="0" bIns="0" rtlCol="0" anchor="ctr"/>
          <a:lstStyle/>
          <a:p>
            <a:pPr indent="0" marL="0">
              <a:buNone/>
            </a:pPr>
            <a:r>
              <a:rPr lang="en-US" sz="1200" b="1" dirty="0">
                <a:solidFill>
                  <a:srgbClr val="1A1A17"/>
                </a:solidFill>
                <a:latin typeface="Calibri" pitchFamily="34" charset="0"/>
                <a:ea typeface="Calibri" pitchFamily="34" charset="-122"/>
                <a:cs typeface="Calibri" pitchFamily="34" charset="-120"/>
              </a:rPr>
              <a:t>BEG-Festbetrag und Normen-Safe-Harbour – das ist zugleich Fernwärme-Preisdisziplin</a:t>
            </a:r>
            <a:endParaRPr lang="en-US" sz="1200" dirty="0"/>
          </a:p>
        </p:txBody>
      </p:sp>
      <p:sp>
        <p:nvSpPr>
          <p:cNvPr id="10" name="Text 7"/>
          <p:cNvSpPr txBox="1"/>
          <p:nvPr/>
        </p:nvSpPr>
        <p:spPr>
          <a:xfrm>
            <a:off x="1554480" y="1993392"/>
            <a:ext cx="7863840" cy="457200"/>
          </a:xfrm>
          <a:prstGeom prst="rect">
            <a:avLst/>
          </a:prstGeom>
          <a:noFill/>
          <a:ln/>
        </p:spPr>
        <p:txBody>
          <a:bodyPr wrap="square" lIns="0" tIns="0" rIns="0" bIns="0" rtlCol="0" anchor="t"/>
          <a:lstStyle/>
          <a:p>
            <a:pPr indent="0" marL="0">
              <a:buNone/>
            </a:pPr>
            <a:r>
              <a:rPr lang="en-US" sz="950" dirty="0">
                <a:solidFill>
                  <a:srgbClr val="56534B"/>
                </a:solidFill>
                <a:latin typeface="Calibri" pitchFamily="34" charset="0"/>
                <a:ea typeface="Calibri" pitchFamily="34" charset="-122"/>
                <a:cs typeface="Calibri" pitchFamily="34" charset="-120"/>
              </a:rPr>
              <a:t>Die glaubwürdige dezentrale Alternative ist das einzige wirksame Preissignal. Jeder Euro weniger Installationspreis wirkt als Obergrenze für den Fernwärmepreis. Kapital ist dabei nicht der Engpass: Der Bund bürgt schon für Wärmenetze – niemand ruft es ab.</a:t>
            </a:r>
            <a:endParaRPr lang="en-US" sz="950" dirty="0"/>
          </a:p>
        </p:txBody>
      </p:sp>
      <p:sp>
        <p:nvSpPr>
          <p:cNvPr id="11" name="Text 8"/>
          <p:cNvSpPr txBox="1"/>
          <p:nvPr/>
        </p:nvSpPr>
        <p:spPr>
          <a:xfrm>
            <a:off x="9509760" y="1719072"/>
            <a:ext cx="2011680" cy="676656"/>
          </a:xfrm>
          <a:prstGeom prst="rect">
            <a:avLst/>
          </a:prstGeom>
          <a:noFill/>
          <a:ln/>
        </p:spPr>
        <p:txBody>
          <a:bodyPr wrap="square" lIns="0" tIns="0" rIns="0" bIns="0" rtlCol="0" anchor="ctr"/>
          <a:lstStyle/>
          <a:p>
            <a:pPr algn="r" indent="0" marL="0">
              <a:buNone/>
            </a:pPr>
            <a:r>
              <a:rPr lang="en-US" sz="900" dirty="0">
                <a:solidFill>
                  <a:srgbClr val="9A5B12"/>
                </a:solidFill>
                <a:latin typeface="Calibri" pitchFamily="34" charset="0"/>
                <a:ea typeface="Calibri" pitchFamily="34" charset="-122"/>
                <a:cs typeface="Calibri" pitchFamily="34" charset="-120"/>
              </a:rPr>
              <a:t>Teil I, Hebel 1 + 2 · Abschnitt 9.5</a:t>
            </a:r>
            <a:endParaRPr lang="en-US" sz="900" dirty="0"/>
          </a:p>
        </p:txBody>
      </p:sp>
      <p:sp>
        <p:nvSpPr>
          <p:cNvPr id="12" name="Shape 9"/>
          <p:cNvSpPr/>
          <p:nvPr/>
        </p:nvSpPr>
        <p:spPr>
          <a:xfrm>
            <a:off x="548640" y="2560320"/>
            <a:ext cx="11064240" cy="822960"/>
          </a:xfrm>
          <a:prstGeom prst="roundRect">
            <a:avLst>
              <a:gd name="adj" fmla="val 6667"/>
            </a:avLst>
          </a:prstGeom>
          <a:solidFill>
            <a:srgbClr val="FFFFFF"/>
          </a:solidFill>
          <a:ln w="9525">
            <a:solidFill>
              <a:srgbClr val="C9C3B4"/>
            </a:solidFill>
            <a:prstDash val="solid"/>
          </a:ln>
        </p:spPr>
      </p:sp>
      <p:sp>
        <p:nvSpPr>
          <p:cNvPr id="13" name="Text 10"/>
          <p:cNvSpPr txBox="1"/>
          <p:nvPr/>
        </p:nvSpPr>
        <p:spPr>
          <a:xfrm>
            <a:off x="685800" y="2651760"/>
            <a:ext cx="365760" cy="640080"/>
          </a:xfrm>
          <a:prstGeom prst="rect">
            <a:avLst/>
          </a:prstGeom>
          <a:noFill/>
          <a:ln/>
        </p:spPr>
        <p:txBody>
          <a:bodyPr wrap="square" lIns="0" tIns="0" rIns="0" bIns="0" rtlCol="0" anchor="ctr"/>
          <a:lstStyle/>
          <a:p>
            <a:pPr algn="ctr" indent="0" marL="0">
              <a:buNone/>
            </a:pPr>
            <a:r>
              <a:rPr lang="en-US" sz="2200" b="1" dirty="0">
                <a:solidFill>
                  <a:srgbClr val="0F5257"/>
                </a:solidFill>
                <a:latin typeface="Cambria" pitchFamily="34" charset="0"/>
                <a:ea typeface="Cambria" pitchFamily="34" charset="-122"/>
                <a:cs typeface="Cambria" pitchFamily="34" charset="-120"/>
              </a:rPr>
              <a:t>2</a:t>
            </a:r>
            <a:endParaRPr lang="en-US" sz="2200" dirty="0"/>
          </a:p>
        </p:txBody>
      </p:sp>
      <p:pic>
        <p:nvPicPr>
          <p:cNvPr id="14" name="Image 1" descr="preencoded.png">    </p:cNvPr>
          <p:cNvPicPr>
            <a:picLocks noChangeAspect="1"/>
          </p:cNvPicPr>
          <p:nvPr/>
        </p:nvPicPr>
        <p:blipFill>
          <a:blip r:embed="rId2"/>
          <a:stretch>
            <a:fillRect/>
          </a:stretch>
        </p:blipFill>
        <p:spPr>
          <a:xfrm>
            <a:off x="1143000" y="2834640"/>
            <a:ext cx="274320" cy="274320"/>
          </a:xfrm>
          <a:prstGeom prst="rect">
            <a:avLst/>
          </a:prstGeom>
        </p:spPr>
      </p:pic>
      <p:sp>
        <p:nvSpPr>
          <p:cNvPr id="15" name="Text 11"/>
          <p:cNvSpPr txBox="1"/>
          <p:nvPr/>
        </p:nvSpPr>
        <p:spPr>
          <a:xfrm>
            <a:off x="1554480" y="2633472"/>
            <a:ext cx="7863840" cy="274320"/>
          </a:xfrm>
          <a:prstGeom prst="rect">
            <a:avLst/>
          </a:prstGeom>
          <a:noFill/>
          <a:ln/>
        </p:spPr>
        <p:txBody>
          <a:bodyPr wrap="square" lIns="0" tIns="0" rIns="0" bIns="0" rtlCol="0" anchor="ctr"/>
          <a:lstStyle/>
          <a:p>
            <a:pPr indent="0" marL="0">
              <a:buNone/>
            </a:pPr>
            <a:r>
              <a:rPr lang="en-US" sz="1200" b="1" dirty="0">
                <a:solidFill>
                  <a:srgbClr val="1A1A17"/>
                </a:solidFill>
                <a:latin typeface="Calibri" pitchFamily="34" charset="0"/>
                <a:ea typeface="Calibri" pitchFamily="34" charset="-122"/>
                <a:cs typeface="Calibri" pitchFamily="34" charset="-120"/>
              </a:rPr>
              <a:t>Braucht die Wärmeplanung einen feineren Benchmark?</a:t>
            </a:r>
            <a:endParaRPr lang="en-US" sz="1200" dirty="0"/>
          </a:p>
        </p:txBody>
      </p:sp>
      <p:sp>
        <p:nvSpPr>
          <p:cNvPr id="16" name="Text 12"/>
          <p:cNvSpPr txBox="1"/>
          <p:nvPr/>
        </p:nvSpPr>
        <p:spPr>
          <a:xfrm>
            <a:off x="1554480" y="2907792"/>
            <a:ext cx="7863840" cy="457200"/>
          </a:xfrm>
          <a:prstGeom prst="rect">
            <a:avLst/>
          </a:prstGeom>
          <a:noFill/>
          <a:ln/>
        </p:spPr>
        <p:txBody>
          <a:bodyPr wrap="square" lIns="0" tIns="0" rIns="0" bIns="0" rtlCol="0" anchor="t"/>
          <a:lstStyle/>
          <a:p>
            <a:pPr indent="0" marL="0">
              <a:buNone/>
            </a:pPr>
            <a:r>
              <a:rPr lang="en-US" sz="950" dirty="0">
                <a:solidFill>
                  <a:srgbClr val="56534B"/>
                </a:solidFill>
                <a:latin typeface="Calibri" pitchFamily="34" charset="0"/>
                <a:ea typeface="Calibri" pitchFamily="34" charset="-122"/>
                <a:cs typeface="Calibri" pitchFamily="34" charset="-120"/>
              </a:rPr>
              <a:t>Nach Gebäudetyp statt Gebietsmittelwert, gegen die europäisch normalisierte WP-Referenz, mit offengelegten Annahmen und Sanierungs-Stresstest – damit nicht an der falschen Stelle ausgebaut wird.</a:t>
            </a:r>
            <a:endParaRPr lang="en-US" sz="950" dirty="0"/>
          </a:p>
        </p:txBody>
      </p:sp>
      <p:sp>
        <p:nvSpPr>
          <p:cNvPr id="17" name="Text 13"/>
          <p:cNvSpPr txBox="1"/>
          <p:nvPr/>
        </p:nvSpPr>
        <p:spPr>
          <a:xfrm>
            <a:off x="9509760" y="2633472"/>
            <a:ext cx="2011680" cy="676656"/>
          </a:xfrm>
          <a:prstGeom prst="rect">
            <a:avLst/>
          </a:prstGeom>
          <a:noFill/>
          <a:ln/>
        </p:spPr>
        <p:txBody>
          <a:bodyPr wrap="square" lIns="0" tIns="0" rIns="0" bIns="0" rtlCol="0" anchor="ctr"/>
          <a:lstStyle/>
          <a:p>
            <a:pPr algn="r" indent="0" marL="0">
              <a:buNone/>
            </a:pPr>
            <a:r>
              <a:rPr lang="en-US" sz="900" dirty="0">
                <a:solidFill>
                  <a:srgbClr val="9A5B12"/>
                </a:solidFill>
                <a:latin typeface="Calibri" pitchFamily="34" charset="0"/>
                <a:ea typeface="Calibri" pitchFamily="34" charset="-122"/>
                <a:cs typeface="Calibri" pitchFamily="34" charset="-120"/>
              </a:rPr>
              <a:t>WPG § 18 · Abschnitt 9.1</a:t>
            </a:r>
            <a:endParaRPr lang="en-US" sz="900" dirty="0"/>
          </a:p>
        </p:txBody>
      </p:sp>
      <p:sp>
        <p:nvSpPr>
          <p:cNvPr id="18" name="Shape 14"/>
          <p:cNvSpPr/>
          <p:nvPr/>
        </p:nvSpPr>
        <p:spPr>
          <a:xfrm>
            <a:off x="548640" y="3474720"/>
            <a:ext cx="11064240" cy="822960"/>
          </a:xfrm>
          <a:prstGeom prst="roundRect">
            <a:avLst>
              <a:gd name="adj" fmla="val 6667"/>
            </a:avLst>
          </a:prstGeom>
          <a:solidFill>
            <a:srgbClr val="FFFFFF"/>
          </a:solidFill>
          <a:ln w="9525">
            <a:solidFill>
              <a:srgbClr val="C9C3B4"/>
            </a:solidFill>
            <a:prstDash val="solid"/>
          </a:ln>
        </p:spPr>
      </p:sp>
      <p:sp>
        <p:nvSpPr>
          <p:cNvPr id="19" name="Text 15"/>
          <p:cNvSpPr txBox="1"/>
          <p:nvPr/>
        </p:nvSpPr>
        <p:spPr>
          <a:xfrm>
            <a:off x="685800" y="3566160"/>
            <a:ext cx="365760" cy="640080"/>
          </a:xfrm>
          <a:prstGeom prst="rect">
            <a:avLst/>
          </a:prstGeom>
          <a:noFill/>
          <a:ln/>
        </p:spPr>
        <p:txBody>
          <a:bodyPr wrap="square" lIns="0" tIns="0" rIns="0" bIns="0" rtlCol="0" anchor="ctr"/>
          <a:lstStyle/>
          <a:p>
            <a:pPr algn="ctr" indent="0" marL="0">
              <a:buNone/>
            </a:pPr>
            <a:r>
              <a:rPr lang="en-US" sz="2200" b="1" dirty="0">
                <a:solidFill>
                  <a:srgbClr val="0F5257"/>
                </a:solidFill>
                <a:latin typeface="Cambria" pitchFamily="34" charset="0"/>
                <a:ea typeface="Cambria" pitchFamily="34" charset="-122"/>
                <a:cs typeface="Cambria" pitchFamily="34" charset="-120"/>
              </a:rPr>
              <a:t>3</a:t>
            </a:r>
            <a:endParaRPr lang="en-US" sz="2200" dirty="0"/>
          </a:p>
        </p:txBody>
      </p:sp>
      <p:pic>
        <p:nvPicPr>
          <p:cNvPr id="20" name="Image 2" descr="preencoded.png">    </p:cNvPr>
          <p:cNvPicPr>
            <a:picLocks noChangeAspect="1"/>
          </p:cNvPicPr>
          <p:nvPr/>
        </p:nvPicPr>
        <p:blipFill>
          <a:blip r:embed="rId3"/>
          <a:stretch>
            <a:fillRect/>
          </a:stretch>
        </p:blipFill>
        <p:spPr>
          <a:xfrm>
            <a:off x="1143000" y="3749040"/>
            <a:ext cx="274320" cy="274320"/>
          </a:xfrm>
          <a:prstGeom prst="rect">
            <a:avLst/>
          </a:prstGeom>
        </p:spPr>
      </p:pic>
      <p:sp>
        <p:nvSpPr>
          <p:cNvPr id="21" name="Text 16"/>
          <p:cNvSpPr txBox="1"/>
          <p:nvPr/>
        </p:nvSpPr>
        <p:spPr>
          <a:xfrm>
            <a:off x="1554480" y="3547872"/>
            <a:ext cx="7863840" cy="274320"/>
          </a:xfrm>
          <a:prstGeom prst="rect">
            <a:avLst/>
          </a:prstGeom>
          <a:noFill/>
          <a:ln/>
        </p:spPr>
        <p:txBody>
          <a:bodyPr wrap="square" lIns="0" tIns="0" rIns="0" bIns="0" rtlCol="0" anchor="ctr"/>
          <a:lstStyle/>
          <a:p>
            <a:pPr indent="0" marL="0">
              <a:buNone/>
            </a:pPr>
            <a:r>
              <a:rPr lang="en-US" sz="1200" b="1" dirty="0">
                <a:solidFill>
                  <a:srgbClr val="1A1A17"/>
                </a:solidFill>
                <a:latin typeface="Calibri" pitchFamily="34" charset="0"/>
                <a:ea typeface="Calibri" pitchFamily="34" charset="-122"/>
                <a:cs typeface="Calibri" pitchFamily="34" charset="-120"/>
              </a:rPr>
              <a:t>Ein Wärmenetzregister</a:t>
            </a:r>
            <a:endParaRPr lang="en-US" sz="1200" dirty="0"/>
          </a:p>
        </p:txBody>
      </p:sp>
      <p:sp>
        <p:nvSpPr>
          <p:cNvPr id="22" name="Text 17"/>
          <p:cNvSpPr txBox="1"/>
          <p:nvPr/>
        </p:nvSpPr>
        <p:spPr>
          <a:xfrm>
            <a:off x="1554480" y="3822192"/>
            <a:ext cx="7863840" cy="457200"/>
          </a:xfrm>
          <a:prstGeom prst="rect">
            <a:avLst/>
          </a:prstGeom>
          <a:noFill/>
          <a:ln/>
        </p:spPr>
        <p:txBody>
          <a:bodyPr wrap="square" lIns="0" tIns="0" rIns="0" bIns="0" rtlCol="0" anchor="t"/>
          <a:lstStyle/>
          <a:p>
            <a:pPr indent="0" marL="0">
              <a:buNone/>
            </a:pPr>
            <a:r>
              <a:rPr lang="en-US" sz="950" dirty="0">
                <a:solidFill>
                  <a:srgbClr val="56534B"/>
                </a:solidFill>
                <a:latin typeface="Calibri" pitchFamily="34" charset="0"/>
                <a:ea typeface="Calibri" pitchFamily="34" charset="-122"/>
                <a:cs typeface="Calibri" pitchFamily="34" charset="-120"/>
              </a:rPr>
              <a:t>Trassenlängen, Anschlusswerte, Wärmequellen, Netzverluste. Der Branchenverband erfasst heute nur etwa ein Fünftel der geschätzten Trassenlänge.</a:t>
            </a:r>
            <a:endParaRPr lang="en-US" sz="950" dirty="0"/>
          </a:p>
        </p:txBody>
      </p:sp>
      <p:sp>
        <p:nvSpPr>
          <p:cNvPr id="23" name="Text 18"/>
          <p:cNvSpPr txBox="1"/>
          <p:nvPr/>
        </p:nvSpPr>
        <p:spPr>
          <a:xfrm>
            <a:off x="9509760" y="3547872"/>
            <a:ext cx="2011680" cy="676656"/>
          </a:xfrm>
          <a:prstGeom prst="rect">
            <a:avLst/>
          </a:prstGeom>
          <a:noFill/>
          <a:ln/>
        </p:spPr>
        <p:txBody>
          <a:bodyPr wrap="square" lIns="0" tIns="0" rIns="0" bIns="0" rtlCol="0" anchor="ctr"/>
          <a:lstStyle/>
          <a:p>
            <a:pPr algn="r" indent="0" marL="0">
              <a:buNone/>
            </a:pPr>
            <a:r>
              <a:rPr lang="en-US" sz="900" dirty="0">
                <a:solidFill>
                  <a:srgbClr val="9A5B12"/>
                </a:solidFill>
                <a:latin typeface="Calibri" pitchFamily="34" charset="0"/>
                <a:ea typeface="Calibri" pitchFamily="34" charset="-122"/>
                <a:cs typeface="Calibri" pitchFamily="34" charset="-120"/>
              </a:rPr>
              <a:t>Abschnitt 9.2, A.4</a:t>
            </a:r>
            <a:endParaRPr lang="en-US" sz="900" dirty="0"/>
          </a:p>
        </p:txBody>
      </p:sp>
      <p:sp>
        <p:nvSpPr>
          <p:cNvPr id="24" name="Shape 19"/>
          <p:cNvSpPr/>
          <p:nvPr/>
        </p:nvSpPr>
        <p:spPr>
          <a:xfrm>
            <a:off x="548640" y="4389120"/>
            <a:ext cx="11064240" cy="822960"/>
          </a:xfrm>
          <a:prstGeom prst="roundRect">
            <a:avLst>
              <a:gd name="adj" fmla="val 6667"/>
            </a:avLst>
          </a:prstGeom>
          <a:solidFill>
            <a:srgbClr val="FFFFFF"/>
          </a:solidFill>
          <a:ln w="9525">
            <a:solidFill>
              <a:srgbClr val="C9C3B4"/>
            </a:solidFill>
            <a:prstDash val="solid"/>
          </a:ln>
        </p:spPr>
      </p:sp>
      <p:sp>
        <p:nvSpPr>
          <p:cNvPr id="25" name="Text 20"/>
          <p:cNvSpPr txBox="1"/>
          <p:nvPr/>
        </p:nvSpPr>
        <p:spPr>
          <a:xfrm>
            <a:off x="685800" y="4480560"/>
            <a:ext cx="365760" cy="640080"/>
          </a:xfrm>
          <a:prstGeom prst="rect">
            <a:avLst/>
          </a:prstGeom>
          <a:noFill/>
          <a:ln/>
        </p:spPr>
        <p:txBody>
          <a:bodyPr wrap="square" lIns="0" tIns="0" rIns="0" bIns="0" rtlCol="0" anchor="ctr"/>
          <a:lstStyle/>
          <a:p>
            <a:pPr algn="ctr" indent="0" marL="0">
              <a:buNone/>
            </a:pPr>
            <a:r>
              <a:rPr lang="en-US" sz="2200" b="1" dirty="0">
                <a:solidFill>
                  <a:srgbClr val="0F5257"/>
                </a:solidFill>
                <a:latin typeface="Cambria" pitchFamily="34" charset="0"/>
                <a:ea typeface="Cambria" pitchFamily="34" charset="-122"/>
                <a:cs typeface="Cambria" pitchFamily="34" charset="-120"/>
              </a:rPr>
              <a:t>4</a:t>
            </a:r>
            <a:endParaRPr lang="en-US" sz="2200" dirty="0"/>
          </a:p>
        </p:txBody>
      </p:sp>
      <p:pic>
        <p:nvPicPr>
          <p:cNvPr id="26" name="Image 3" descr="preencoded.png">    </p:cNvPr>
          <p:cNvPicPr>
            <a:picLocks noChangeAspect="1"/>
          </p:cNvPicPr>
          <p:nvPr/>
        </p:nvPicPr>
        <p:blipFill>
          <a:blip r:embed="rId4"/>
          <a:stretch>
            <a:fillRect/>
          </a:stretch>
        </p:blipFill>
        <p:spPr>
          <a:xfrm>
            <a:off x="1143000" y="4663440"/>
            <a:ext cx="274320" cy="274320"/>
          </a:xfrm>
          <a:prstGeom prst="rect">
            <a:avLst/>
          </a:prstGeom>
        </p:spPr>
      </p:pic>
      <p:sp>
        <p:nvSpPr>
          <p:cNvPr id="27" name="Text 21"/>
          <p:cNvSpPr txBox="1"/>
          <p:nvPr/>
        </p:nvSpPr>
        <p:spPr>
          <a:xfrm>
            <a:off x="1554480" y="4462272"/>
            <a:ext cx="7863840" cy="274320"/>
          </a:xfrm>
          <a:prstGeom prst="rect">
            <a:avLst/>
          </a:prstGeom>
          <a:noFill/>
          <a:ln/>
        </p:spPr>
        <p:txBody>
          <a:bodyPr wrap="square" lIns="0" tIns="0" rIns="0" bIns="0" rtlCol="0" anchor="ctr"/>
          <a:lstStyle/>
          <a:p>
            <a:pPr indent="0" marL="0">
              <a:buNone/>
            </a:pPr>
            <a:r>
              <a:rPr lang="en-US" sz="1200" b="1" dirty="0">
                <a:solidFill>
                  <a:srgbClr val="1A1A17"/>
                </a:solidFill>
                <a:latin typeface="Calibri" pitchFamily="34" charset="0"/>
                <a:ea typeface="Calibri" pitchFamily="34" charset="-122"/>
                <a:cs typeface="Calibri" pitchFamily="34" charset="-120"/>
              </a:rPr>
              <a:t>Förderung quellenscharf steuern – und Quellenwechsel fördern</a:t>
            </a:r>
            <a:endParaRPr lang="en-US" sz="1200" dirty="0"/>
          </a:p>
        </p:txBody>
      </p:sp>
      <p:sp>
        <p:nvSpPr>
          <p:cNvPr id="28" name="Text 22"/>
          <p:cNvSpPr txBox="1"/>
          <p:nvPr/>
        </p:nvSpPr>
        <p:spPr>
          <a:xfrm>
            <a:off x="1554480" y="4736592"/>
            <a:ext cx="7863840" cy="457200"/>
          </a:xfrm>
          <a:prstGeom prst="rect">
            <a:avLst/>
          </a:prstGeom>
          <a:noFill/>
          <a:ln/>
        </p:spPr>
        <p:txBody>
          <a:bodyPr wrap="square" lIns="0" tIns="0" rIns="0" bIns="0" rtlCol="0" anchor="t"/>
          <a:lstStyle/>
          <a:p>
            <a:pPr indent="0" marL="0">
              <a:buNone/>
            </a:pPr>
            <a:r>
              <a:rPr lang="en-US" sz="950" dirty="0">
                <a:solidFill>
                  <a:srgbClr val="56534B"/>
                </a:solidFill>
                <a:latin typeface="Calibri" pitchFamily="34" charset="0"/>
                <a:ea typeface="Calibri" pitchFamily="34" charset="-122"/>
                <a:cs typeface="Calibri" pitchFamily="34" charset="-120"/>
              </a:rPr>
              <a:t>Abwärmenetze haben Vorrang. Gasvorlauf-Netze werden wie ihre Nachfolgequelle behandelt: Förderentscheidung am Nachweis für die Quelle ab 2045. GroßWP/Geothermie nur mit projektspezifischer Vollkostenrechnung. Im Bestand: den Quellenwechsel fördern, nicht neue Trassen.</a:t>
            </a:r>
            <a:endParaRPr lang="en-US" sz="950" dirty="0"/>
          </a:p>
        </p:txBody>
      </p:sp>
      <p:sp>
        <p:nvSpPr>
          <p:cNvPr id="29" name="Text 23"/>
          <p:cNvSpPr txBox="1"/>
          <p:nvPr/>
        </p:nvSpPr>
        <p:spPr>
          <a:xfrm>
            <a:off x="9509760" y="4462272"/>
            <a:ext cx="2011680" cy="676656"/>
          </a:xfrm>
          <a:prstGeom prst="rect">
            <a:avLst/>
          </a:prstGeom>
          <a:noFill/>
          <a:ln/>
        </p:spPr>
        <p:txBody>
          <a:bodyPr wrap="square" lIns="0" tIns="0" rIns="0" bIns="0" rtlCol="0" anchor="ctr"/>
          <a:lstStyle/>
          <a:p>
            <a:pPr algn="r" indent="0" marL="0">
              <a:buNone/>
            </a:pPr>
            <a:r>
              <a:rPr lang="en-US" sz="900" dirty="0">
                <a:solidFill>
                  <a:srgbClr val="9A5B12"/>
                </a:solidFill>
                <a:latin typeface="Calibri" pitchFamily="34" charset="0"/>
                <a:ea typeface="Calibri" pitchFamily="34" charset="-122"/>
                <a:cs typeface="Calibri" pitchFamily="34" charset="-120"/>
              </a:rPr>
              <a:t>BEW · Abschnitt 9.3</a:t>
            </a:r>
            <a:endParaRPr lang="en-US" sz="900" dirty="0"/>
          </a:p>
        </p:txBody>
      </p:sp>
      <p:sp>
        <p:nvSpPr>
          <p:cNvPr id="30" name="Shape 24"/>
          <p:cNvSpPr/>
          <p:nvPr/>
        </p:nvSpPr>
        <p:spPr>
          <a:xfrm>
            <a:off x="548640" y="5303520"/>
            <a:ext cx="11064240" cy="822960"/>
          </a:xfrm>
          <a:prstGeom prst="roundRect">
            <a:avLst>
              <a:gd name="adj" fmla="val 6667"/>
            </a:avLst>
          </a:prstGeom>
          <a:solidFill>
            <a:srgbClr val="FFFFFF"/>
          </a:solidFill>
          <a:ln w="9525">
            <a:solidFill>
              <a:srgbClr val="C9C3B4"/>
            </a:solidFill>
            <a:prstDash val="solid"/>
          </a:ln>
        </p:spPr>
      </p:sp>
      <p:sp>
        <p:nvSpPr>
          <p:cNvPr id="31" name="Text 25"/>
          <p:cNvSpPr txBox="1"/>
          <p:nvPr/>
        </p:nvSpPr>
        <p:spPr>
          <a:xfrm>
            <a:off x="685800" y="5394960"/>
            <a:ext cx="365760" cy="640080"/>
          </a:xfrm>
          <a:prstGeom prst="rect">
            <a:avLst/>
          </a:prstGeom>
          <a:noFill/>
          <a:ln/>
        </p:spPr>
        <p:txBody>
          <a:bodyPr wrap="square" lIns="0" tIns="0" rIns="0" bIns="0" rtlCol="0" anchor="ctr"/>
          <a:lstStyle/>
          <a:p>
            <a:pPr algn="ctr" indent="0" marL="0">
              <a:buNone/>
            </a:pPr>
            <a:r>
              <a:rPr lang="en-US" sz="2200" b="1" dirty="0">
                <a:solidFill>
                  <a:srgbClr val="0F5257"/>
                </a:solidFill>
                <a:latin typeface="Cambria" pitchFamily="34" charset="0"/>
                <a:ea typeface="Cambria" pitchFamily="34" charset="-122"/>
                <a:cs typeface="Cambria" pitchFamily="34" charset="-120"/>
              </a:rPr>
              <a:t>5</a:t>
            </a:r>
            <a:endParaRPr lang="en-US" sz="2200" dirty="0"/>
          </a:p>
        </p:txBody>
      </p:sp>
      <p:pic>
        <p:nvPicPr>
          <p:cNvPr id="32" name="Image 4" descr="preencoded.png">    </p:cNvPr>
          <p:cNvPicPr>
            <a:picLocks noChangeAspect="1"/>
          </p:cNvPicPr>
          <p:nvPr/>
        </p:nvPicPr>
        <p:blipFill>
          <a:blip r:embed="rId5"/>
          <a:stretch>
            <a:fillRect/>
          </a:stretch>
        </p:blipFill>
        <p:spPr>
          <a:xfrm>
            <a:off x="1143000" y="5577840"/>
            <a:ext cx="274320" cy="274320"/>
          </a:xfrm>
          <a:prstGeom prst="rect">
            <a:avLst/>
          </a:prstGeom>
        </p:spPr>
      </p:pic>
      <p:sp>
        <p:nvSpPr>
          <p:cNvPr id="33" name="Text 26"/>
          <p:cNvSpPr txBox="1"/>
          <p:nvPr/>
        </p:nvSpPr>
        <p:spPr>
          <a:xfrm>
            <a:off x="1554480" y="5376672"/>
            <a:ext cx="7863840" cy="274320"/>
          </a:xfrm>
          <a:prstGeom prst="rect">
            <a:avLst/>
          </a:prstGeom>
          <a:noFill/>
          <a:ln/>
        </p:spPr>
        <p:txBody>
          <a:bodyPr wrap="square" lIns="0" tIns="0" rIns="0" bIns="0" rtlCol="0" anchor="ctr"/>
          <a:lstStyle/>
          <a:p>
            <a:pPr indent="0" marL="0">
              <a:buNone/>
            </a:pPr>
            <a:r>
              <a:rPr lang="en-US" sz="1200" b="1" dirty="0">
                <a:solidFill>
                  <a:srgbClr val="1A1A17"/>
                </a:solidFill>
                <a:latin typeface="Calibri" pitchFamily="34" charset="0"/>
                <a:ea typeface="Calibri" pitchFamily="34" charset="-122"/>
                <a:cs typeface="Calibri" pitchFamily="34" charset="-120"/>
              </a:rPr>
              <a:t>Eine öffentliche Kostenbenchmark für den Trassenbau</a:t>
            </a:r>
            <a:endParaRPr lang="en-US" sz="1200" dirty="0"/>
          </a:p>
        </p:txBody>
      </p:sp>
      <p:sp>
        <p:nvSpPr>
          <p:cNvPr id="34" name="Text 27"/>
          <p:cNvSpPr txBox="1"/>
          <p:nvPr/>
        </p:nvSpPr>
        <p:spPr>
          <a:xfrm>
            <a:off x="1554480" y="5650992"/>
            <a:ext cx="7863840" cy="457200"/>
          </a:xfrm>
          <a:prstGeom prst="rect">
            <a:avLst/>
          </a:prstGeom>
          <a:noFill/>
          <a:ln/>
        </p:spPr>
        <p:txBody>
          <a:bodyPr wrap="square" lIns="0" tIns="0" rIns="0" bIns="0" rtlCol="0" anchor="t"/>
          <a:lstStyle/>
          <a:p>
            <a:pPr indent="0" marL="0">
              <a:buNone/>
            </a:pPr>
            <a:r>
              <a:rPr lang="en-US" sz="950" dirty="0">
                <a:solidFill>
                  <a:srgbClr val="56534B"/>
                </a:solidFill>
                <a:latin typeface="Calibri" pitchFamily="34" charset="0"/>
                <a:ea typeface="Calibri" pitchFamily="34" charset="-122"/>
                <a:cs typeface="Calibri" pitchFamily="34" charset="-120"/>
              </a:rPr>
              <a:t>Dieses Papier rechnet mit aus AGFW-Punktwolken abgelesenen Medianschätzungen, Preisstand 2021, mit Baupreisindex fortgeschrieben – die Datenlage trägt keine Wirtschaftlichkeitsrechnung. Regelmäßige, regional aufgelöste Erhebung durch Destatis oder BNetzA.</a:t>
            </a:r>
            <a:endParaRPr lang="en-US" sz="950" dirty="0"/>
          </a:p>
        </p:txBody>
      </p:sp>
      <p:sp>
        <p:nvSpPr>
          <p:cNvPr id="35" name="Text 28"/>
          <p:cNvSpPr txBox="1"/>
          <p:nvPr/>
        </p:nvSpPr>
        <p:spPr>
          <a:xfrm>
            <a:off x="9509760" y="5376672"/>
            <a:ext cx="2011680" cy="676656"/>
          </a:xfrm>
          <a:prstGeom prst="rect">
            <a:avLst/>
          </a:prstGeom>
          <a:noFill/>
          <a:ln/>
        </p:spPr>
        <p:txBody>
          <a:bodyPr wrap="square" lIns="0" tIns="0" rIns="0" bIns="0" rtlCol="0" anchor="ctr"/>
          <a:lstStyle/>
          <a:p>
            <a:pPr algn="r" indent="0" marL="0">
              <a:buNone/>
            </a:pPr>
            <a:r>
              <a:rPr lang="en-US" sz="900" dirty="0">
                <a:solidFill>
                  <a:srgbClr val="9A5B12"/>
                </a:solidFill>
                <a:latin typeface="Calibri" pitchFamily="34" charset="0"/>
                <a:ea typeface="Calibri" pitchFamily="34" charset="-122"/>
                <a:cs typeface="Calibri" pitchFamily="34" charset="-120"/>
              </a:rPr>
              <a:t>Abschnitt 9.4, 2.1</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ZUM NACHLESEN</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Das vollständige Papier</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5" name="Text 3"/>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13</a:t>
            </a:r>
            <a:endParaRPr lang="en-US" sz="900" dirty="0"/>
          </a:p>
        </p:txBody>
      </p:sp>
      <p:sp>
        <p:nvSpPr>
          <p:cNvPr id="6" name="Text 4"/>
          <p:cNvSpPr txBox="1"/>
          <p:nvPr/>
        </p:nvSpPr>
        <p:spPr>
          <a:xfrm>
            <a:off x="548640" y="2011680"/>
            <a:ext cx="6035040" cy="1828800"/>
          </a:xfrm>
          <a:prstGeom prst="rect">
            <a:avLst/>
          </a:prstGeom>
          <a:noFill/>
          <a:ln/>
        </p:spPr>
        <p:txBody>
          <a:bodyPr wrap="square" lIns="0" tIns="0" rIns="0" bIns="0" rtlCol="0" anchor="t"/>
          <a:lstStyle/>
          <a:p>
            <a:pPr indent="0" marL="0">
              <a:buNone/>
            </a:pPr>
            <a:r>
              <a:rPr lang="en-US" sz="1400" dirty="0">
                <a:solidFill>
                  <a:srgbClr val="1A1A17"/>
                </a:solidFill>
                <a:latin typeface="Calibri" pitchFamily="34" charset="0"/>
                <a:ea typeface="Calibri" pitchFamily="34" charset="-122"/>
                <a:cs typeface="Calibri" pitchFamily="34" charset="-120"/>
              </a:rPr>
              <a:t>Alle Zahlen dieses Vortrags mit Herleitung, Quellen und Interessenlage,</a:t>
            </a:r>
            <a:endParaRPr lang="en-US" sz="1400" dirty="0"/>
          </a:p>
          <a:p>
            <a:pPr indent="0" marL="0">
              <a:buNone/>
            </a:pPr>
            <a:r>
              <a:rPr lang="en-US" sz="1400" dirty="0">
                <a:solidFill>
                  <a:srgbClr val="1A1A17"/>
                </a:solidFill>
                <a:latin typeface="Calibri" pitchFamily="34" charset="0"/>
                <a:ea typeface="Calibri" pitchFamily="34" charset="-122"/>
                <a:cs typeface="Calibri" pitchFamily="34" charset="-120"/>
              </a:rPr>
              <a:t>elf Anhänge und das vollständige Simulationsskript.</a:t>
            </a:r>
            <a:endParaRPr lang="en-US" sz="1400" dirty="0"/>
          </a:p>
          <a:p>
            <a:pPr indent="0" marL="0">
              <a:buNone/>
            </a:pPr>
            <a:endParaRPr lang="en-US" sz="1400" dirty="0"/>
          </a:p>
          <a:p>
            <a:pPr indent="0" marL="0">
              <a:buNone/>
            </a:pPr>
            <a:r>
              <a:rPr lang="en-US" sz="1400" dirty="0">
                <a:solidFill>
                  <a:srgbClr val="1A1A17"/>
                </a:solidFill>
                <a:latin typeface="Calibri" pitchFamily="34" charset="0"/>
                <a:ea typeface="Calibri" pitchFamily="34" charset="-122"/>
                <a:cs typeface="Calibri" pitchFamily="34" charset="-120"/>
              </a:rPr>
              <a:t>Papier und Folien stehen unter CC BY 4.0, das Skript unter MIT –</a:t>
            </a:r>
            <a:endParaRPr lang="en-US" sz="1400" dirty="0"/>
          </a:p>
          <a:p>
            <a:pPr indent="0" marL="0">
              <a:buNone/>
            </a:pPr>
            <a:r>
              <a:rPr lang="en-US" sz="1400" dirty="0">
                <a:solidFill>
                  <a:srgbClr val="1A1A17"/>
                </a:solidFill>
                <a:latin typeface="Calibri" pitchFamily="34" charset="0"/>
                <a:ea typeface="Calibri" pitchFamily="34" charset="-122"/>
                <a:cs typeface="Calibri" pitchFamily="34" charset="-120"/>
              </a:rPr>
              <a:t>Weiterverwendung mit Namensnennung ausdrücklich erwünscht.</a:t>
            </a:r>
            <a:endParaRPr lang="en-US" sz="1400" dirty="0"/>
          </a:p>
        </p:txBody>
      </p:sp>
      <p:sp>
        <p:nvSpPr>
          <p:cNvPr id="7" name="Text 5"/>
          <p:cNvSpPr txBox="1"/>
          <p:nvPr/>
        </p:nvSpPr>
        <p:spPr>
          <a:xfrm>
            <a:off x="548640" y="3291840"/>
            <a:ext cx="6035040" cy="548640"/>
          </a:xfrm>
          <a:prstGeom prst="rect">
            <a:avLst/>
          </a:prstGeom>
          <a:noFill/>
          <a:ln/>
        </p:spPr>
        <p:txBody>
          <a:bodyPr wrap="square" lIns="0" tIns="0" rIns="0" bIns="0" rtlCol="0" anchor="ctr"/>
          <a:lstStyle/>
          <a:p>
            <a:pPr indent="0" marL="0">
              <a:buNone/>
            </a:pPr>
            <a:r>
              <a:rPr lang="en-US" sz="2200" b="1" dirty="0">
                <a:solidFill>
                  <a:srgbClr val="0F5257"/>
                </a:solidFill>
                <a:latin typeface="Calibri" pitchFamily="34" charset="0"/>
                <a:ea typeface="Calibri" pitchFamily="34" charset="-122"/>
                <a:cs typeface="Calibri" pitchFamily="34" charset="-120"/>
              </a:rPr>
              <a:t>theflow85.github.io/waermewende</a:t>
            </a:r>
            <a:endParaRPr lang="en-US" sz="2200" dirty="0"/>
          </a:p>
        </p:txBody>
      </p:sp>
      <p:sp>
        <p:nvSpPr>
          <p:cNvPr id="8" name="Shape 6"/>
          <p:cNvSpPr/>
          <p:nvPr/>
        </p:nvSpPr>
        <p:spPr>
          <a:xfrm>
            <a:off x="548640" y="4480560"/>
            <a:ext cx="6035040" cy="1051560"/>
          </a:xfrm>
          <a:prstGeom prst="roundRect">
            <a:avLst>
              <a:gd name="adj" fmla="val 6957"/>
            </a:avLst>
          </a:prstGeom>
          <a:solidFill>
            <a:srgbClr val="EFEBE1"/>
          </a:solidFill>
          <a:ln w="9525">
            <a:solidFill>
              <a:srgbClr val="C9C3B4"/>
            </a:solidFill>
            <a:prstDash val="solid"/>
          </a:ln>
        </p:spPr>
      </p:sp>
      <p:sp>
        <p:nvSpPr>
          <p:cNvPr id="9" name="Text 7"/>
          <p:cNvSpPr txBox="1"/>
          <p:nvPr/>
        </p:nvSpPr>
        <p:spPr>
          <a:xfrm>
            <a:off x="731520" y="4480560"/>
            <a:ext cx="5669280" cy="1051560"/>
          </a:xfrm>
          <a:prstGeom prst="rect">
            <a:avLst/>
          </a:prstGeom>
          <a:noFill/>
          <a:ln/>
        </p:spPr>
        <p:txBody>
          <a:bodyPr wrap="square" lIns="0" tIns="0" rIns="0" bIns="0" rtlCol="0" anchor="ctr"/>
          <a:lstStyle/>
          <a:p>
            <a:pPr indent="0" marL="0">
              <a:buNone/>
            </a:pPr>
            <a:r>
              <a:rPr lang="en-US" sz="1200" b="1" dirty="0">
                <a:solidFill>
                  <a:srgbClr val="9A5B12"/>
                </a:solidFill>
                <a:latin typeface="Calibri" pitchFamily="34" charset="0"/>
                <a:ea typeface="Calibri" pitchFamily="34" charset="-122"/>
                <a:cs typeface="Calibri" pitchFamily="34" charset="-120"/>
              </a:rPr>
              <a:t>Drei Fragen ans Fachreview: </a:t>
            </a:r>
            <a:pPr indent="0" marL="0">
              <a:buNone/>
            </a:pPr>
            <a:r>
              <a:rPr lang="en-US" sz="1200" dirty="0">
                <a:solidFill>
                  <a:srgbClr val="1A1A17"/>
                </a:solidFill>
                <a:latin typeface="Calibri" pitchFamily="34" charset="0"/>
                <a:ea typeface="Calibri" pitchFamily="34" charset="-122"/>
                <a:cs typeface="Calibri" pitchFamily="34" charset="-120"/>
              </a:rPr>
              <a:t>Erzeugungskosten je Wärmequelle, Verlegekosten je Meter, Trassenmeter je Gebäudetyp. Wer dazu etwas sagen kann: gern melden.</a:t>
            </a:r>
            <a:endParaRPr lang="en-US" sz="1200" dirty="0"/>
          </a:p>
        </p:txBody>
      </p:sp>
      <p:pic>
        <p:nvPicPr>
          <p:cNvPr id="10" name="Image 0" descr="/home/claude/qr.png">    </p:cNvPr>
          <p:cNvPicPr>
            <a:picLocks noChangeAspect="1"/>
          </p:cNvPicPr>
          <p:nvPr/>
        </p:nvPicPr>
        <p:blipFill>
          <a:blip r:embed="rId1"/>
          <a:stretch>
            <a:fillRect/>
          </a:stretch>
        </p:blipFill>
        <p:spPr>
          <a:xfrm>
            <a:off x="7589520" y="2011680"/>
            <a:ext cx="3108960" cy="3108960"/>
          </a:xfrm>
          <a:prstGeom prst="rect">
            <a:avLst/>
          </a:prstGeom>
        </p:spPr>
      </p:pic>
      <p:sp>
        <p:nvSpPr>
          <p:cNvPr id="11" name="Text 8"/>
          <p:cNvSpPr txBox="1"/>
          <p:nvPr/>
        </p:nvSpPr>
        <p:spPr>
          <a:xfrm>
            <a:off x="7589520" y="5212080"/>
            <a:ext cx="3108960" cy="274320"/>
          </a:xfrm>
          <a:prstGeom prst="rect">
            <a:avLst/>
          </a:prstGeom>
          <a:noFill/>
          <a:ln/>
        </p:spPr>
        <p:txBody>
          <a:bodyPr wrap="square" lIns="0" tIns="0" rIns="0" bIns="0" rtlCol="0" anchor="ctr"/>
          <a:lstStyle/>
          <a:p>
            <a:pPr algn="ctr" indent="0" marL="0">
              <a:buNone/>
            </a:pPr>
            <a:r>
              <a:rPr lang="en-US" sz="1100" dirty="0">
                <a:solidFill>
                  <a:srgbClr val="56534B"/>
                </a:solidFill>
                <a:latin typeface="Calibri" pitchFamily="34" charset="0"/>
                <a:ea typeface="Calibri" pitchFamily="34" charset="-122"/>
                <a:cs typeface="Calibri" pitchFamily="34" charset="-120"/>
              </a:rPr>
              <a:t>Kamera aufs Bild halten</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RESERVE · NUR BEI NACHFRAGE</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Was die BAG damit tun könnte – Fragen an jede Wärmeplanung</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5" name="Text 3"/>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R1</a:t>
            </a:r>
            <a:endParaRPr lang="en-US" sz="900" dirty="0"/>
          </a:p>
        </p:txBody>
      </p:sp>
      <p:sp>
        <p:nvSpPr>
          <p:cNvPr id="6" name="Text 4"/>
          <p:cNvSpPr txBox="1"/>
          <p:nvPr/>
        </p:nvSpPr>
        <p:spPr>
          <a:xfrm>
            <a:off x="548640" y="1691640"/>
            <a:ext cx="365760" cy="365760"/>
          </a:xfrm>
          <a:prstGeom prst="rect">
            <a:avLst/>
          </a:prstGeom>
          <a:noFill/>
          <a:ln/>
        </p:spPr>
        <p:txBody>
          <a:bodyPr wrap="square" lIns="0" tIns="0" rIns="0" bIns="0" rtlCol="0" anchor="t"/>
          <a:lstStyle/>
          <a:p>
            <a:pPr indent="0" marL="0">
              <a:buNone/>
            </a:pPr>
            <a:r>
              <a:rPr lang="en-US" sz="1800" b="1" dirty="0">
                <a:solidFill>
                  <a:srgbClr val="9A5B12"/>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1005840" y="1691640"/>
            <a:ext cx="10515600" cy="365760"/>
          </a:xfrm>
          <a:prstGeom prst="rect">
            <a:avLst/>
          </a:prstGeom>
          <a:noFill/>
          <a:ln/>
        </p:spPr>
        <p:txBody>
          <a:bodyPr wrap="square" lIns="0" tIns="0" rIns="0" bIns="0" rtlCol="0" anchor="t"/>
          <a:lstStyle/>
          <a:p>
            <a:pPr indent="0" marL="0">
              <a:buNone/>
            </a:pPr>
            <a:r>
              <a:rPr lang="en-US" sz="1250" b="1" dirty="0">
                <a:solidFill>
                  <a:srgbClr val="1A1A17"/>
                </a:solidFill>
                <a:latin typeface="Calibri" pitchFamily="34" charset="0"/>
                <a:ea typeface="Calibri" pitchFamily="34" charset="-122"/>
                <a:cs typeface="Calibri" pitchFamily="34" charset="-120"/>
              </a:rPr>
              <a:t>Wurde gegen die Wärmepumpe gerechnet – und gegen welchen Preis?</a:t>
            </a:r>
            <a:endParaRPr lang="en-US" sz="1250" dirty="0"/>
          </a:p>
        </p:txBody>
      </p:sp>
      <p:sp>
        <p:nvSpPr>
          <p:cNvPr id="8" name="Text 6"/>
          <p:cNvSpPr txBox="1"/>
          <p:nvPr/>
        </p:nvSpPr>
        <p:spPr>
          <a:xfrm>
            <a:off x="1005840" y="2057400"/>
            <a:ext cx="10515600" cy="457200"/>
          </a:xfrm>
          <a:prstGeom prst="rect">
            <a:avLst/>
          </a:prstGeom>
          <a:noFill/>
          <a:ln/>
        </p:spPr>
        <p:txBody>
          <a:bodyPr wrap="square" lIns="0" tIns="0" rIns="0" bIns="0" rtlCol="0" anchor="t"/>
          <a:lstStyle/>
          <a:p>
            <a:pPr indent="0" marL="0">
              <a:buNone/>
            </a:pPr>
            <a:r>
              <a:rPr lang="en-US" sz="1050" dirty="0">
                <a:solidFill>
                  <a:srgbClr val="56534B"/>
                </a:solidFill>
                <a:latin typeface="Calibri" pitchFamily="34" charset="0"/>
                <a:ea typeface="Calibri" pitchFamily="34" charset="-122"/>
                <a:cs typeface="Calibri" pitchFamily="34" charset="-120"/>
              </a:rPr>
              <a:t>23.73 ct oder 17.75 ct entscheiden über das Vorzeichen (Befund 4).</a:t>
            </a:r>
            <a:endParaRPr lang="en-US" sz="1050" dirty="0"/>
          </a:p>
        </p:txBody>
      </p:sp>
      <p:sp>
        <p:nvSpPr>
          <p:cNvPr id="9" name="Text 7"/>
          <p:cNvSpPr txBox="1"/>
          <p:nvPr/>
        </p:nvSpPr>
        <p:spPr>
          <a:xfrm>
            <a:off x="548640" y="2560320"/>
            <a:ext cx="365760" cy="365760"/>
          </a:xfrm>
          <a:prstGeom prst="rect">
            <a:avLst/>
          </a:prstGeom>
          <a:noFill/>
          <a:ln/>
        </p:spPr>
        <p:txBody>
          <a:bodyPr wrap="square" lIns="0" tIns="0" rIns="0" bIns="0" rtlCol="0" anchor="t"/>
          <a:lstStyle/>
          <a:p>
            <a:pPr indent="0" marL="0">
              <a:buNone/>
            </a:pPr>
            <a:r>
              <a:rPr lang="en-US" sz="1800" b="1" dirty="0">
                <a:solidFill>
                  <a:srgbClr val="9A5B12"/>
                </a:solidFill>
                <a:latin typeface="Cambria" pitchFamily="34" charset="0"/>
                <a:ea typeface="Cambria" pitchFamily="34" charset="-122"/>
                <a:cs typeface="Cambria" pitchFamily="34" charset="-120"/>
              </a:rPr>
              <a:t>2</a:t>
            </a:r>
            <a:endParaRPr lang="en-US" sz="1800" dirty="0"/>
          </a:p>
        </p:txBody>
      </p:sp>
      <p:sp>
        <p:nvSpPr>
          <p:cNvPr id="10" name="Text 8"/>
          <p:cNvSpPr txBox="1"/>
          <p:nvPr/>
        </p:nvSpPr>
        <p:spPr>
          <a:xfrm>
            <a:off x="1005840" y="2560320"/>
            <a:ext cx="10515600" cy="365760"/>
          </a:xfrm>
          <a:prstGeom prst="rect">
            <a:avLst/>
          </a:prstGeom>
          <a:noFill/>
          <a:ln/>
        </p:spPr>
        <p:txBody>
          <a:bodyPr wrap="square" lIns="0" tIns="0" rIns="0" bIns="0" rtlCol="0" anchor="t"/>
          <a:lstStyle/>
          <a:p>
            <a:pPr indent="0" marL="0">
              <a:buNone/>
            </a:pPr>
            <a:r>
              <a:rPr lang="en-US" sz="1250" b="1" dirty="0">
                <a:solidFill>
                  <a:srgbClr val="1A1A17"/>
                </a:solidFill>
                <a:latin typeface="Calibri" pitchFamily="34" charset="0"/>
                <a:ea typeface="Calibri" pitchFamily="34" charset="-122"/>
                <a:cs typeface="Calibri" pitchFamily="34" charset="-120"/>
              </a:rPr>
              <a:t>Welche Quelle trägt das Netz, und ist sie vertraglich gesichert?</a:t>
            </a:r>
            <a:endParaRPr lang="en-US" sz="1250" dirty="0"/>
          </a:p>
        </p:txBody>
      </p:sp>
      <p:sp>
        <p:nvSpPr>
          <p:cNvPr id="11" name="Text 9"/>
          <p:cNvSpPr txBox="1"/>
          <p:nvPr/>
        </p:nvSpPr>
        <p:spPr>
          <a:xfrm>
            <a:off x="1005840" y="2926080"/>
            <a:ext cx="10515600" cy="457200"/>
          </a:xfrm>
          <a:prstGeom prst="rect">
            <a:avLst/>
          </a:prstGeom>
          <a:noFill/>
          <a:ln/>
        </p:spPr>
        <p:txBody>
          <a:bodyPr wrap="square" lIns="0" tIns="0" rIns="0" bIns="0" rtlCol="0" anchor="t"/>
          <a:lstStyle/>
          <a:p>
            <a:pPr indent="0" marL="0">
              <a:buNone/>
            </a:pPr>
            <a:r>
              <a:rPr lang="en-US" sz="1050" dirty="0">
                <a:solidFill>
                  <a:srgbClr val="56534B"/>
                </a:solidFill>
                <a:latin typeface="Calibri" pitchFamily="34" charset="0"/>
                <a:ea typeface="Calibri" pitchFamily="34" charset="-122"/>
                <a:cs typeface="Calibri" pitchFamily="34" charset="-120"/>
              </a:rPr>
              <a:t>Abwärme trägt, Großwärmepumpe unentschieden, Gasvorlauf verschiebt die Entscheidung auf 2045 (Befund 1–3).</a:t>
            </a:r>
            <a:endParaRPr lang="en-US" sz="1050" dirty="0"/>
          </a:p>
        </p:txBody>
      </p:sp>
      <p:sp>
        <p:nvSpPr>
          <p:cNvPr id="12" name="Text 10"/>
          <p:cNvSpPr txBox="1"/>
          <p:nvPr/>
        </p:nvSpPr>
        <p:spPr>
          <a:xfrm>
            <a:off x="548640" y="3429000"/>
            <a:ext cx="365760" cy="365760"/>
          </a:xfrm>
          <a:prstGeom prst="rect">
            <a:avLst/>
          </a:prstGeom>
          <a:noFill/>
          <a:ln/>
        </p:spPr>
        <p:txBody>
          <a:bodyPr wrap="square" lIns="0" tIns="0" rIns="0" bIns="0" rtlCol="0" anchor="t"/>
          <a:lstStyle/>
          <a:p>
            <a:pPr indent="0" marL="0">
              <a:buNone/>
            </a:pPr>
            <a:r>
              <a:rPr lang="en-US" sz="1800" b="1" dirty="0">
                <a:solidFill>
                  <a:srgbClr val="9A5B12"/>
                </a:solidFill>
                <a:latin typeface="Cambria" pitchFamily="34" charset="0"/>
                <a:ea typeface="Cambria" pitchFamily="34" charset="-122"/>
                <a:cs typeface="Cambria" pitchFamily="34" charset="-120"/>
              </a:rPr>
              <a:t>3</a:t>
            </a:r>
            <a:endParaRPr lang="en-US" sz="1800" dirty="0"/>
          </a:p>
        </p:txBody>
      </p:sp>
      <p:sp>
        <p:nvSpPr>
          <p:cNvPr id="13" name="Text 11"/>
          <p:cNvSpPr txBox="1"/>
          <p:nvPr/>
        </p:nvSpPr>
        <p:spPr>
          <a:xfrm>
            <a:off x="1005840" y="3429000"/>
            <a:ext cx="10515600" cy="365760"/>
          </a:xfrm>
          <a:prstGeom prst="rect">
            <a:avLst/>
          </a:prstGeom>
          <a:noFill/>
          <a:ln/>
        </p:spPr>
        <p:txBody>
          <a:bodyPr wrap="square" lIns="0" tIns="0" rIns="0" bIns="0" rtlCol="0" anchor="t"/>
          <a:lstStyle/>
          <a:p>
            <a:pPr indent="0" marL="0">
              <a:buNone/>
            </a:pPr>
            <a:r>
              <a:rPr lang="en-US" sz="1250" b="1" dirty="0">
                <a:solidFill>
                  <a:srgbClr val="1A1A17"/>
                </a:solidFill>
                <a:latin typeface="Calibri" pitchFamily="34" charset="0"/>
                <a:ea typeface="Calibri" pitchFamily="34" charset="-122"/>
                <a:cs typeface="Calibri" pitchFamily="34" charset="-120"/>
              </a:rPr>
              <a:t>Welche Anschlussquote unterstellt die Rechnung – und was passiert bei Unterschreitung?</a:t>
            </a:r>
            <a:endParaRPr lang="en-US" sz="1250" dirty="0"/>
          </a:p>
        </p:txBody>
      </p:sp>
      <p:sp>
        <p:nvSpPr>
          <p:cNvPr id="14" name="Text 12"/>
          <p:cNvSpPr txBox="1"/>
          <p:nvPr/>
        </p:nvSpPr>
        <p:spPr>
          <a:xfrm>
            <a:off x="1005840" y="3794760"/>
            <a:ext cx="10515600" cy="457200"/>
          </a:xfrm>
          <a:prstGeom prst="rect">
            <a:avLst/>
          </a:prstGeom>
          <a:noFill/>
          <a:ln/>
        </p:spPr>
        <p:txBody>
          <a:bodyPr wrap="square" lIns="0" tIns="0" rIns="0" bIns="0" rtlCol="0" anchor="t"/>
          <a:lstStyle/>
          <a:p>
            <a:pPr indent="0" marL="0">
              <a:buNone/>
            </a:pPr>
            <a:r>
              <a:rPr lang="en-US" sz="1050" dirty="0">
                <a:solidFill>
                  <a:srgbClr val="56534B"/>
                </a:solidFill>
                <a:latin typeface="Calibri" pitchFamily="34" charset="0"/>
                <a:ea typeface="Calibri" pitchFamily="34" charset="-122"/>
                <a:cs typeface="Calibri" pitchFamily="34" charset="-120"/>
              </a:rPr>
              <a:t>Bei 60 % statt 100 % steigen alle Schwellen um Faktor 1.67.</a:t>
            </a:r>
            <a:endParaRPr lang="en-US" sz="1050" dirty="0"/>
          </a:p>
        </p:txBody>
      </p:sp>
      <p:sp>
        <p:nvSpPr>
          <p:cNvPr id="15" name="Text 13"/>
          <p:cNvSpPr txBox="1"/>
          <p:nvPr/>
        </p:nvSpPr>
        <p:spPr>
          <a:xfrm>
            <a:off x="548640" y="4297680"/>
            <a:ext cx="365760" cy="365760"/>
          </a:xfrm>
          <a:prstGeom prst="rect">
            <a:avLst/>
          </a:prstGeom>
          <a:noFill/>
          <a:ln/>
        </p:spPr>
        <p:txBody>
          <a:bodyPr wrap="square" lIns="0" tIns="0" rIns="0" bIns="0" rtlCol="0" anchor="t"/>
          <a:lstStyle/>
          <a:p>
            <a:pPr indent="0" marL="0">
              <a:buNone/>
            </a:pPr>
            <a:r>
              <a:rPr lang="en-US" sz="1800" b="1" dirty="0">
                <a:solidFill>
                  <a:srgbClr val="9A5B12"/>
                </a:solidFill>
                <a:latin typeface="Cambria" pitchFamily="34" charset="0"/>
                <a:ea typeface="Cambria" pitchFamily="34" charset="-122"/>
                <a:cs typeface="Cambria" pitchFamily="34" charset="-120"/>
              </a:rPr>
              <a:t>4</a:t>
            </a:r>
            <a:endParaRPr lang="en-US" sz="1800" dirty="0"/>
          </a:p>
        </p:txBody>
      </p:sp>
      <p:sp>
        <p:nvSpPr>
          <p:cNvPr id="16" name="Text 14"/>
          <p:cNvSpPr txBox="1"/>
          <p:nvPr/>
        </p:nvSpPr>
        <p:spPr>
          <a:xfrm>
            <a:off x="1005840" y="4297680"/>
            <a:ext cx="10515600" cy="365760"/>
          </a:xfrm>
          <a:prstGeom prst="rect">
            <a:avLst/>
          </a:prstGeom>
          <a:noFill/>
          <a:ln/>
        </p:spPr>
        <p:txBody>
          <a:bodyPr wrap="square" lIns="0" tIns="0" rIns="0" bIns="0" rtlCol="0" anchor="t"/>
          <a:lstStyle/>
          <a:p>
            <a:pPr indent="0" marL="0">
              <a:buNone/>
            </a:pPr>
            <a:r>
              <a:rPr lang="en-US" sz="1250" b="1" dirty="0">
                <a:solidFill>
                  <a:srgbClr val="1A1A17"/>
                </a:solidFill>
                <a:latin typeface="Calibri" pitchFamily="34" charset="0"/>
                <a:ea typeface="Calibri" pitchFamily="34" charset="-122"/>
                <a:cs typeface="Calibri" pitchFamily="34" charset="-120"/>
              </a:rPr>
              <a:t>Ist Kühlung mitgedacht, und wird ein Leerrohr mitverlegt?</a:t>
            </a:r>
            <a:endParaRPr lang="en-US" sz="1250" dirty="0"/>
          </a:p>
        </p:txBody>
      </p:sp>
      <p:sp>
        <p:nvSpPr>
          <p:cNvPr id="17" name="Text 15"/>
          <p:cNvSpPr txBox="1"/>
          <p:nvPr/>
        </p:nvSpPr>
        <p:spPr>
          <a:xfrm>
            <a:off x="1005840" y="4663440"/>
            <a:ext cx="10515600" cy="457200"/>
          </a:xfrm>
          <a:prstGeom prst="rect">
            <a:avLst/>
          </a:prstGeom>
          <a:noFill/>
          <a:ln/>
        </p:spPr>
        <p:txBody>
          <a:bodyPr wrap="square" lIns="0" tIns="0" rIns="0" bIns="0" rtlCol="0" anchor="t"/>
          <a:lstStyle/>
          <a:p>
            <a:pPr indent="0" marL="0">
              <a:buNone/>
            </a:pPr>
            <a:r>
              <a:rPr lang="en-US" sz="1050" dirty="0">
                <a:solidFill>
                  <a:srgbClr val="56534B"/>
                </a:solidFill>
                <a:latin typeface="Calibri" pitchFamily="34" charset="0"/>
                <a:ea typeface="Calibri" pitchFamily="34" charset="-122"/>
                <a:cs typeface="Calibri" pitchFamily="34" charset="-120"/>
              </a:rPr>
              <a:t>Wird die Straße ohnehin geöffnet, kostet ein Leerrohr für Kälte- oder Glasfaser heute wenig und morgen ein zweites Aufreißen.</a:t>
            </a:r>
            <a:endParaRPr lang="en-US" sz="1050" dirty="0"/>
          </a:p>
        </p:txBody>
      </p:sp>
      <p:sp>
        <p:nvSpPr>
          <p:cNvPr id="18" name="Text 16"/>
          <p:cNvSpPr txBox="1"/>
          <p:nvPr/>
        </p:nvSpPr>
        <p:spPr>
          <a:xfrm>
            <a:off x="548640" y="5166360"/>
            <a:ext cx="365760" cy="365760"/>
          </a:xfrm>
          <a:prstGeom prst="rect">
            <a:avLst/>
          </a:prstGeom>
          <a:noFill/>
          <a:ln/>
        </p:spPr>
        <p:txBody>
          <a:bodyPr wrap="square" lIns="0" tIns="0" rIns="0" bIns="0" rtlCol="0" anchor="t"/>
          <a:lstStyle/>
          <a:p>
            <a:pPr indent="0" marL="0">
              <a:buNone/>
            </a:pPr>
            <a:r>
              <a:rPr lang="en-US" sz="1800" b="1" dirty="0">
                <a:solidFill>
                  <a:srgbClr val="9A5B12"/>
                </a:solidFill>
                <a:latin typeface="Cambria" pitchFamily="34" charset="0"/>
                <a:ea typeface="Cambria" pitchFamily="34" charset="-122"/>
                <a:cs typeface="Cambria" pitchFamily="34" charset="-120"/>
              </a:rPr>
              <a:t>5</a:t>
            </a:r>
            <a:endParaRPr lang="en-US" sz="1800" dirty="0"/>
          </a:p>
        </p:txBody>
      </p:sp>
      <p:sp>
        <p:nvSpPr>
          <p:cNvPr id="19" name="Text 17"/>
          <p:cNvSpPr txBox="1"/>
          <p:nvPr/>
        </p:nvSpPr>
        <p:spPr>
          <a:xfrm>
            <a:off x="1005840" y="5166360"/>
            <a:ext cx="10515600" cy="365760"/>
          </a:xfrm>
          <a:prstGeom prst="rect">
            <a:avLst/>
          </a:prstGeom>
          <a:noFill/>
          <a:ln/>
        </p:spPr>
        <p:txBody>
          <a:bodyPr wrap="square" lIns="0" tIns="0" rIns="0" bIns="0" rtlCol="0" anchor="t"/>
          <a:lstStyle/>
          <a:p>
            <a:pPr indent="0" marL="0">
              <a:buNone/>
            </a:pPr>
            <a:r>
              <a:rPr lang="en-US" sz="1250" b="1" dirty="0">
                <a:solidFill>
                  <a:srgbClr val="1A1A17"/>
                </a:solidFill>
                <a:latin typeface="Calibri" pitchFamily="34" charset="0"/>
                <a:ea typeface="Calibri" pitchFamily="34" charset="-122"/>
                <a:cs typeface="Calibri" pitchFamily="34" charset="-120"/>
              </a:rPr>
              <a:t>Wer trägt das Risiko, wenn der WP-Preis fällt und das Netz schon im Boden liegt?</a:t>
            </a:r>
            <a:endParaRPr lang="en-US" sz="1250" dirty="0"/>
          </a:p>
        </p:txBody>
      </p:sp>
      <p:sp>
        <p:nvSpPr>
          <p:cNvPr id="20" name="Text 18"/>
          <p:cNvSpPr txBox="1"/>
          <p:nvPr/>
        </p:nvSpPr>
        <p:spPr>
          <a:xfrm>
            <a:off x="1005840" y="5532120"/>
            <a:ext cx="10515600" cy="457200"/>
          </a:xfrm>
          <a:prstGeom prst="rect">
            <a:avLst/>
          </a:prstGeom>
          <a:noFill/>
          <a:ln/>
        </p:spPr>
        <p:txBody>
          <a:bodyPr wrap="square" lIns="0" tIns="0" rIns="0" bIns="0" rtlCol="0" anchor="t"/>
          <a:lstStyle/>
          <a:p>
            <a:pPr indent="0" marL="0">
              <a:buNone/>
            </a:pPr>
            <a:r>
              <a:rPr lang="en-US" sz="1050" dirty="0">
                <a:solidFill>
                  <a:srgbClr val="56534B"/>
                </a:solidFill>
                <a:latin typeface="Calibri" pitchFamily="34" charset="0"/>
                <a:ea typeface="Calibri" pitchFamily="34" charset="-122"/>
                <a:cs typeface="Calibri" pitchFamily="34" charset="-120"/>
              </a:rPr>
              <a:t>Bleiben Anschlüsse aus: stranded asset. Kommt der Anschlusszwang: Entscheidung gegen die erkennbare Präferenz der Bürger. Beides wird wahrscheinlicher, je besser die Reformhebel wirken (9.7).</a:t>
            </a:r>
            <a:endParaRPr lang="en-US" sz="1050" dirty="0"/>
          </a:p>
        </p:txBody>
      </p:sp>
      <p:sp>
        <p:nvSpPr>
          <p:cNvPr id="21" name="Text 19"/>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950" dirty="0">
                <a:solidFill>
                  <a:srgbClr val="56534B"/>
                </a:solidFill>
                <a:latin typeface="Calibri" pitchFamily="34" charset="0"/>
                <a:ea typeface="Calibri" pitchFamily="34" charset="-122"/>
                <a:cs typeface="Calibri" pitchFamily="34" charset="-120"/>
              </a:rPr>
              <a:t>Abschnitt 9.6 und 9.7. Die Antworten entscheiden mehr über die Tragfähigkeit eines Plans als die ausgewiesene Bebauungsdichte.</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RESERVE · BEFUND 3 · WARUM DAS EIN ERGEBNIS IST</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Großwärmepumpe und Geothermie: unentschieden</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5" name="Text 3"/>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R2</a:t>
            </a:r>
            <a:endParaRPr lang="en-US" sz="900" dirty="0"/>
          </a:p>
        </p:txBody>
      </p:sp>
      <p:sp>
        <p:nvSpPr>
          <p:cNvPr id="6" name="Shape 4"/>
          <p:cNvSpPr/>
          <p:nvPr/>
        </p:nvSpPr>
        <p:spPr>
          <a:xfrm>
            <a:off x="548640" y="1691640"/>
            <a:ext cx="3566160" cy="2286000"/>
          </a:xfrm>
          <a:prstGeom prst="roundRect">
            <a:avLst>
              <a:gd name="adj" fmla="val 3200"/>
            </a:avLst>
          </a:prstGeom>
          <a:solidFill>
            <a:srgbClr val="FFFFFF"/>
          </a:solidFill>
          <a:ln w="9525">
            <a:solidFill>
              <a:srgbClr val="C9C3B4"/>
            </a:solidFill>
            <a:prstDash val="solid"/>
          </a:ln>
        </p:spPr>
      </p:sp>
      <p:sp>
        <p:nvSpPr>
          <p:cNvPr id="7" name="Shape 5"/>
          <p:cNvSpPr/>
          <p:nvPr/>
        </p:nvSpPr>
        <p:spPr>
          <a:xfrm>
            <a:off x="731520" y="1874520"/>
            <a:ext cx="548640" cy="64008"/>
          </a:xfrm>
          <a:prstGeom prst="rect">
            <a:avLst/>
          </a:prstGeom>
          <a:solidFill>
            <a:srgbClr val="1F5673"/>
          </a:solidFill>
          <a:ln w="12700">
            <a:solidFill>
              <a:srgbClr val="1F5673"/>
            </a:solidFill>
            <a:prstDash val="solid"/>
          </a:ln>
        </p:spPr>
      </p:sp>
      <p:sp>
        <p:nvSpPr>
          <p:cNvPr id="8" name="Text 6"/>
          <p:cNvSpPr txBox="1"/>
          <p:nvPr/>
        </p:nvSpPr>
        <p:spPr>
          <a:xfrm>
            <a:off x="731520" y="2011680"/>
            <a:ext cx="3200400" cy="365760"/>
          </a:xfrm>
          <a:prstGeom prst="rect">
            <a:avLst/>
          </a:prstGeom>
          <a:noFill/>
          <a:ln/>
        </p:spPr>
        <p:txBody>
          <a:bodyPr wrap="square" lIns="0" tIns="0" rIns="0" bIns="0" rtlCol="0" anchor="ctr"/>
          <a:lstStyle/>
          <a:p>
            <a:pPr indent="0" marL="0">
              <a:buNone/>
            </a:pPr>
            <a:r>
              <a:rPr lang="en-US" sz="1300" b="1" dirty="0">
                <a:solidFill>
                  <a:srgbClr val="1F5673"/>
                </a:solidFill>
                <a:latin typeface="Calibri" pitchFamily="34" charset="0"/>
                <a:ea typeface="Calibri" pitchFamily="34" charset="-122"/>
                <a:cs typeface="Calibri" pitchFamily="34" charset="-120"/>
              </a:rPr>
              <a:t>Netzausbau</a:t>
            </a:r>
            <a:endParaRPr lang="en-US" sz="1300" dirty="0"/>
          </a:p>
        </p:txBody>
      </p:sp>
      <p:sp>
        <p:nvSpPr>
          <p:cNvPr id="9" name="Text 7"/>
          <p:cNvSpPr txBox="1"/>
          <p:nvPr/>
        </p:nvSpPr>
        <p:spPr>
          <a:xfrm>
            <a:off x="731520" y="2423160"/>
            <a:ext cx="3200400" cy="1463040"/>
          </a:xfrm>
          <a:prstGeom prst="rect">
            <a:avLst/>
          </a:prstGeom>
          <a:noFill/>
          <a:ln/>
        </p:spPr>
        <p:txBody>
          <a:bodyPr wrap="square" lIns="0" tIns="0" rIns="0" bIns="0" rtlCol="0" anchor="t"/>
          <a:lstStyle/>
          <a:p>
            <a:pPr indent="0" marL="0">
              <a:buNone/>
            </a:pPr>
            <a:r>
              <a:rPr lang="en-US" sz="1100" dirty="0">
                <a:solidFill>
                  <a:srgbClr val="1A1A17"/>
                </a:solidFill>
                <a:latin typeface="Calibri" pitchFamily="34" charset="0"/>
                <a:ea typeface="Calibri" pitchFamily="34" charset="-122"/>
                <a:cs typeface="Calibri" pitchFamily="34" charset="-120"/>
              </a:rPr>
              <a:t>Die Vollkosten beider Pfade liegen innerhalb weniger Zehntelcent beieinander; das Vorzeichen wechselt in einem Sechstel der 36 Parameterkombinationen. Budget nur +1.51 ct – die Schwelle liegt bei 5.46 MWh/(m·a) in der Bestandsstraße, über 500 in der Plattenbau-Zeile.</a:t>
            </a:r>
            <a:endParaRPr lang="en-US" sz="1100" dirty="0"/>
          </a:p>
        </p:txBody>
      </p:sp>
      <p:sp>
        <p:nvSpPr>
          <p:cNvPr id="10" name="Shape 8"/>
          <p:cNvSpPr/>
          <p:nvPr/>
        </p:nvSpPr>
        <p:spPr>
          <a:xfrm>
            <a:off x="4297680" y="1691640"/>
            <a:ext cx="3566160" cy="2286000"/>
          </a:xfrm>
          <a:prstGeom prst="roundRect">
            <a:avLst>
              <a:gd name="adj" fmla="val 3200"/>
            </a:avLst>
          </a:prstGeom>
          <a:solidFill>
            <a:srgbClr val="FFFFFF"/>
          </a:solidFill>
          <a:ln w="9525">
            <a:solidFill>
              <a:srgbClr val="C9C3B4"/>
            </a:solidFill>
            <a:prstDash val="solid"/>
          </a:ln>
        </p:spPr>
      </p:sp>
      <p:sp>
        <p:nvSpPr>
          <p:cNvPr id="11" name="Shape 9"/>
          <p:cNvSpPr/>
          <p:nvPr/>
        </p:nvSpPr>
        <p:spPr>
          <a:xfrm>
            <a:off x="4480560" y="1874520"/>
            <a:ext cx="548640" cy="64008"/>
          </a:xfrm>
          <a:prstGeom prst="rect">
            <a:avLst/>
          </a:prstGeom>
          <a:solidFill>
            <a:srgbClr val="0F5257"/>
          </a:solidFill>
          <a:ln w="12700">
            <a:solidFill>
              <a:srgbClr val="0F5257"/>
            </a:solidFill>
            <a:prstDash val="solid"/>
          </a:ln>
        </p:spPr>
      </p:sp>
      <p:sp>
        <p:nvSpPr>
          <p:cNvPr id="12" name="Text 10"/>
          <p:cNvSpPr txBox="1"/>
          <p:nvPr/>
        </p:nvSpPr>
        <p:spPr>
          <a:xfrm>
            <a:off x="4480560" y="2011680"/>
            <a:ext cx="3200400" cy="365760"/>
          </a:xfrm>
          <a:prstGeom prst="rect">
            <a:avLst/>
          </a:prstGeom>
          <a:noFill/>
          <a:ln/>
        </p:spPr>
        <p:txBody>
          <a:bodyPr wrap="square" lIns="0" tIns="0" rIns="0" bIns="0" rtlCol="0" anchor="ctr"/>
          <a:lstStyle/>
          <a:p>
            <a:pPr indent="0" marL="0">
              <a:buNone/>
            </a:pPr>
            <a:r>
              <a:rPr lang="en-US" sz="1300" b="1" dirty="0">
                <a:solidFill>
                  <a:srgbClr val="0F5257"/>
                </a:solidFill>
                <a:latin typeface="Calibri" pitchFamily="34" charset="0"/>
                <a:ea typeface="Calibri" pitchFamily="34" charset="-122"/>
                <a:cs typeface="Calibri" pitchFamily="34" charset="-120"/>
              </a:rPr>
              <a:t>Vorhandenes Netz</a:t>
            </a:r>
            <a:endParaRPr lang="en-US" sz="1300" dirty="0"/>
          </a:p>
        </p:txBody>
      </p:sp>
      <p:sp>
        <p:nvSpPr>
          <p:cNvPr id="13" name="Text 11"/>
          <p:cNvSpPr txBox="1"/>
          <p:nvPr/>
        </p:nvSpPr>
        <p:spPr>
          <a:xfrm>
            <a:off x="4480560" y="2423160"/>
            <a:ext cx="3200400" cy="1463040"/>
          </a:xfrm>
          <a:prstGeom prst="rect">
            <a:avLst/>
          </a:prstGeom>
          <a:noFill/>
          <a:ln/>
        </p:spPr>
        <p:txBody>
          <a:bodyPr wrap="square" lIns="0" tIns="0" rIns="0" bIns="0" rtlCol="0" anchor="t"/>
          <a:lstStyle/>
          <a:p>
            <a:pPr indent="0" marL="0">
              <a:buNone/>
            </a:pPr>
            <a:r>
              <a:rPr lang="en-US" sz="1100" dirty="0">
                <a:solidFill>
                  <a:srgbClr val="1A1A17"/>
                </a:solidFill>
                <a:latin typeface="Calibri" pitchFamily="34" charset="0"/>
                <a:ea typeface="Calibri" pitchFamily="34" charset="-122"/>
                <a:cs typeface="Calibri" pitchFamily="34" charset="-120"/>
              </a:rPr>
              <a:t>Das Vorzeichen hängt am Gebäudetyp und an einer ungemessenen Größe: der Kostendegression großer Wärmepumpen. Kleines MFH kippt zum Netz (Schwelle 3.40 gegen 3.91 erreicht), Gründerzeitblock nicht (11.72 gegen 7.44).</a:t>
            </a:r>
            <a:endParaRPr lang="en-US" sz="1100" dirty="0"/>
          </a:p>
        </p:txBody>
      </p:sp>
      <p:sp>
        <p:nvSpPr>
          <p:cNvPr id="14" name="Shape 12"/>
          <p:cNvSpPr/>
          <p:nvPr/>
        </p:nvSpPr>
        <p:spPr>
          <a:xfrm>
            <a:off x="8046720" y="1691640"/>
            <a:ext cx="3566160" cy="2286000"/>
          </a:xfrm>
          <a:prstGeom prst="roundRect">
            <a:avLst>
              <a:gd name="adj" fmla="val 3200"/>
            </a:avLst>
          </a:prstGeom>
          <a:solidFill>
            <a:srgbClr val="FFFFFF"/>
          </a:solidFill>
          <a:ln w="9525">
            <a:solidFill>
              <a:srgbClr val="C9C3B4"/>
            </a:solidFill>
            <a:prstDash val="solid"/>
          </a:ln>
        </p:spPr>
      </p:sp>
      <p:sp>
        <p:nvSpPr>
          <p:cNvPr id="15" name="Shape 13"/>
          <p:cNvSpPr/>
          <p:nvPr/>
        </p:nvSpPr>
        <p:spPr>
          <a:xfrm>
            <a:off x="8229600" y="1874520"/>
            <a:ext cx="548640" cy="64008"/>
          </a:xfrm>
          <a:prstGeom prst="rect">
            <a:avLst/>
          </a:prstGeom>
          <a:solidFill>
            <a:srgbClr val="9A5B12"/>
          </a:solidFill>
          <a:ln w="12700">
            <a:solidFill>
              <a:srgbClr val="9A5B12"/>
            </a:solidFill>
            <a:prstDash val="solid"/>
          </a:ln>
        </p:spPr>
      </p:sp>
      <p:sp>
        <p:nvSpPr>
          <p:cNvPr id="16" name="Text 14"/>
          <p:cNvSpPr txBox="1"/>
          <p:nvPr/>
        </p:nvSpPr>
        <p:spPr>
          <a:xfrm>
            <a:off x="8229600" y="2011680"/>
            <a:ext cx="3200400" cy="365760"/>
          </a:xfrm>
          <a:prstGeom prst="rect">
            <a:avLst/>
          </a:prstGeom>
          <a:noFill/>
          <a:ln/>
        </p:spPr>
        <p:txBody>
          <a:bodyPr wrap="square" lIns="0" tIns="0" rIns="0" bIns="0" rtlCol="0" anchor="ctr"/>
          <a:lstStyle/>
          <a:p>
            <a:pPr indent="0" marL="0">
              <a:buNone/>
            </a:pPr>
            <a:r>
              <a:rPr lang="en-US" sz="1300" b="1" dirty="0">
                <a:solidFill>
                  <a:srgbClr val="9A5B12"/>
                </a:solidFill>
                <a:latin typeface="Calibri" pitchFamily="34" charset="0"/>
                <a:ea typeface="Calibri" pitchFamily="34" charset="-122"/>
                <a:cs typeface="Calibri" pitchFamily="34" charset="-120"/>
              </a:rPr>
              <a:t>Ausgerechnet im Geschosswohnungsbau</a:t>
            </a:r>
            <a:endParaRPr lang="en-US" sz="1300" dirty="0"/>
          </a:p>
        </p:txBody>
      </p:sp>
      <p:sp>
        <p:nvSpPr>
          <p:cNvPr id="17" name="Text 15"/>
          <p:cNvSpPr txBox="1"/>
          <p:nvPr/>
        </p:nvSpPr>
        <p:spPr>
          <a:xfrm>
            <a:off x="8229600" y="2423160"/>
            <a:ext cx="3200400" cy="1463040"/>
          </a:xfrm>
          <a:prstGeom prst="rect">
            <a:avLst/>
          </a:prstGeom>
          <a:noFill/>
          <a:ln/>
        </p:spPr>
        <p:txBody>
          <a:bodyPr wrap="square" lIns="0" tIns="0" rIns="0" bIns="0" rtlCol="0" anchor="t"/>
          <a:lstStyle/>
          <a:p>
            <a:pPr indent="0" marL="0">
              <a:buNone/>
            </a:pPr>
            <a:r>
              <a:rPr lang="en-US" sz="1100" dirty="0">
                <a:solidFill>
                  <a:srgbClr val="1A1A17"/>
                </a:solidFill>
                <a:latin typeface="Calibri" pitchFamily="34" charset="0"/>
                <a:ea typeface="Calibri" pitchFamily="34" charset="-122"/>
                <a:cs typeface="Calibri" pitchFamily="34" charset="-120"/>
              </a:rPr>
              <a:t>Dort, wo sie in der Planungspraxis vorgesehen sind, ist ihr Budget am kleinsten: 0.87 ct im Gründerzeitblock, 0.02 ct in der Plattenbau-Zeile – weil die WP-Vollkosten mit der Gebäudegröße fallen und der Netzsockel kaum.</a:t>
            </a:r>
            <a:endParaRPr lang="en-US" sz="1100" dirty="0"/>
          </a:p>
        </p:txBody>
      </p:sp>
      <p:sp>
        <p:nvSpPr>
          <p:cNvPr id="18" name="Shape 16"/>
          <p:cNvSpPr/>
          <p:nvPr/>
        </p:nvSpPr>
        <p:spPr>
          <a:xfrm>
            <a:off x="548640" y="5440680"/>
            <a:ext cx="11064240" cy="822960"/>
          </a:xfrm>
          <a:prstGeom prst="roundRect">
            <a:avLst>
              <a:gd name="adj" fmla="val 8889"/>
            </a:avLst>
          </a:prstGeom>
          <a:solidFill>
            <a:srgbClr val="EFEBE1"/>
          </a:solidFill>
          <a:ln w="9525">
            <a:solidFill>
              <a:srgbClr val="C9C3B4"/>
            </a:solidFill>
            <a:prstDash val="solid"/>
          </a:ln>
        </p:spPr>
      </p:sp>
      <p:sp>
        <p:nvSpPr>
          <p:cNvPr id="19" name="Text 17"/>
          <p:cNvSpPr txBox="1"/>
          <p:nvPr/>
        </p:nvSpPr>
        <p:spPr>
          <a:xfrm>
            <a:off x="731520" y="5440680"/>
            <a:ext cx="10698480" cy="822960"/>
          </a:xfrm>
          <a:prstGeom prst="rect">
            <a:avLst/>
          </a:prstGeom>
          <a:noFill/>
          <a:ln/>
        </p:spPr>
        <p:txBody>
          <a:bodyPr wrap="square" lIns="0" tIns="0" rIns="0" bIns="0" rtlCol="0" anchor="ctr"/>
          <a:lstStyle/>
          <a:p>
            <a:pPr indent="0" marL="0">
              <a:buNone/>
            </a:pPr>
            <a:r>
              <a:rPr lang="en-US" sz="1250" b="1" dirty="0">
                <a:solidFill>
                  <a:srgbClr val="9A5B12"/>
                </a:solidFill>
                <a:latin typeface="Calibri" pitchFamily="34" charset="0"/>
                <a:ea typeface="Calibri" pitchFamily="34" charset="-122"/>
                <a:cs typeface="Calibri" pitchFamily="34" charset="-120"/>
              </a:rPr>
              <a:t>Was das heißt: </a:t>
            </a:r>
            <a:pPr indent="0" marL="0">
              <a:buNone/>
            </a:pPr>
            <a:r>
              <a:rPr lang="en-US" sz="1250" dirty="0">
                <a:solidFill>
                  <a:srgbClr val="1A1A17"/>
                </a:solidFill>
                <a:latin typeface="Calibri" pitchFamily="34" charset="0"/>
                <a:ea typeface="Calibri" pitchFamily="34" charset="-122"/>
                <a:cs typeface="Calibri" pitchFamily="34" charset="-120"/>
              </a:rPr>
              <a:t>Für die am häufigsten vorgeschlagene klimaneutrale Netzquelle ist der ökonomische Vorteil nicht nachweisbar. Wer darauf fünfzigjährige Infrastruktur gründet, tut das ohne belastbare Grundlage – Förderung nur mit projektspezifischer Vollkostenrechnung.</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RESERVE · NUR BEI NACHFRAGE</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Der Bund bürgt schon für Wärmenetze – niemand ruft es ab</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5" name="Text 3"/>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R3</a:t>
            </a:r>
            <a:endParaRPr lang="en-US" sz="900" dirty="0"/>
          </a:p>
        </p:txBody>
      </p:sp>
      <p:sp>
        <p:nvSpPr>
          <p:cNvPr id="6" name="Text 4"/>
          <p:cNvSpPr txBox="1"/>
          <p:nvPr/>
        </p:nvSpPr>
        <p:spPr>
          <a:xfrm>
            <a:off x="548640" y="1828800"/>
            <a:ext cx="11064240" cy="365760"/>
          </a:xfrm>
          <a:prstGeom prst="rect">
            <a:avLst/>
          </a:prstGeom>
          <a:noFill/>
          <a:ln/>
        </p:spPr>
        <p:txBody>
          <a:bodyPr wrap="square" lIns="0" tIns="0" rIns="0" bIns="0" rtlCol="0" anchor="ctr"/>
          <a:lstStyle/>
          <a:p>
            <a:pPr indent="0" marL="0">
              <a:buNone/>
            </a:pPr>
            <a:r>
              <a:rPr lang="en-US" sz="1400" b="1" dirty="0">
                <a:solidFill>
                  <a:srgbClr val="1F5673"/>
                </a:solidFill>
                <a:latin typeface="Calibri" pitchFamily="34" charset="0"/>
                <a:ea typeface="Calibri" pitchFamily="34" charset="-122"/>
                <a:cs typeface="Calibri" pitchFamily="34" charset="-120"/>
              </a:rPr>
              <a:t>Bundeshaushalt 2026 · Einzelplan 32 · Kap. 3208 · Vermerk 5.19</a:t>
            </a:r>
            <a:endParaRPr lang="en-US" sz="1400" dirty="0"/>
          </a:p>
        </p:txBody>
      </p:sp>
      <p:sp>
        <p:nvSpPr>
          <p:cNvPr id="7" name="Text 5"/>
          <p:cNvSpPr txBox="1"/>
          <p:nvPr/>
        </p:nvSpPr>
        <p:spPr>
          <a:xfrm>
            <a:off x="548640" y="2240280"/>
            <a:ext cx="11064240" cy="914400"/>
          </a:xfrm>
          <a:prstGeom prst="rect">
            <a:avLst/>
          </a:prstGeom>
          <a:noFill/>
          <a:ln/>
        </p:spPr>
        <p:txBody>
          <a:bodyPr wrap="square" lIns="0" tIns="0" rIns="0" bIns="0" rtlCol="0" anchor="t"/>
          <a:lstStyle/>
          <a:p>
            <a:pPr indent="0" marL="0">
              <a:buNone/>
            </a:pPr>
            <a:r>
              <a:rPr lang="en-US" sz="1500" dirty="0">
                <a:solidFill>
                  <a:srgbClr val="1A1A17"/>
                </a:solidFill>
                <a:latin typeface="Calibri" pitchFamily="34" charset="0"/>
                <a:ea typeface="Calibri" pitchFamily="34" charset="-122"/>
                <a:cs typeface="Calibri" pitchFamily="34" charset="-120"/>
              </a:rPr>
              <a:t>KfW-Gewährleistungen des Bundes für Investitionen in Energieinfrastruktur – ausdrücklich Wärmenetze –</a:t>
            </a:r>
            <a:endParaRPr lang="en-US" sz="1500" dirty="0"/>
          </a:p>
          <a:p>
            <a:pPr indent="0" marL="0">
              <a:buNone/>
            </a:pPr>
            <a:r>
              <a:rPr lang="en-US" sz="1500" dirty="0">
                <a:solidFill>
                  <a:srgbClr val="1A1A17"/>
                </a:solidFill>
                <a:latin typeface="Calibri" pitchFamily="34" charset="0"/>
                <a:ea typeface="Calibri" pitchFamily="34" charset="-122"/>
                <a:cs typeface="Calibri" pitchFamily="34" charset="-120"/>
              </a:rPr>
              <a:t>durch private und öffentliche Investoren. Begründung: über 100 Mrd. € Wärmenetze bis 2045.</a:t>
            </a:r>
            <a:endParaRPr lang="en-US" sz="1500" dirty="0"/>
          </a:p>
        </p:txBody>
      </p:sp>
      <p:sp>
        <p:nvSpPr>
          <p:cNvPr id="8" name="Shape 6"/>
          <p:cNvSpPr/>
          <p:nvPr/>
        </p:nvSpPr>
        <p:spPr>
          <a:xfrm>
            <a:off x="548640" y="3337560"/>
            <a:ext cx="11064240" cy="18288"/>
          </a:xfrm>
          <a:prstGeom prst="rect">
            <a:avLst/>
          </a:prstGeom>
          <a:solidFill>
            <a:srgbClr val="C9C3B4"/>
          </a:solidFill>
          <a:ln w="12700">
            <a:solidFill>
              <a:srgbClr val="C9C3B4"/>
            </a:solidFill>
            <a:prstDash val="solid"/>
          </a:ln>
        </p:spPr>
      </p:sp>
      <p:sp>
        <p:nvSpPr>
          <p:cNvPr id="9" name="Shape 7"/>
          <p:cNvSpPr/>
          <p:nvPr/>
        </p:nvSpPr>
        <p:spPr>
          <a:xfrm>
            <a:off x="548640" y="3639312"/>
            <a:ext cx="73152" cy="365760"/>
          </a:xfrm>
          <a:prstGeom prst="rect">
            <a:avLst/>
          </a:prstGeom>
          <a:solidFill>
            <a:srgbClr val="7A2E2E"/>
          </a:solidFill>
          <a:ln w="12700">
            <a:solidFill>
              <a:srgbClr val="7A2E2E"/>
            </a:solidFill>
            <a:prstDash val="solid"/>
          </a:ln>
        </p:spPr>
      </p:sp>
      <p:sp>
        <p:nvSpPr>
          <p:cNvPr id="10" name="Text 8"/>
          <p:cNvSpPr txBox="1"/>
          <p:nvPr/>
        </p:nvSpPr>
        <p:spPr>
          <a:xfrm>
            <a:off x="822960" y="3566160"/>
            <a:ext cx="10789920" cy="502920"/>
          </a:xfrm>
          <a:prstGeom prst="rect">
            <a:avLst/>
          </a:prstGeom>
          <a:noFill/>
          <a:ln/>
        </p:spPr>
        <p:txBody>
          <a:bodyPr wrap="square" lIns="0" tIns="0" rIns="0" bIns="0" rtlCol="0" anchor="ctr"/>
          <a:lstStyle/>
          <a:p>
            <a:pPr indent="0" marL="0">
              <a:buNone/>
            </a:pPr>
            <a:r>
              <a:rPr lang="en-US" sz="1500" b="1" dirty="0">
                <a:solidFill>
                  <a:srgbClr val="7A2E2E"/>
                </a:solidFill>
                <a:latin typeface="Calibri" pitchFamily="34" charset="0"/>
                <a:ea typeface="Calibri" pitchFamily="34" charset="-122"/>
                <a:cs typeface="Calibri" pitchFamily="34" charset="-120"/>
              </a:rPr>
              <a:t>Kapital ist nicht der Engpass. </a:t>
            </a:r>
            <a:pPr indent="0" marL="0">
              <a:buNone/>
            </a:pPr>
            <a:r>
              <a:rPr lang="en-US" sz="1500" dirty="0">
                <a:solidFill>
                  <a:srgbClr val="1A1A17"/>
                </a:solidFill>
                <a:latin typeface="Calibri" pitchFamily="34" charset="0"/>
                <a:ea typeface="Calibri" pitchFamily="34" charset="-122"/>
                <a:cs typeface="Calibri" pitchFamily="34" charset="-120"/>
              </a:rPr>
              <a:t>Eine Bürgschaft senkt den Zins, dreht aber kein negatives Budget.</a:t>
            </a:r>
            <a:endParaRPr lang="en-US" sz="1500" dirty="0"/>
          </a:p>
        </p:txBody>
      </p:sp>
      <p:sp>
        <p:nvSpPr>
          <p:cNvPr id="11" name="Shape 9"/>
          <p:cNvSpPr/>
          <p:nvPr/>
        </p:nvSpPr>
        <p:spPr>
          <a:xfrm>
            <a:off x="548640" y="4233672"/>
            <a:ext cx="73152" cy="365760"/>
          </a:xfrm>
          <a:prstGeom prst="rect">
            <a:avLst/>
          </a:prstGeom>
          <a:solidFill>
            <a:srgbClr val="0F5257"/>
          </a:solidFill>
          <a:ln w="12700">
            <a:solidFill>
              <a:srgbClr val="0F5257"/>
            </a:solidFill>
            <a:prstDash val="solid"/>
          </a:ln>
        </p:spPr>
      </p:sp>
      <p:sp>
        <p:nvSpPr>
          <p:cNvPr id="12" name="Text 10"/>
          <p:cNvSpPr txBox="1"/>
          <p:nvPr/>
        </p:nvSpPr>
        <p:spPr>
          <a:xfrm>
            <a:off x="822960" y="4160520"/>
            <a:ext cx="10789920" cy="502920"/>
          </a:xfrm>
          <a:prstGeom prst="rect">
            <a:avLst/>
          </a:prstGeom>
          <a:noFill/>
          <a:ln/>
        </p:spPr>
        <p:txBody>
          <a:bodyPr wrap="square" lIns="0" tIns="0" rIns="0" bIns="0" rtlCol="0" anchor="ctr"/>
          <a:lstStyle/>
          <a:p>
            <a:pPr indent="0" marL="0">
              <a:buNone/>
            </a:pPr>
            <a:r>
              <a:rPr lang="en-US" sz="1500" b="1" dirty="0">
                <a:solidFill>
                  <a:srgbClr val="0F5257"/>
                </a:solidFill>
                <a:latin typeface="Calibri" pitchFamily="34" charset="0"/>
                <a:ea typeface="Calibri" pitchFamily="34" charset="-122"/>
                <a:cs typeface="Calibri" pitchFamily="34" charset="-120"/>
              </a:rPr>
              <a:t>Sie wirkt, wo das Netz ohnehin trägt: </a:t>
            </a:r>
            <a:pPr indent="0" marL="0">
              <a:buNone/>
            </a:pPr>
            <a:r>
              <a:rPr lang="en-US" sz="1500" dirty="0">
                <a:solidFill>
                  <a:srgbClr val="1A1A17"/>
                </a:solidFill>
                <a:latin typeface="Calibri" pitchFamily="34" charset="0"/>
                <a:ea typeface="Calibri" pitchFamily="34" charset="-122"/>
                <a:cs typeface="Calibri" pitchFamily="34" charset="-120"/>
              </a:rPr>
              <a:t>Abwärme im Geschosswohnungsbau.</a:t>
            </a:r>
            <a:endParaRPr lang="en-US" sz="1500" dirty="0"/>
          </a:p>
        </p:txBody>
      </p:sp>
      <p:sp>
        <p:nvSpPr>
          <p:cNvPr id="13" name="Shape 11"/>
          <p:cNvSpPr/>
          <p:nvPr/>
        </p:nvSpPr>
        <p:spPr>
          <a:xfrm>
            <a:off x="548640" y="4828032"/>
            <a:ext cx="73152" cy="365760"/>
          </a:xfrm>
          <a:prstGeom prst="rect">
            <a:avLst/>
          </a:prstGeom>
          <a:solidFill>
            <a:srgbClr val="9A5B12"/>
          </a:solidFill>
          <a:ln w="12700">
            <a:solidFill>
              <a:srgbClr val="9A5B12"/>
            </a:solidFill>
            <a:prstDash val="solid"/>
          </a:ln>
        </p:spPr>
      </p:sp>
      <p:sp>
        <p:nvSpPr>
          <p:cNvPr id="14" name="Text 12"/>
          <p:cNvSpPr txBox="1"/>
          <p:nvPr/>
        </p:nvSpPr>
        <p:spPr>
          <a:xfrm>
            <a:off x="822960" y="4754880"/>
            <a:ext cx="10789920" cy="502920"/>
          </a:xfrm>
          <a:prstGeom prst="rect">
            <a:avLst/>
          </a:prstGeom>
          <a:noFill/>
          <a:ln/>
        </p:spPr>
        <p:txBody>
          <a:bodyPr wrap="square" lIns="0" tIns="0" rIns="0" bIns="0" rtlCol="0" anchor="ctr"/>
          <a:lstStyle/>
          <a:p>
            <a:pPr indent="0" marL="0">
              <a:buNone/>
            </a:pPr>
            <a:r>
              <a:rPr lang="en-US" sz="1500" b="1" dirty="0">
                <a:solidFill>
                  <a:srgbClr val="9A5B12"/>
                </a:solidFill>
                <a:latin typeface="Calibri" pitchFamily="34" charset="0"/>
                <a:ea typeface="Calibri" pitchFamily="34" charset="-122"/>
                <a:cs typeface="Calibri" pitchFamily="34" charset="-120"/>
              </a:rPr>
              <a:t>Es fehlt ein Land oder eine Kommune, </a:t>
            </a:r>
            <a:pPr indent="0" marL="0">
              <a:buNone/>
            </a:pPr>
            <a:r>
              <a:rPr lang="en-US" sz="1500" dirty="0">
                <a:solidFill>
                  <a:srgbClr val="1A1A17"/>
                </a:solidFill>
                <a:latin typeface="Calibri" pitchFamily="34" charset="0"/>
                <a:ea typeface="Calibri" pitchFamily="34" charset="-122"/>
                <a:cs typeface="Calibri" pitchFamily="34" charset="-120"/>
              </a:rPr>
              <a:t>die damit ein Referenzprojekt finanziert.</a:t>
            </a:r>
            <a:endParaRPr lang="en-US" sz="1500" dirty="0"/>
          </a:p>
        </p:txBody>
      </p:sp>
      <p:sp>
        <p:nvSpPr>
          <p:cNvPr id="15" name="Text 13"/>
          <p:cNvSpPr txBox="1"/>
          <p:nvPr/>
        </p:nvSpPr>
        <p:spPr>
          <a:xfrm>
            <a:off x="548640" y="5760720"/>
            <a:ext cx="11064240" cy="274320"/>
          </a:xfrm>
          <a:prstGeom prst="rect">
            <a:avLst/>
          </a:prstGeom>
          <a:noFill/>
          <a:ln/>
        </p:spPr>
        <p:txBody>
          <a:bodyPr wrap="square" lIns="0" tIns="0" rIns="0" bIns="0" rtlCol="0" anchor="ctr"/>
          <a:lstStyle/>
          <a:p>
            <a:pPr indent="0" marL="0">
              <a:buNone/>
            </a:pPr>
            <a:r>
              <a:rPr lang="en-US" sz="950" dirty="0">
                <a:solidFill>
                  <a:srgbClr val="56534B"/>
                </a:solidFill>
                <a:latin typeface="Calibri" pitchFamily="34" charset="0"/>
                <a:ea typeface="Calibri" pitchFamily="34" charset="-122"/>
                <a:cs typeface="Calibri" pitchFamily="34" charset="-120"/>
              </a:rPr>
              <a:t>Laut Deckblatt BMF vom 6.11.2025, Hintergrundinformation. Nicht gegen den Haushaltsbeschluss geprüft.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Wärmepumpen in Deutschland — Kostenproblem, Reformhebel, Systemvergleich</dc:title>
  <dc:subject>PptxGenJS Presentation</dc:subject>
  <dc:creator>Florian Schulte</dc:creator>
  <cp:lastModifiedBy>Florian Schulte</cp:lastModifiedBy>
  <cp:revision>1</cp:revision>
  <dcterms:created xsi:type="dcterms:W3CDTF">2026-09-22T18:35:36Z</dcterms:created>
  <dcterms:modified xsi:type="dcterms:W3CDTF">2026-09-22T18:35:36Z</dcterms:modified>
</cp:coreProperties>
</file>